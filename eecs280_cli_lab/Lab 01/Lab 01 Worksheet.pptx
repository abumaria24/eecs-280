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Lst>
  <p:sldSz cy="10058400" cx="7772400"/>
  <p:notesSz cx="6858000" cy="9144000"/>
  <p:embeddedFontLst>
    <p:embeddedFont>
      <p:font typeface="Roboto"/>
      <p:regular r:id="rId16"/>
      <p:bold r:id="rId17"/>
      <p:italic r:id="rId18"/>
      <p:boldItalic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168">
          <p15:clr>
            <a:srgbClr val="A4A3A4"/>
          </p15:clr>
        </p15:guide>
        <p15:guide id="2" pos="244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0505F16-E8CE-4040-8224-7A68279C112B}">
  <a:tblStyle styleId="{A0505F16-E8CE-4040-8224-7A68279C112B}" styleName="Table_0">
    <a:wholeTbl>
      <a:tcTxStyle>
        <a:font>
          <a:latin typeface="Arial"/>
          <a:ea typeface="Arial"/>
          <a:cs typeface="Arial"/>
        </a:font>
        <a:srgbClr val="000000"/>
      </a:tcTxStyle>
      <a:tcStyle>
        <a:tcBdr>
          <a:left>
            <a:ln cap="flat" cmpd="sng" w="12700">
              <a:solidFill>
                <a:srgbClr val="000000"/>
              </a:solidFill>
              <a:prstDash val="solid"/>
              <a:round/>
              <a:headEnd len="sm" w="sm" type="none"/>
              <a:tailEnd len="sm" w="sm" type="none"/>
            </a:ln>
          </a:left>
          <a:right>
            <a:ln cap="flat" cmpd="sng" w="12700">
              <a:solidFill>
                <a:srgbClr val="000000"/>
              </a:solidFill>
              <a:prstDash val="solid"/>
              <a:round/>
              <a:headEnd len="sm" w="sm" type="none"/>
              <a:tailEnd len="sm" w="sm" type="none"/>
            </a:ln>
          </a:right>
          <a:top>
            <a:ln cap="flat" cmpd="sng" w="12700">
              <a:solidFill>
                <a:srgbClr val="000000"/>
              </a:solidFill>
              <a:prstDash val="solid"/>
              <a:round/>
              <a:headEnd len="sm" w="sm" type="none"/>
              <a:tailEnd len="sm" w="sm" type="none"/>
            </a:ln>
          </a:top>
          <a:bottom>
            <a:ln cap="flat" cmpd="sng" w="12700">
              <a:solidFill>
                <a:srgbClr val="000000"/>
              </a:solidFill>
              <a:prstDash val="solid"/>
              <a:round/>
              <a:headEnd len="sm" w="sm" type="none"/>
              <a:tailEnd len="sm" w="sm" type="none"/>
            </a:ln>
          </a:bottom>
          <a:insideH>
            <a:ln cap="flat" cmpd="sng" w="12700">
              <a:solidFill>
                <a:srgbClr val="000000"/>
              </a:solidFill>
              <a:prstDash val="solid"/>
              <a:round/>
              <a:headEnd len="sm" w="sm" type="none"/>
              <a:tailEnd len="sm" w="sm" type="none"/>
            </a:ln>
          </a:insideH>
          <a:insideV>
            <a:ln cap="flat" cmpd="sng" w="12700">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71AC3457-10E6-4857-A913-5A14E234D2E3}"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168" orient="horz"/>
        <p:guide pos="2448"/>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font" Target="fonts/Roboto-bold.fntdata"/><Relationship Id="rId16" Type="http://schemas.openxmlformats.org/officeDocument/2006/relationships/font" Target="fonts/Roboto-regular.fntdata"/><Relationship Id="rId5" Type="http://schemas.openxmlformats.org/officeDocument/2006/relationships/slideMaster" Target="slideMasters/slideMaster1.xml"/><Relationship Id="rId19" Type="http://schemas.openxmlformats.org/officeDocument/2006/relationships/font" Target="fonts/Roboto-boldItalic.fntdata"/><Relationship Id="rId6" Type="http://schemas.openxmlformats.org/officeDocument/2006/relationships/notesMaster" Target="notesMasters/notesMaster1.xml"/><Relationship Id="rId18" Type="http://schemas.openxmlformats.org/officeDocument/2006/relationships/font" Target="fonts/Roboto-italic.fntdata"/><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104480" y="685800"/>
            <a:ext cx="26496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55ef1df3d6_0_0:notes"/>
          <p:cNvSpPr/>
          <p:nvPr>
            <p:ph idx="2" type="sldImg"/>
          </p:nvPr>
        </p:nvSpPr>
        <p:spPr>
          <a:xfrm>
            <a:off x="2104480" y="685800"/>
            <a:ext cx="26496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55ef1df3d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55ef1df3d6_0_5:notes"/>
          <p:cNvSpPr/>
          <p:nvPr>
            <p:ph idx="2" type="sldImg"/>
          </p:nvPr>
        </p:nvSpPr>
        <p:spPr>
          <a:xfrm>
            <a:off x="2104480" y="685800"/>
            <a:ext cx="26496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55ef1df3d6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55ef1df3d6_0_12:notes"/>
          <p:cNvSpPr/>
          <p:nvPr>
            <p:ph idx="2" type="sldImg"/>
          </p:nvPr>
        </p:nvSpPr>
        <p:spPr>
          <a:xfrm>
            <a:off x="2104480" y="685800"/>
            <a:ext cx="26496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355ef1df3d6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55ef1df3d6_0_21:notes"/>
          <p:cNvSpPr/>
          <p:nvPr>
            <p:ph idx="2" type="sldImg"/>
          </p:nvPr>
        </p:nvSpPr>
        <p:spPr>
          <a:xfrm>
            <a:off x="2104480" y="685800"/>
            <a:ext cx="26496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55ef1df3d6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b4c8ee473d_0_0:notes"/>
          <p:cNvSpPr/>
          <p:nvPr>
            <p:ph idx="2" type="sldImg"/>
          </p:nvPr>
        </p:nvSpPr>
        <p:spPr>
          <a:xfrm>
            <a:off x="2104480" y="685800"/>
            <a:ext cx="26496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3b4c8ee473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55ef1df3d6_0_30:notes"/>
          <p:cNvSpPr/>
          <p:nvPr>
            <p:ph idx="2" type="sldImg"/>
          </p:nvPr>
        </p:nvSpPr>
        <p:spPr>
          <a:xfrm>
            <a:off x="2104480" y="685800"/>
            <a:ext cx="26496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55ef1df3d6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55ef1df3d6_0_36:notes"/>
          <p:cNvSpPr/>
          <p:nvPr>
            <p:ph idx="2" type="sldImg"/>
          </p:nvPr>
        </p:nvSpPr>
        <p:spPr>
          <a:xfrm>
            <a:off x="2104480" y="685800"/>
            <a:ext cx="26496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55ef1df3d6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55ef1df3d6_0_42:notes"/>
          <p:cNvSpPr/>
          <p:nvPr>
            <p:ph idx="2" type="sldImg"/>
          </p:nvPr>
        </p:nvSpPr>
        <p:spPr>
          <a:xfrm>
            <a:off x="2104480" y="685800"/>
            <a:ext cx="26496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55ef1df3d6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55ef1df3d6_0_52:notes"/>
          <p:cNvSpPr/>
          <p:nvPr>
            <p:ph idx="2" type="sldImg"/>
          </p:nvPr>
        </p:nvSpPr>
        <p:spPr>
          <a:xfrm>
            <a:off x="2104480" y="685800"/>
            <a:ext cx="26496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55ef1df3d6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264952" y="1456058"/>
            <a:ext cx="7242600" cy="40140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264945" y="5542289"/>
            <a:ext cx="7242600" cy="1550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7201589" y="9119180"/>
            <a:ext cx="466500" cy="7698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264945" y="4206107"/>
            <a:ext cx="7242600" cy="16461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7201589" y="9119180"/>
            <a:ext cx="466500" cy="7698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264945" y="870271"/>
            <a:ext cx="7242600" cy="11199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264945" y="2253729"/>
            <a:ext cx="7242600" cy="66810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7201589" y="9119180"/>
            <a:ext cx="466500" cy="7698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264945" y="870271"/>
            <a:ext cx="7242600" cy="11199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264945" y="2253729"/>
            <a:ext cx="3399900" cy="6681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107540" y="2253729"/>
            <a:ext cx="3399900" cy="6681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7201589" y="9119180"/>
            <a:ext cx="466500" cy="7698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264945" y="870271"/>
            <a:ext cx="7242600" cy="11199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7201589" y="9119180"/>
            <a:ext cx="466500" cy="7698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264945" y="1086507"/>
            <a:ext cx="2386800" cy="14778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264945" y="2717440"/>
            <a:ext cx="2386800" cy="6217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7201589" y="9119180"/>
            <a:ext cx="466500" cy="7698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16713" y="880293"/>
            <a:ext cx="5412600" cy="7999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7201589" y="9119180"/>
            <a:ext cx="466500" cy="7698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3886200" y="-244"/>
            <a:ext cx="3886200" cy="10058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25675" y="2411542"/>
            <a:ext cx="3438300" cy="28986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25675" y="5481569"/>
            <a:ext cx="3438300" cy="24153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198575" y="1415969"/>
            <a:ext cx="3261600" cy="7226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7201589" y="9119180"/>
            <a:ext cx="466500" cy="7698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264945" y="8273124"/>
            <a:ext cx="5099100" cy="11832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7201589" y="9119180"/>
            <a:ext cx="466500" cy="7698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264945" y="2163089"/>
            <a:ext cx="7242600" cy="38397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264945" y="6164351"/>
            <a:ext cx="7242600" cy="25437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7201589" y="9119180"/>
            <a:ext cx="466500" cy="7698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7201589" y="9119180"/>
            <a:ext cx="466500" cy="7698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64945" y="870271"/>
            <a:ext cx="7242600" cy="11199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264945" y="2253729"/>
            <a:ext cx="7242600" cy="66810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7201589" y="9119180"/>
            <a:ext cx="466500" cy="7698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hyperlink" Target="https://forms.gle/tPP79oQKVywvAZCG9"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hyperlink" Target="https://eecs280staff.github.io/tutorials/" TargetMode="External"/><Relationship Id="rId4" Type="http://schemas.openxmlformats.org/officeDocument/2006/relationships/hyperlink" Target="https://eecs280staff.github.io/tutorials/cli.html" TargetMode="External"/><Relationship Id="rId5" Type="http://schemas.openxmlformats.org/officeDocument/2006/relationships/hyperlink" Target="https://github.com/jamesjuett/eecs280_cli_lab.git"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hyperlink" Target="https://eecs280.org/syllabus.html#academic-integrity"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104275" y="146500"/>
            <a:ext cx="7566300" cy="8331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2000"/>
              </a:spcBef>
              <a:spcAft>
                <a:spcPts val="0"/>
              </a:spcAft>
              <a:buClr>
                <a:schemeClr val="dk1"/>
              </a:buClr>
              <a:buSzPts val="1100"/>
              <a:buFont typeface="Arial"/>
              <a:buNone/>
            </a:pPr>
            <a:r>
              <a:rPr lang="en" sz="2400">
                <a:solidFill>
                  <a:schemeClr val="dk1"/>
                </a:solidFill>
              </a:rPr>
              <a:t>Lab 1 Worksheet</a:t>
            </a:r>
            <a:br>
              <a:rPr lang="en" sz="2300">
                <a:solidFill>
                  <a:schemeClr val="dk1"/>
                </a:solidFill>
              </a:rPr>
            </a:br>
            <a:r>
              <a:rPr lang="en" sz="1800">
                <a:solidFill>
                  <a:schemeClr val="dk1"/>
                </a:solidFill>
              </a:rPr>
              <a:t>Intro to Lab, C++ Fundamentals, Pragmatics</a:t>
            </a:r>
            <a:endParaRPr>
              <a:solidFill>
                <a:schemeClr val="dk1"/>
              </a:solidFill>
            </a:endParaRPr>
          </a:p>
          <a:p>
            <a:pPr indent="0" lvl="0" marL="0" rtl="0" algn="l">
              <a:lnSpc>
                <a:spcPct val="115000"/>
              </a:lnSpc>
              <a:spcBef>
                <a:spcPts val="600"/>
              </a:spcBef>
              <a:spcAft>
                <a:spcPts val="0"/>
              </a:spcAft>
              <a:buClr>
                <a:schemeClr val="dk1"/>
              </a:buClr>
              <a:buSzPts val="1100"/>
              <a:buFont typeface="Arial"/>
              <a:buNone/>
            </a:pPr>
            <a:r>
              <a:rPr lang="en">
                <a:solidFill>
                  <a:schemeClr val="dk1"/>
                </a:solidFill>
              </a:rPr>
              <a:t>Lab is worth 5 points total</a:t>
            </a:r>
            <a:endParaRPr>
              <a:solidFill>
                <a:schemeClr val="dk1"/>
              </a:solidFill>
            </a:endParaRPr>
          </a:p>
          <a:p>
            <a:pPr indent="-203200" lvl="0" marL="457200" rtl="0" algn="l">
              <a:lnSpc>
                <a:spcPct val="115000"/>
              </a:lnSpc>
              <a:spcBef>
                <a:spcPts val="1000"/>
              </a:spcBef>
              <a:spcAft>
                <a:spcPts val="0"/>
              </a:spcAft>
              <a:buClr>
                <a:schemeClr val="dk1"/>
              </a:buClr>
              <a:buSzPts val="1400"/>
              <a:buAutoNum type="arabicPeriod"/>
            </a:pPr>
            <a:r>
              <a:rPr lang="en">
                <a:solidFill>
                  <a:schemeClr val="dk1"/>
                </a:solidFill>
              </a:rPr>
              <a:t>This worksheet is worth 4 points. When you reach the end of a checkpoint, let your lab instructor know. They will check your work for correctness and give you points for your work. You must be present for each checkpoint discussion with your lab instructor to earn those points.</a:t>
            </a:r>
            <a:endParaRPr>
              <a:solidFill>
                <a:schemeClr val="dk1"/>
              </a:solidFill>
            </a:endParaRPr>
          </a:p>
          <a:p>
            <a:pPr indent="-203200" lvl="0" marL="457200" rtl="0" algn="l">
              <a:lnSpc>
                <a:spcPct val="115000"/>
              </a:lnSpc>
              <a:spcBef>
                <a:spcPts val="1000"/>
              </a:spcBef>
              <a:spcAft>
                <a:spcPts val="0"/>
              </a:spcAft>
              <a:buClr>
                <a:schemeClr val="dk1"/>
              </a:buClr>
              <a:buSzPts val="1400"/>
              <a:buAutoNum type="arabicPeriod"/>
            </a:pPr>
            <a:r>
              <a:rPr lang="en">
                <a:solidFill>
                  <a:schemeClr val="dk1"/>
                </a:solidFill>
              </a:rPr>
              <a:t>Earning credit for lab requires attending the lab exercises in-person. Staff will take attendance during lab. </a:t>
            </a:r>
            <a:r>
              <a:rPr lang="en">
                <a:solidFill>
                  <a:schemeClr val="dk1"/>
                </a:solidFill>
              </a:rPr>
              <a:t>You must be present within the first 5 minutes of lab to earn the 1 attendance point.</a:t>
            </a:r>
            <a:endParaRPr>
              <a:solidFill>
                <a:schemeClr val="dk1"/>
              </a:solidFill>
            </a:endParaRPr>
          </a:p>
          <a:p>
            <a:pPr indent="0" lvl="0" marL="0" rtl="0" algn="l">
              <a:lnSpc>
                <a:spcPct val="115000"/>
              </a:lnSpc>
              <a:spcBef>
                <a:spcPts val="1000"/>
              </a:spcBef>
              <a:spcAft>
                <a:spcPts val="0"/>
              </a:spcAft>
              <a:buClr>
                <a:schemeClr val="dk1"/>
              </a:buClr>
              <a:buSzPts val="1100"/>
              <a:buFont typeface="Arial"/>
              <a:buNone/>
            </a:pPr>
            <a:r>
              <a:rPr b="1" lang="en">
                <a:solidFill>
                  <a:schemeClr val="dk1"/>
                </a:solidFill>
              </a:rPr>
              <a:t>Logistics</a:t>
            </a:r>
            <a:br>
              <a:rPr b="1" lang="en">
                <a:solidFill>
                  <a:schemeClr val="dk1"/>
                </a:solidFill>
              </a:rPr>
            </a:br>
            <a:r>
              <a:rPr lang="en">
                <a:solidFill>
                  <a:schemeClr val="dk1"/>
                </a:solidFill>
              </a:rPr>
              <a:t>One group member should create an editable copy of this worksheet to fill out and share the document with all other group members. (</a:t>
            </a:r>
            <a:r>
              <a:rPr i="1" lang="en">
                <a:solidFill>
                  <a:schemeClr val="dk1"/>
                </a:solidFill>
              </a:rPr>
              <a:t>File &gt; Make a Copy</a:t>
            </a:r>
            <a:r>
              <a:rPr lang="en">
                <a:solidFill>
                  <a:schemeClr val="dk1"/>
                </a:solidFill>
              </a:rPr>
              <a:t> in the menu.) Please do not change the formatting of the document or which exercises appear on which slides. We use the placement of questions on each page to assist with grading.</a:t>
            </a:r>
            <a:endParaRPr>
              <a:solidFill>
                <a:schemeClr val="dk1"/>
              </a:solidFill>
            </a:endParaRPr>
          </a:p>
          <a:p>
            <a:pPr indent="0" lvl="0" marL="0" rtl="0" algn="l">
              <a:lnSpc>
                <a:spcPct val="115000"/>
              </a:lnSpc>
              <a:spcBef>
                <a:spcPts val="1000"/>
              </a:spcBef>
              <a:spcAft>
                <a:spcPts val="0"/>
              </a:spcAft>
              <a:buClr>
                <a:schemeClr val="dk1"/>
              </a:buClr>
              <a:buSzPts val="1100"/>
              <a:buFont typeface="Arial"/>
              <a:buNone/>
            </a:pPr>
            <a:r>
              <a:rPr b="1" lang="en">
                <a:solidFill>
                  <a:schemeClr val="dk1"/>
                </a:solidFill>
              </a:rPr>
              <a:t>Group Members</a:t>
            </a:r>
            <a:br>
              <a:rPr b="1" lang="en">
                <a:solidFill>
                  <a:schemeClr val="dk1"/>
                </a:solidFill>
              </a:rPr>
            </a:br>
            <a:r>
              <a:rPr lang="en">
                <a:solidFill>
                  <a:schemeClr val="dk1"/>
                </a:solidFill>
              </a:rPr>
              <a:t>Add your names to the table below. You are each responsible for participating in the group exercises and for ensuring others are included. You'll also be asked to split up and build on your work here with your second group for the debrief worksheet.</a:t>
            </a:r>
            <a:endParaRPr>
              <a:solidFill>
                <a:schemeClr val="dk1"/>
              </a:solidFill>
            </a:endParaRPr>
          </a:p>
          <a:p>
            <a:pPr indent="0" lvl="0" marL="0" rtl="0" algn="l">
              <a:lnSpc>
                <a:spcPct val="115000"/>
              </a:lnSpc>
              <a:spcBef>
                <a:spcPts val="10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0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0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0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0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0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000"/>
              </a:spcBef>
              <a:spcAft>
                <a:spcPts val="1000"/>
              </a:spcAft>
              <a:buClr>
                <a:schemeClr val="dk1"/>
              </a:buClr>
              <a:buSzPts val="1100"/>
              <a:buFont typeface="Arial"/>
              <a:buNone/>
            </a:pPr>
            <a:r>
              <a:t/>
            </a:r>
            <a:endParaRPr>
              <a:solidFill>
                <a:schemeClr val="dk1"/>
              </a:solidFill>
            </a:endParaRPr>
          </a:p>
        </p:txBody>
      </p:sp>
      <p:graphicFrame>
        <p:nvGraphicFramePr>
          <p:cNvPr id="55" name="Google Shape;55;p13"/>
          <p:cNvGraphicFramePr/>
          <p:nvPr/>
        </p:nvGraphicFramePr>
        <p:xfrm>
          <a:off x="1076288" y="6596813"/>
          <a:ext cx="3000000" cy="3000000"/>
        </p:xfrm>
        <a:graphic>
          <a:graphicData uri="http://schemas.openxmlformats.org/drawingml/2006/table">
            <a:tbl>
              <a:tblPr>
                <a:noFill/>
                <a:tableStyleId>{A0505F16-E8CE-4040-8224-7A68279C112B}</a:tableStyleId>
              </a:tblPr>
              <a:tblGrid>
                <a:gridCol w="5622275"/>
              </a:tblGrid>
              <a:tr h="485575">
                <a:tc>
                  <a:txBody>
                    <a:bodyPr/>
                    <a:lstStyle/>
                    <a:p>
                      <a:pPr indent="0" lvl="0" marL="0" rtl="0" algn="l">
                        <a:spcBef>
                          <a:spcPts val="0"/>
                        </a:spcBef>
                        <a:spcAft>
                          <a:spcPts val="0"/>
                        </a:spcAft>
                        <a:buNone/>
                      </a:pPr>
                      <a:r>
                        <a:t/>
                      </a:r>
                      <a:endParaRPr/>
                    </a:p>
                  </a:txBody>
                  <a:tcPr marT="63500" marB="63500" marR="63500" marL="63500">
                    <a:lnL cap="flat" cmpd="sng" w="12700">
                      <a:solidFill>
                        <a:srgbClr val="000000"/>
                      </a:solidFill>
                      <a:prstDash val="solid"/>
                      <a:round/>
                      <a:headEnd len="sm" w="sm" type="none"/>
                      <a:tailEnd len="sm" w="sm" type="none"/>
                    </a:lnL>
                    <a:noFill/>
                  </a:tcPr>
                </a:tc>
              </a:tr>
              <a:tr h="485575">
                <a:tc>
                  <a:txBody>
                    <a:bodyPr/>
                    <a:lstStyle/>
                    <a:p>
                      <a:pPr indent="0" lvl="0" marL="0" rtl="0" algn="l">
                        <a:spcBef>
                          <a:spcPts val="0"/>
                        </a:spcBef>
                        <a:spcAft>
                          <a:spcPts val="0"/>
                        </a:spcAft>
                        <a:buNone/>
                      </a:pPr>
                      <a:r>
                        <a:t/>
                      </a:r>
                      <a:endParaRPr/>
                    </a:p>
                  </a:txBody>
                  <a:tcPr marT="63500" marB="63500" marR="63500" marL="63500">
                    <a:lnL cap="flat" cmpd="sng" w="12700">
                      <a:solidFill>
                        <a:srgbClr val="000000"/>
                      </a:solidFill>
                      <a:prstDash val="solid"/>
                      <a:round/>
                      <a:headEnd len="sm" w="sm" type="none"/>
                      <a:tailEnd len="sm" w="sm" type="none"/>
                    </a:lnL>
                    <a:noFill/>
                  </a:tcPr>
                </a:tc>
              </a:tr>
              <a:tr h="485575">
                <a:tc>
                  <a:txBody>
                    <a:bodyPr/>
                    <a:lstStyle/>
                    <a:p>
                      <a:pPr indent="0" lvl="0" marL="0" rtl="0" algn="l">
                        <a:spcBef>
                          <a:spcPts val="0"/>
                        </a:spcBef>
                        <a:spcAft>
                          <a:spcPts val="0"/>
                        </a:spcAft>
                        <a:buNone/>
                      </a:pPr>
                      <a:r>
                        <a:t/>
                      </a:r>
                      <a:endParaRPr/>
                    </a:p>
                  </a:txBody>
                  <a:tcPr marT="63500" marB="63500" marR="63500" marL="63500">
                    <a:lnL cap="flat" cmpd="sng" w="12700">
                      <a:solidFill>
                        <a:srgbClr val="000000"/>
                      </a:solidFill>
                      <a:prstDash val="solid"/>
                      <a:round/>
                      <a:headEnd len="sm" w="sm" type="none"/>
                      <a:tailEnd len="sm" w="sm" type="none"/>
                    </a:lnL>
                    <a:noFill/>
                  </a:tcPr>
                </a:tc>
              </a:tr>
              <a:tr h="485575">
                <a:tc>
                  <a:txBody>
                    <a:bodyPr/>
                    <a:lstStyle/>
                    <a:p>
                      <a:pPr indent="0" lvl="0" marL="0" rtl="0" algn="l">
                        <a:spcBef>
                          <a:spcPts val="0"/>
                        </a:spcBef>
                        <a:spcAft>
                          <a:spcPts val="0"/>
                        </a:spcAft>
                        <a:buNone/>
                      </a:pPr>
                      <a:r>
                        <a:t/>
                      </a:r>
                      <a:endParaRPr/>
                    </a:p>
                  </a:txBody>
                  <a:tcPr marT="63500" marB="63500" marR="63500" marL="63500">
                    <a:lnL cap="flat" cmpd="sng" w="12700">
                      <a:solidFill>
                        <a:srgbClr val="000000"/>
                      </a:solidFill>
                      <a:prstDash val="solid"/>
                      <a:round/>
                      <a:headEnd len="sm" w="sm" type="none"/>
                      <a:tailEnd len="sm" w="sm" type="none"/>
                    </a:lnL>
                    <a:noFill/>
                  </a:tcPr>
                </a:tc>
              </a:tr>
              <a:tr h="485575">
                <a:tc>
                  <a:txBody>
                    <a:bodyPr/>
                    <a:lstStyle/>
                    <a:p>
                      <a:pPr indent="0" lvl="0" marL="0" rtl="0" algn="l">
                        <a:spcBef>
                          <a:spcPts val="0"/>
                        </a:spcBef>
                        <a:spcAft>
                          <a:spcPts val="0"/>
                        </a:spcAft>
                        <a:buNone/>
                      </a:pPr>
                      <a:r>
                        <a:t/>
                      </a:r>
                      <a:endParaRPr/>
                    </a:p>
                  </a:txBody>
                  <a:tcPr marT="63500" marB="63500" marR="63500" marL="63500">
                    <a:lnL cap="flat" cmpd="sng" w="12700">
                      <a:solidFill>
                        <a:srgbClr val="000000"/>
                      </a:solidFill>
                      <a:prstDash val="solid"/>
                      <a:round/>
                      <a:headEnd len="sm" w="sm" type="none"/>
                      <a:tailEnd len="sm" w="sm" type="none"/>
                    </a:lnL>
                    <a:noFill/>
                  </a:tcPr>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graphicFrame>
        <p:nvGraphicFramePr>
          <p:cNvPr id="60" name="Google Shape;60;p14"/>
          <p:cNvGraphicFramePr/>
          <p:nvPr/>
        </p:nvGraphicFramePr>
        <p:xfrm>
          <a:off x="324650" y="1557500"/>
          <a:ext cx="3000000" cy="3000000"/>
        </p:xfrm>
        <a:graphic>
          <a:graphicData uri="http://schemas.openxmlformats.org/drawingml/2006/table">
            <a:tbl>
              <a:tblPr>
                <a:noFill/>
                <a:tableStyleId>{A0505F16-E8CE-4040-8224-7A68279C112B}</a:tableStyleId>
              </a:tblPr>
              <a:tblGrid>
                <a:gridCol w="890400"/>
                <a:gridCol w="2077575"/>
                <a:gridCol w="2077575"/>
                <a:gridCol w="2077575"/>
              </a:tblGrid>
              <a:tr h="379000">
                <a:tc>
                  <a:txBody>
                    <a:bodyPr/>
                    <a:lstStyle/>
                    <a:p>
                      <a:pPr indent="0" lvl="0" marL="0" rtl="0" algn="ctr">
                        <a:spcBef>
                          <a:spcPts val="0"/>
                        </a:spcBef>
                        <a:spcAft>
                          <a:spcPts val="0"/>
                        </a:spcAft>
                        <a:buNone/>
                      </a:pPr>
                      <a:r>
                        <a:rPr b="1" lang="en"/>
                        <a:t>Name</a:t>
                      </a:r>
                      <a:endParaRPr b="1"/>
                    </a:p>
                  </a:txBody>
                  <a:tcPr marT="63500" marB="63500" marR="63500" marL="63500" anchor="b">
                    <a:lnR cap="flat" cmpd="sng" w="12700">
                      <a:solidFill>
                        <a:schemeClr val="dk1"/>
                      </a:solidFill>
                      <a:prstDash val="solid"/>
                      <a:round/>
                      <a:headEnd len="sm" w="sm" type="none"/>
                      <a:tailEnd len="sm" w="sm" type="none"/>
                    </a:lnR>
                    <a:noFill/>
                  </a:tcPr>
                </a:tc>
                <a:tc>
                  <a:txBody>
                    <a:bodyPr/>
                    <a:lstStyle/>
                    <a:p>
                      <a:pPr indent="0" lvl="0" marL="0" rtl="0" algn="l">
                        <a:spcBef>
                          <a:spcPts val="0"/>
                        </a:spcBef>
                        <a:spcAft>
                          <a:spcPts val="0"/>
                        </a:spcAft>
                        <a:buNone/>
                      </a:pPr>
                      <a:r>
                        <a:t/>
                      </a:r>
                      <a:endParaRPr/>
                    </a:p>
                  </a:txBody>
                  <a:tcPr marT="63500" marB="63500" marR="63500" marL="63500">
                    <a:lnL cap="flat" cmpd="sng" w="12700">
                      <a:solidFill>
                        <a:schemeClr val="dk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rtl="0" algn="l">
                        <a:spcBef>
                          <a:spcPts val="0"/>
                        </a:spcBef>
                        <a:spcAft>
                          <a:spcPts val="0"/>
                        </a:spcAft>
                        <a:buNone/>
                      </a:pPr>
                      <a:r>
                        <a:t/>
                      </a:r>
                      <a:endParaRPr/>
                    </a:p>
                  </a:txBody>
                  <a:tcPr marT="63500" marB="63500" marR="63500" marL="635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rtl="0" algn="l">
                        <a:spcBef>
                          <a:spcPts val="0"/>
                        </a:spcBef>
                        <a:spcAft>
                          <a:spcPts val="0"/>
                        </a:spcAft>
                        <a:buNone/>
                      </a:pPr>
                      <a:r>
                        <a:t/>
                      </a:r>
                      <a:endParaRPr/>
                    </a:p>
                  </a:txBody>
                  <a:tcPr marT="63500" marB="63500" marR="63500" marL="635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dk1"/>
                      </a:solidFill>
                      <a:prstDash val="solid"/>
                      <a:round/>
                      <a:headEnd len="sm" w="sm" type="none"/>
                      <a:tailEnd len="sm" w="sm" type="none"/>
                    </a:lnB>
                    <a:noFill/>
                  </a:tcPr>
                </a:tc>
              </a:tr>
              <a:tr h="773175">
                <a:tc>
                  <a:txBody>
                    <a:bodyPr/>
                    <a:lstStyle/>
                    <a:p>
                      <a:pPr indent="0" lvl="0" marL="0" rtl="0" algn="l">
                        <a:spcBef>
                          <a:spcPts val="0"/>
                        </a:spcBef>
                        <a:spcAft>
                          <a:spcPts val="0"/>
                        </a:spcAft>
                        <a:buNone/>
                      </a:pPr>
                      <a:r>
                        <a:t/>
                      </a:r>
                      <a:endParaRPr/>
                    </a:p>
                  </a:txBody>
                  <a:tcPr marT="63500" marB="63500" marR="63500" marL="63500">
                    <a:noFill/>
                  </a:tcPr>
                </a:tc>
                <a:tc>
                  <a:txBody>
                    <a:bodyPr/>
                    <a:lstStyle/>
                    <a:p>
                      <a:pPr indent="0" lvl="0" marL="0" rtl="0" algn="l">
                        <a:spcBef>
                          <a:spcPts val="0"/>
                        </a:spcBef>
                        <a:spcAft>
                          <a:spcPts val="0"/>
                        </a:spcAft>
                        <a:buNone/>
                      </a:pPr>
                      <a:r>
                        <a:t/>
                      </a:r>
                      <a:endParaRPr/>
                    </a:p>
                  </a:txBody>
                  <a:tcPr marT="63500" marB="63500" marR="63500" marL="63500">
                    <a:lnT cap="flat" cmpd="sng" w="12700">
                      <a:solidFill>
                        <a:schemeClr val="dk1"/>
                      </a:solidFill>
                      <a:prstDash val="solid"/>
                      <a:round/>
                      <a:headEnd len="sm" w="sm" type="none"/>
                      <a:tailEnd len="sm" w="sm" type="none"/>
                    </a:lnT>
                    <a:noFill/>
                  </a:tcPr>
                </a:tc>
                <a:tc>
                  <a:txBody>
                    <a:bodyPr/>
                    <a:lstStyle/>
                    <a:p>
                      <a:pPr indent="0" lvl="0" marL="0" rtl="0" algn="l">
                        <a:spcBef>
                          <a:spcPts val="0"/>
                        </a:spcBef>
                        <a:spcAft>
                          <a:spcPts val="0"/>
                        </a:spcAft>
                        <a:buNone/>
                      </a:pPr>
                      <a:r>
                        <a:t/>
                      </a:r>
                      <a:endParaRPr/>
                    </a:p>
                  </a:txBody>
                  <a:tcPr marT="63500" marB="63500" marR="63500" marL="63500">
                    <a:lnT cap="flat" cmpd="sng" w="12700">
                      <a:solidFill>
                        <a:schemeClr val="dk1"/>
                      </a:solidFill>
                      <a:prstDash val="solid"/>
                      <a:round/>
                      <a:headEnd len="sm" w="sm" type="none"/>
                      <a:tailEnd len="sm" w="sm" type="none"/>
                    </a:lnT>
                    <a:noFill/>
                  </a:tcPr>
                </a:tc>
                <a:tc>
                  <a:txBody>
                    <a:bodyPr/>
                    <a:lstStyle/>
                    <a:p>
                      <a:pPr indent="0" lvl="0" marL="0" rtl="0" algn="l">
                        <a:spcBef>
                          <a:spcPts val="0"/>
                        </a:spcBef>
                        <a:spcAft>
                          <a:spcPts val="0"/>
                        </a:spcAft>
                        <a:buNone/>
                      </a:pPr>
                      <a:r>
                        <a:t/>
                      </a:r>
                      <a:endParaRPr/>
                    </a:p>
                  </a:txBody>
                  <a:tcPr marT="63500" marB="63500" marR="63500" marL="63500">
                    <a:lnT cap="flat" cmpd="sng" w="12700">
                      <a:solidFill>
                        <a:schemeClr val="dk1"/>
                      </a:solidFill>
                      <a:prstDash val="solid"/>
                      <a:round/>
                      <a:headEnd len="sm" w="sm" type="none"/>
                      <a:tailEnd len="sm" w="sm" type="none"/>
                    </a:lnT>
                    <a:noFill/>
                  </a:tcPr>
                </a:tc>
              </a:tr>
              <a:tr h="773175">
                <a:tc>
                  <a:txBody>
                    <a:bodyPr/>
                    <a:lstStyle/>
                    <a:p>
                      <a:pPr indent="0" lvl="0" marL="0" rtl="0" algn="l">
                        <a:spcBef>
                          <a:spcPts val="0"/>
                        </a:spcBef>
                        <a:spcAft>
                          <a:spcPts val="0"/>
                        </a:spcAft>
                        <a:buNone/>
                      </a:pPr>
                      <a:r>
                        <a:t/>
                      </a:r>
                      <a:endParaRPr/>
                    </a:p>
                  </a:txBody>
                  <a:tcPr marT="63500" marB="63500" marR="63500" marL="63500">
                    <a:noFill/>
                  </a:tcPr>
                </a:tc>
                <a:tc>
                  <a:txBody>
                    <a:bodyPr/>
                    <a:lstStyle/>
                    <a:p>
                      <a:pPr indent="0" lvl="0" marL="0" rtl="0" algn="l">
                        <a:spcBef>
                          <a:spcPts val="0"/>
                        </a:spcBef>
                        <a:spcAft>
                          <a:spcPts val="0"/>
                        </a:spcAft>
                        <a:buNone/>
                      </a:pPr>
                      <a:r>
                        <a:t/>
                      </a:r>
                      <a:endParaRPr/>
                    </a:p>
                  </a:txBody>
                  <a:tcPr marT="63500" marB="63500" marR="63500" marL="63500">
                    <a:noFill/>
                  </a:tcPr>
                </a:tc>
                <a:tc>
                  <a:txBody>
                    <a:bodyPr/>
                    <a:lstStyle/>
                    <a:p>
                      <a:pPr indent="0" lvl="0" marL="0" rtl="0" algn="l">
                        <a:spcBef>
                          <a:spcPts val="0"/>
                        </a:spcBef>
                        <a:spcAft>
                          <a:spcPts val="0"/>
                        </a:spcAft>
                        <a:buNone/>
                      </a:pPr>
                      <a:r>
                        <a:t/>
                      </a:r>
                      <a:endParaRPr/>
                    </a:p>
                  </a:txBody>
                  <a:tcPr marT="63500" marB="63500" marR="63500" marL="63500">
                    <a:noFill/>
                  </a:tcPr>
                </a:tc>
                <a:tc>
                  <a:txBody>
                    <a:bodyPr/>
                    <a:lstStyle/>
                    <a:p>
                      <a:pPr indent="0" lvl="0" marL="0" rtl="0" algn="l">
                        <a:spcBef>
                          <a:spcPts val="0"/>
                        </a:spcBef>
                        <a:spcAft>
                          <a:spcPts val="0"/>
                        </a:spcAft>
                        <a:buNone/>
                      </a:pPr>
                      <a:r>
                        <a:t/>
                      </a:r>
                      <a:endParaRPr/>
                    </a:p>
                  </a:txBody>
                  <a:tcPr marT="63500" marB="63500" marR="63500" marL="63500">
                    <a:noFill/>
                  </a:tcPr>
                </a:tc>
              </a:tr>
              <a:tr h="773175">
                <a:tc>
                  <a:txBody>
                    <a:bodyPr/>
                    <a:lstStyle/>
                    <a:p>
                      <a:pPr indent="0" lvl="0" marL="0" rtl="0" algn="l">
                        <a:spcBef>
                          <a:spcPts val="0"/>
                        </a:spcBef>
                        <a:spcAft>
                          <a:spcPts val="0"/>
                        </a:spcAft>
                        <a:buNone/>
                      </a:pPr>
                      <a:r>
                        <a:t/>
                      </a:r>
                      <a:endParaRPr/>
                    </a:p>
                  </a:txBody>
                  <a:tcPr marT="63500" marB="63500" marR="63500" marL="63500">
                    <a:noFill/>
                  </a:tcPr>
                </a:tc>
                <a:tc>
                  <a:txBody>
                    <a:bodyPr/>
                    <a:lstStyle/>
                    <a:p>
                      <a:pPr indent="0" lvl="0" marL="0" rtl="0" algn="l">
                        <a:spcBef>
                          <a:spcPts val="0"/>
                        </a:spcBef>
                        <a:spcAft>
                          <a:spcPts val="0"/>
                        </a:spcAft>
                        <a:buNone/>
                      </a:pPr>
                      <a:r>
                        <a:t/>
                      </a:r>
                      <a:endParaRPr/>
                    </a:p>
                  </a:txBody>
                  <a:tcPr marT="63500" marB="63500" marR="63500" marL="63500">
                    <a:noFill/>
                  </a:tcPr>
                </a:tc>
                <a:tc>
                  <a:txBody>
                    <a:bodyPr/>
                    <a:lstStyle/>
                    <a:p>
                      <a:pPr indent="0" lvl="0" marL="0" rtl="0" algn="l">
                        <a:spcBef>
                          <a:spcPts val="0"/>
                        </a:spcBef>
                        <a:spcAft>
                          <a:spcPts val="0"/>
                        </a:spcAft>
                        <a:buNone/>
                      </a:pPr>
                      <a:r>
                        <a:t/>
                      </a:r>
                      <a:endParaRPr/>
                    </a:p>
                  </a:txBody>
                  <a:tcPr marT="63500" marB="63500" marR="63500" marL="63500">
                    <a:noFill/>
                  </a:tcPr>
                </a:tc>
                <a:tc>
                  <a:txBody>
                    <a:bodyPr/>
                    <a:lstStyle/>
                    <a:p>
                      <a:pPr indent="0" lvl="0" marL="0" rtl="0" algn="l">
                        <a:spcBef>
                          <a:spcPts val="0"/>
                        </a:spcBef>
                        <a:spcAft>
                          <a:spcPts val="0"/>
                        </a:spcAft>
                        <a:buNone/>
                      </a:pPr>
                      <a:r>
                        <a:t/>
                      </a:r>
                      <a:endParaRPr/>
                    </a:p>
                  </a:txBody>
                  <a:tcPr marT="63500" marB="63500" marR="63500" marL="63500">
                    <a:noFill/>
                  </a:tcPr>
                </a:tc>
              </a:tr>
              <a:tr h="773175">
                <a:tc>
                  <a:txBody>
                    <a:bodyPr/>
                    <a:lstStyle/>
                    <a:p>
                      <a:pPr indent="0" lvl="0" marL="0" rtl="0" algn="l">
                        <a:spcBef>
                          <a:spcPts val="0"/>
                        </a:spcBef>
                        <a:spcAft>
                          <a:spcPts val="0"/>
                        </a:spcAft>
                        <a:buNone/>
                      </a:pPr>
                      <a:r>
                        <a:t/>
                      </a:r>
                      <a:endParaRPr/>
                    </a:p>
                  </a:txBody>
                  <a:tcPr marT="63500" marB="63500" marR="63500" marL="63500">
                    <a:noFill/>
                  </a:tcPr>
                </a:tc>
                <a:tc>
                  <a:txBody>
                    <a:bodyPr/>
                    <a:lstStyle/>
                    <a:p>
                      <a:pPr indent="0" lvl="0" marL="0" rtl="0" algn="l">
                        <a:spcBef>
                          <a:spcPts val="0"/>
                        </a:spcBef>
                        <a:spcAft>
                          <a:spcPts val="0"/>
                        </a:spcAft>
                        <a:buNone/>
                      </a:pPr>
                      <a:r>
                        <a:t/>
                      </a:r>
                      <a:endParaRPr/>
                    </a:p>
                  </a:txBody>
                  <a:tcPr marT="63500" marB="63500" marR="63500" marL="63500">
                    <a:noFill/>
                  </a:tcPr>
                </a:tc>
                <a:tc>
                  <a:txBody>
                    <a:bodyPr/>
                    <a:lstStyle/>
                    <a:p>
                      <a:pPr indent="0" lvl="0" marL="0" rtl="0" algn="l">
                        <a:spcBef>
                          <a:spcPts val="0"/>
                        </a:spcBef>
                        <a:spcAft>
                          <a:spcPts val="0"/>
                        </a:spcAft>
                        <a:buNone/>
                      </a:pPr>
                      <a:r>
                        <a:t/>
                      </a:r>
                      <a:endParaRPr/>
                    </a:p>
                  </a:txBody>
                  <a:tcPr marT="63500" marB="63500" marR="63500" marL="63500">
                    <a:noFill/>
                  </a:tcPr>
                </a:tc>
                <a:tc>
                  <a:txBody>
                    <a:bodyPr/>
                    <a:lstStyle/>
                    <a:p>
                      <a:pPr indent="0" lvl="0" marL="0" rtl="0" algn="l">
                        <a:spcBef>
                          <a:spcPts val="0"/>
                        </a:spcBef>
                        <a:spcAft>
                          <a:spcPts val="0"/>
                        </a:spcAft>
                        <a:buNone/>
                      </a:pPr>
                      <a:r>
                        <a:t/>
                      </a:r>
                      <a:endParaRPr/>
                    </a:p>
                  </a:txBody>
                  <a:tcPr marT="63500" marB="63500" marR="63500" marL="63500">
                    <a:noFill/>
                  </a:tcPr>
                </a:tc>
              </a:tr>
            </a:tbl>
          </a:graphicData>
        </a:graphic>
      </p:graphicFrame>
      <p:sp>
        <p:nvSpPr>
          <p:cNvPr id="61" name="Google Shape;61;p14"/>
          <p:cNvSpPr txBox="1"/>
          <p:nvPr/>
        </p:nvSpPr>
        <p:spPr>
          <a:xfrm>
            <a:off x="288000" y="179925"/>
            <a:ext cx="7196400" cy="1377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000"/>
              <a:buFont typeface="Arial"/>
              <a:buNone/>
            </a:pPr>
            <a:r>
              <a:rPr lang="en" sz="2000"/>
              <a:t>1.1 Fundamentals</a:t>
            </a:r>
            <a:endParaRPr b="0" i="0" sz="2000" u="none" cap="none" strike="noStrike">
              <a:solidFill>
                <a:srgbClr val="000000"/>
              </a:solidFill>
              <a:latin typeface="Arial"/>
              <a:ea typeface="Arial"/>
              <a:cs typeface="Arial"/>
              <a:sym typeface="Arial"/>
            </a:endParaRPr>
          </a:p>
          <a:p>
            <a:pPr indent="0" lvl="0" marL="0" marR="0" rtl="0" algn="l">
              <a:lnSpc>
                <a:spcPct val="115000"/>
              </a:lnSpc>
              <a:spcBef>
                <a:spcPts val="600"/>
              </a:spcBef>
              <a:spcAft>
                <a:spcPts val="0"/>
              </a:spcAft>
              <a:buClr>
                <a:srgbClr val="000000"/>
              </a:buClr>
              <a:buSzPts val="1500"/>
              <a:buFont typeface="Arial"/>
              <a:buNone/>
            </a:pPr>
            <a:r>
              <a:rPr b="1" lang="en" sz="1500"/>
              <a:t>Two Truths and a Lie</a:t>
            </a:r>
            <a:r>
              <a:rPr lang="en" sz="1500"/>
              <a:t>. We all love icebreakers, right? Share three things about yourself, except one can be a lie! Each person takes a row - if your group has fewer than 4 people, it's fine to leave some blank.</a:t>
            </a:r>
            <a:endParaRPr i="0" sz="1500" u="none" cap="none" strike="noStrike">
              <a:solidFill>
                <a:srgbClr val="000000"/>
              </a:solidFill>
            </a:endParaRPr>
          </a:p>
        </p:txBody>
      </p:sp>
      <p:graphicFrame>
        <p:nvGraphicFramePr>
          <p:cNvPr id="62" name="Google Shape;62;p14"/>
          <p:cNvGraphicFramePr/>
          <p:nvPr/>
        </p:nvGraphicFramePr>
        <p:xfrm>
          <a:off x="324638" y="6373450"/>
          <a:ext cx="3000000" cy="3000000"/>
        </p:xfrm>
        <a:graphic>
          <a:graphicData uri="http://schemas.openxmlformats.org/drawingml/2006/table">
            <a:tbl>
              <a:tblPr>
                <a:noFill/>
                <a:tableStyleId>{A0505F16-E8CE-4040-8224-7A68279C112B}</a:tableStyleId>
              </a:tblPr>
              <a:tblGrid>
                <a:gridCol w="2115625"/>
                <a:gridCol w="5007500"/>
              </a:tblGrid>
              <a:tr h="839900">
                <a:tc>
                  <a:txBody>
                    <a:bodyPr/>
                    <a:lstStyle/>
                    <a:p>
                      <a:pPr indent="0" lvl="0" marL="0" rtl="0" algn="l">
                        <a:spcBef>
                          <a:spcPts val="0"/>
                        </a:spcBef>
                        <a:spcAft>
                          <a:spcPts val="0"/>
                        </a:spcAft>
                        <a:buNone/>
                      </a:pPr>
                      <a:r>
                        <a:rPr lang="en">
                          <a:latin typeface="Consolas"/>
                          <a:ea typeface="Consolas"/>
                          <a:cs typeface="Consolas"/>
                          <a:sym typeface="Consolas"/>
                        </a:rPr>
                        <a:t>int -&gt; double</a:t>
                      </a:r>
                      <a:endParaRPr>
                        <a:latin typeface="Consolas"/>
                        <a:ea typeface="Consolas"/>
                        <a:cs typeface="Consolas"/>
                        <a:sym typeface="Consolas"/>
                      </a:endParaRPr>
                    </a:p>
                  </a:txBody>
                  <a:tcPr marT="63500" marB="63500" marR="63500" marL="63500">
                    <a:noFill/>
                  </a:tcPr>
                </a:tc>
                <a:tc>
                  <a:txBody>
                    <a:bodyPr/>
                    <a:lstStyle/>
                    <a:p>
                      <a:pPr indent="0" lvl="0" marL="0" rtl="0" algn="l">
                        <a:spcBef>
                          <a:spcPts val="0"/>
                        </a:spcBef>
                        <a:spcAft>
                          <a:spcPts val="0"/>
                        </a:spcAft>
                        <a:buNone/>
                      </a:pPr>
                      <a:r>
                        <a:t/>
                      </a:r>
                      <a:endParaRPr>
                        <a:solidFill>
                          <a:srgbClr val="FF0000"/>
                        </a:solidFill>
                      </a:endParaRPr>
                    </a:p>
                  </a:txBody>
                  <a:tcPr marT="63500" marB="63500" marR="63500" marL="63500">
                    <a:noFill/>
                  </a:tcPr>
                </a:tc>
              </a:tr>
              <a:tr h="839900">
                <a:tc>
                  <a:txBody>
                    <a:bodyPr/>
                    <a:lstStyle/>
                    <a:p>
                      <a:pPr indent="0" lvl="0" marL="0" rtl="0" algn="l">
                        <a:spcBef>
                          <a:spcPts val="0"/>
                        </a:spcBef>
                        <a:spcAft>
                          <a:spcPts val="0"/>
                        </a:spcAft>
                        <a:buNone/>
                      </a:pPr>
                      <a:r>
                        <a:rPr lang="en">
                          <a:latin typeface="Consolas"/>
                          <a:ea typeface="Consolas"/>
                          <a:cs typeface="Consolas"/>
                          <a:sym typeface="Consolas"/>
                        </a:rPr>
                        <a:t>double -&gt; int</a:t>
                      </a:r>
                      <a:endParaRPr>
                        <a:latin typeface="Consolas"/>
                        <a:ea typeface="Consolas"/>
                        <a:cs typeface="Consolas"/>
                        <a:sym typeface="Consolas"/>
                      </a:endParaRPr>
                    </a:p>
                  </a:txBody>
                  <a:tcPr marT="63500" marB="63500" marR="63500" marL="63500">
                    <a:noFill/>
                  </a:tcPr>
                </a:tc>
                <a:tc>
                  <a:txBody>
                    <a:bodyPr/>
                    <a:lstStyle/>
                    <a:p>
                      <a:pPr indent="0" lvl="0" marL="0" rtl="0" algn="l">
                        <a:spcBef>
                          <a:spcPts val="0"/>
                        </a:spcBef>
                        <a:spcAft>
                          <a:spcPts val="0"/>
                        </a:spcAft>
                        <a:buClr>
                          <a:schemeClr val="dk1"/>
                        </a:buClr>
                        <a:buSzPts val="1100"/>
                        <a:buFont typeface="Arial"/>
                        <a:buNone/>
                      </a:pPr>
                      <a:r>
                        <a:t/>
                      </a:r>
                      <a:endParaRPr>
                        <a:solidFill>
                          <a:srgbClr val="FF0000"/>
                        </a:solidFill>
                      </a:endParaRPr>
                    </a:p>
                  </a:txBody>
                  <a:tcPr marT="63500" marB="63500" marR="63500" marL="63500">
                    <a:noFill/>
                  </a:tcPr>
                </a:tc>
              </a:tr>
              <a:tr h="839900">
                <a:tc>
                  <a:txBody>
                    <a:bodyPr/>
                    <a:lstStyle/>
                    <a:p>
                      <a:pPr indent="0" lvl="0" marL="0" rtl="0" algn="l">
                        <a:spcBef>
                          <a:spcPts val="0"/>
                        </a:spcBef>
                        <a:spcAft>
                          <a:spcPts val="0"/>
                        </a:spcAft>
                        <a:buNone/>
                      </a:pPr>
                      <a:r>
                        <a:rPr lang="en">
                          <a:latin typeface="Consolas"/>
                          <a:ea typeface="Consolas"/>
                          <a:cs typeface="Consolas"/>
                          <a:sym typeface="Consolas"/>
                        </a:rPr>
                        <a:t>int -&gt; bool</a:t>
                      </a:r>
                      <a:endParaRPr>
                        <a:latin typeface="Consolas"/>
                        <a:ea typeface="Consolas"/>
                        <a:cs typeface="Consolas"/>
                        <a:sym typeface="Consolas"/>
                      </a:endParaRPr>
                    </a:p>
                  </a:txBody>
                  <a:tcPr marT="63500" marB="63500" marR="63500" marL="63500">
                    <a:noFill/>
                  </a:tcPr>
                </a:tc>
                <a:tc>
                  <a:txBody>
                    <a:bodyPr/>
                    <a:lstStyle/>
                    <a:p>
                      <a:pPr indent="0" lvl="0" marL="0" rtl="0" algn="l">
                        <a:spcBef>
                          <a:spcPts val="0"/>
                        </a:spcBef>
                        <a:spcAft>
                          <a:spcPts val="0"/>
                        </a:spcAft>
                        <a:buClr>
                          <a:schemeClr val="dk1"/>
                        </a:buClr>
                        <a:buSzPts val="1100"/>
                        <a:buFont typeface="Arial"/>
                        <a:buNone/>
                      </a:pPr>
                      <a:r>
                        <a:t/>
                      </a:r>
                      <a:endParaRPr>
                        <a:solidFill>
                          <a:srgbClr val="FF0000"/>
                        </a:solidFill>
                      </a:endParaRPr>
                    </a:p>
                  </a:txBody>
                  <a:tcPr marT="63500" marB="63500" marR="63500" marL="63500">
                    <a:noFill/>
                  </a:tcPr>
                </a:tc>
              </a:tr>
              <a:tr h="839900">
                <a:tc>
                  <a:txBody>
                    <a:bodyPr/>
                    <a:lstStyle/>
                    <a:p>
                      <a:pPr indent="0" lvl="0" marL="0" rtl="0" algn="l">
                        <a:spcBef>
                          <a:spcPts val="0"/>
                        </a:spcBef>
                        <a:spcAft>
                          <a:spcPts val="0"/>
                        </a:spcAft>
                        <a:buNone/>
                      </a:pPr>
                      <a:r>
                        <a:rPr lang="en">
                          <a:latin typeface="Consolas"/>
                          <a:ea typeface="Consolas"/>
                          <a:cs typeface="Consolas"/>
                          <a:sym typeface="Consolas"/>
                        </a:rPr>
                        <a:t>double -&gt; string</a:t>
                      </a:r>
                      <a:endParaRPr>
                        <a:latin typeface="Consolas"/>
                        <a:ea typeface="Consolas"/>
                        <a:cs typeface="Consolas"/>
                        <a:sym typeface="Consolas"/>
                      </a:endParaRPr>
                    </a:p>
                  </a:txBody>
                  <a:tcPr marT="63500" marB="63500" marR="63500" marL="63500">
                    <a:noFill/>
                  </a:tcPr>
                </a:tc>
                <a:tc>
                  <a:txBody>
                    <a:bodyPr/>
                    <a:lstStyle/>
                    <a:p>
                      <a:pPr indent="0" lvl="0" marL="0" rtl="0" algn="l">
                        <a:spcBef>
                          <a:spcPts val="0"/>
                        </a:spcBef>
                        <a:spcAft>
                          <a:spcPts val="0"/>
                        </a:spcAft>
                        <a:buClr>
                          <a:schemeClr val="dk1"/>
                        </a:buClr>
                        <a:buSzPts val="1100"/>
                        <a:buFont typeface="Arial"/>
                        <a:buNone/>
                      </a:pPr>
                      <a:r>
                        <a:t/>
                      </a:r>
                      <a:endParaRPr>
                        <a:solidFill>
                          <a:srgbClr val="FF0000"/>
                        </a:solidFill>
                      </a:endParaRPr>
                    </a:p>
                  </a:txBody>
                  <a:tcPr marT="63500" marB="63500" marR="63500" marL="63500">
                    <a:noFill/>
                  </a:tcPr>
                </a:tc>
              </a:tr>
            </a:tbl>
          </a:graphicData>
        </a:graphic>
      </p:graphicFrame>
      <p:sp>
        <p:nvSpPr>
          <p:cNvPr id="63" name="Google Shape;63;p14"/>
          <p:cNvSpPr txBox="1"/>
          <p:nvPr/>
        </p:nvSpPr>
        <p:spPr>
          <a:xfrm>
            <a:off x="288000" y="5148425"/>
            <a:ext cx="7196400" cy="11121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000"/>
              <a:buFont typeface="Arial"/>
              <a:buNone/>
            </a:pPr>
            <a:r>
              <a:rPr lang="en" sz="2000"/>
              <a:t>1</a:t>
            </a:r>
            <a:r>
              <a:rPr lang="en" sz="2000">
                <a:solidFill>
                  <a:srgbClr val="000000"/>
                </a:solidFill>
              </a:rPr>
              <a:t>.</a:t>
            </a:r>
            <a:r>
              <a:rPr lang="en" sz="2000"/>
              <a:t>1</a:t>
            </a:r>
            <a:r>
              <a:rPr lang="en" sz="2000">
                <a:solidFill>
                  <a:srgbClr val="000000"/>
                </a:solidFill>
              </a:rPr>
              <a:t> </a:t>
            </a:r>
            <a:r>
              <a:rPr lang="en" sz="2000"/>
              <a:t>Implicit </a:t>
            </a:r>
            <a:r>
              <a:rPr lang="en" sz="2000"/>
              <a:t>Conversions</a:t>
            </a:r>
            <a:endParaRPr b="0" i="0" sz="2000" u="none" cap="none" strike="noStrike">
              <a:solidFill>
                <a:srgbClr val="000000"/>
              </a:solidFill>
              <a:latin typeface="Arial"/>
              <a:ea typeface="Arial"/>
              <a:cs typeface="Arial"/>
              <a:sym typeface="Arial"/>
            </a:endParaRPr>
          </a:p>
          <a:p>
            <a:pPr indent="0" lvl="0" marL="0" marR="0" rtl="0" algn="l">
              <a:lnSpc>
                <a:spcPct val="115000"/>
              </a:lnSpc>
              <a:spcBef>
                <a:spcPts val="600"/>
              </a:spcBef>
              <a:spcAft>
                <a:spcPts val="0"/>
              </a:spcAft>
              <a:buClr>
                <a:srgbClr val="000000"/>
              </a:buClr>
              <a:buSzPts val="1500"/>
              <a:buFont typeface="Arial"/>
              <a:buNone/>
            </a:pPr>
            <a:r>
              <a:rPr lang="en" sz="1500"/>
              <a:t>In the boxes below, briefly describe whether the compiler would allow implicit conversion between the specified types and, if so, what happens for each?</a:t>
            </a:r>
            <a:endParaRPr i="0" sz="1500" u="none" cap="none" strike="noStrike">
              <a:solidFill>
                <a:srgbClr val="00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nvSpPr>
        <p:spPr>
          <a:xfrm>
            <a:off x="147675" y="74150"/>
            <a:ext cx="7435800" cy="1309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900">
                <a:solidFill>
                  <a:schemeClr val="dk1"/>
                </a:solidFill>
              </a:rPr>
              <a:t>1.2: Functions in C++</a:t>
            </a:r>
            <a:endParaRPr sz="1900">
              <a:solidFill>
                <a:schemeClr val="dk1"/>
              </a:solidFill>
            </a:endParaRPr>
          </a:p>
          <a:p>
            <a:pPr indent="0" lvl="0" marL="0" rtl="0" algn="l">
              <a:lnSpc>
                <a:spcPct val="115000"/>
              </a:lnSpc>
              <a:spcBef>
                <a:spcPts val="600"/>
              </a:spcBef>
              <a:spcAft>
                <a:spcPts val="0"/>
              </a:spcAft>
              <a:buNone/>
            </a:pPr>
            <a:r>
              <a:rPr lang="en">
                <a:solidFill>
                  <a:schemeClr val="dk1"/>
                </a:solidFill>
              </a:rPr>
              <a:t>Consider each of the following programs that attempt to use functions in C++. Each contains a mistake. In the small box, describe the nature of the mistake. (Feel free to plug them into your editor/compiler, but don't just copy/paste an error message into the box.)</a:t>
            </a:r>
            <a:endParaRPr>
              <a:solidFill>
                <a:schemeClr val="dk1"/>
              </a:solidFill>
            </a:endParaRPr>
          </a:p>
        </p:txBody>
      </p:sp>
      <p:graphicFrame>
        <p:nvGraphicFramePr>
          <p:cNvPr id="69" name="Google Shape;69;p15"/>
          <p:cNvGraphicFramePr/>
          <p:nvPr/>
        </p:nvGraphicFramePr>
        <p:xfrm>
          <a:off x="279575" y="1454925"/>
          <a:ext cx="3000000" cy="3000000"/>
        </p:xfrm>
        <a:graphic>
          <a:graphicData uri="http://schemas.openxmlformats.org/drawingml/2006/table">
            <a:tbl>
              <a:tblPr>
                <a:noFill/>
                <a:tableStyleId>{71AC3457-10E6-4857-A913-5A14E234D2E3}</a:tableStyleId>
              </a:tblPr>
              <a:tblGrid>
                <a:gridCol w="3474725"/>
              </a:tblGrid>
              <a:tr h="2374600">
                <a:tc>
                  <a:txBody>
                    <a:bodyPr/>
                    <a:lstStyle/>
                    <a:p>
                      <a:pPr indent="0" lvl="0" marL="0" rtl="0" algn="l">
                        <a:lnSpc>
                          <a:spcPct val="115000"/>
                        </a:lnSpc>
                        <a:spcBef>
                          <a:spcPts val="0"/>
                        </a:spcBef>
                        <a:spcAft>
                          <a:spcPts val="0"/>
                        </a:spcAft>
                        <a:buClr>
                          <a:schemeClr val="dk1"/>
                        </a:buClr>
                        <a:buSzPts val="1100"/>
                        <a:buFont typeface="Arial"/>
                        <a:buNone/>
                      </a:pPr>
                      <a:r>
                        <a:rPr lang="en" sz="1200">
                          <a:solidFill>
                            <a:srgbClr val="0000FF"/>
                          </a:solidFill>
                          <a:highlight>
                            <a:srgbClr val="FFFFFF"/>
                          </a:highlight>
                          <a:latin typeface="Consolas"/>
                          <a:ea typeface="Consolas"/>
                          <a:cs typeface="Consolas"/>
                          <a:sym typeface="Consolas"/>
                        </a:rPr>
                        <a:t>int</a:t>
                      </a:r>
                      <a:r>
                        <a:rPr lang="en" sz="1200">
                          <a:solidFill>
                            <a:schemeClr val="dk1"/>
                          </a:solidFill>
                          <a:highlight>
                            <a:srgbClr val="FFFFFF"/>
                          </a:highlight>
                          <a:latin typeface="Consolas"/>
                          <a:ea typeface="Consolas"/>
                          <a:cs typeface="Consolas"/>
                          <a:sym typeface="Consolas"/>
                        </a:rPr>
                        <a:t> </a:t>
                      </a:r>
                      <a:r>
                        <a:rPr lang="en" sz="1200">
                          <a:solidFill>
                            <a:srgbClr val="795E26"/>
                          </a:solidFill>
                          <a:highlight>
                            <a:srgbClr val="FFFFFF"/>
                          </a:highlight>
                          <a:latin typeface="Consolas"/>
                          <a:ea typeface="Consolas"/>
                          <a:cs typeface="Consolas"/>
                          <a:sym typeface="Consolas"/>
                        </a:rPr>
                        <a:t>max</a:t>
                      </a:r>
                      <a:r>
                        <a:rPr lang="en" sz="1200">
                          <a:solidFill>
                            <a:schemeClr val="dk1"/>
                          </a:solidFill>
                          <a:highlight>
                            <a:srgbClr val="FFFFFF"/>
                          </a:highlight>
                          <a:latin typeface="Consolas"/>
                          <a:ea typeface="Consolas"/>
                          <a:cs typeface="Consolas"/>
                          <a:sym typeface="Consolas"/>
                        </a:rPr>
                        <a:t>(</a:t>
                      </a:r>
                      <a:r>
                        <a:rPr lang="en" sz="1200">
                          <a:solidFill>
                            <a:srgbClr val="0000FF"/>
                          </a:solidFill>
                          <a:highlight>
                            <a:srgbClr val="FFFFFF"/>
                          </a:highlight>
                          <a:latin typeface="Consolas"/>
                          <a:ea typeface="Consolas"/>
                          <a:cs typeface="Consolas"/>
                          <a:sym typeface="Consolas"/>
                        </a:rPr>
                        <a:t>int</a:t>
                      </a:r>
                      <a:r>
                        <a:rPr lang="en" sz="1200">
                          <a:solidFill>
                            <a:schemeClr val="dk1"/>
                          </a:solidFill>
                          <a:highlight>
                            <a:srgbClr val="FFFFFF"/>
                          </a:highlight>
                          <a:latin typeface="Consolas"/>
                          <a:ea typeface="Consolas"/>
                          <a:cs typeface="Consolas"/>
                          <a:sym typeface="Consolas"/>
                        </a:rPr>
                        <a:t> </a:t>
                      </a:r>
                      <a:r>
                        <a:rPr lang="en" sz="1200">
                          <a:solidFill>
                            <a:srgbClr val="001080"/>
                          </a:solidFill>
                          <a:highlight>
                            <a:srgbClr val="FFFFFF"/>
                          </a:highlight>
                          <a:latin typeface="Consolas"/>
                          <a:ea typeface="Consolas"/>
                          <a:cs typeface="Consolas"/>
                          <a:sym typeface="Consolas"/>
                        </a:rPr>
                        <a:t>x</a:t>
                      </a:r>
                      <a:r>
                        <a:rPr lang="en" sz="1200">
                          <a:solidFill>
                            <a:schemeClr val="dk1"/>
                          </a:solidFill>
                          <a:highlight>
                            <a:srgbClr val="FFFFFF"/>
                          </a:highlight>
                          <a:latin typeface="Consolas"/>
                          <a:ea typeface="Consolas"/>
                          <a:cs typeface="Consolas"/>
                          <a:sym typeface="Consolas"/>
                        </a:rPr>
                        <a:t>, </a:t>
                      </a:r>
                      <a:r>
                        <a:rPr lang="en" sz="1200">
                          <a:solidFill>
                            <a:srgbClr val="0000FF"/>
                          </a:solidFill>
                          <a:highlight>
                            <a:srgbClr val="FFFFFF"/>
                          </a:highlight>
                          <a:latin typeface="Consolas"/>
                          <a:ea typeface="Consolas"/>
                          <a:cs typeface="Consolas"/>
                          <a:sym typeface="Consolas"/>
                        </a:rPr>
                        <a:t>int</a:t>
                      </a:r>
                      <a:r>
                        <a:rPr lang="en" sz="1200">
                          <a:solidFill>
                            <a:schemeClr val="dk1"/>
                          </a:solidFill>
                          <a:highlight>
                            <a:srgbClr val="FFFFFF"/>
                          </a:highlight>
                          <a:latin typeface="Consolas"/>
                          <a:ea typeface="Consolas"/>
                          <a:cs typeface="Consolas"/>
                          <a:sym typeface="Consolas"/>
                        </a:rPr>
                        <a:t> </a:t>
                      </a:r>
                      <a:r>
                        <a:rPr lang="en" sz="1200">
                          <a:solidFill>
                            <a:srgbClr val="001080"/>
                          </a:solidFill>
                          <a:highlight>
                            <a:srgbClr val="FFFFFF"/>
                          </a:highlight>
                          <a:latin typeface="Consolas"/>
                          <a:ea typeface="Consolas"/>
                          <a:cs typeface="Consolas"/>
                          <a:sym typeface="Consolas"/>
                        </a:rPr>
                        <a:t>y</a:t>
                      </a:r>
                      <a:r>
                        <a:rPr lang="en" sz="1200">
                          <a:solidFill>
                            <a:schemeClr val="dk1"/>
                          </a:solidFill>
                          <a:highlight>
                            <a:srgbClr val="FFFFFF"/>
                          </a:highlight>
                          <a:latin typeface="Consolas"/>
                          <a:ea typeface="Consolas"/>
                          <a:cs typeface="Consolas"/>
                          <a:sym typeface="Consolas"/>
                        </a:rPr>
                        <a:t>) {</a:t>
                      </a:r>
                      <a:endParaRPr sz="1200">
                        <a:solidFill>
                          <a:schemeClr val="dk1"/>
                        </a:solidFill>
                        <a:highlight>
                          <a:srgbClr val="FFFFFF"/>
                        </a:highlight>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highlight>
                            <a:srgbClr val="FFFFFF"/>
                          </a:highlight>
                          <a:latin typeface="Consolas"/>
                          <a:ea typeface="Consolas"/>
                          <a:cs typeface="Consolas"/>
                          <a:sym typeface="Consolas"/>
                        </a:rPr>
                        <a:t>  </a:t>
                      </a:r>
                      <a:r>
                        <a:rPr lang="en" sz="1200">
                          <a:solidFill>
                            <a:srgbClr val="AF00DB"/>
                          </a:solidFill>
                          <a:highlight>
                            <a:srgbClr val="FFFFFF"/>
                          </a:highlight>
                          <a:latin typeface="Consolas"/>
                          <a:ea typeface="Consolas"/>
                          <a:cs typeface="Consolas"/>
                          <a:sym typeface="Consolas"/>
                        </a:rPr>
                        <a:t>if</a:t>
                      </a:r>
                      <a:r>
                        <a:rPr lang="en" sz="1200">
                          <a:solidFill>
                            <a:schemeClr val="dk1"/>
                          </a:solidFill>
                          <a:highlight>
                            <a:srgbClr val="FFFFFF"/>
                          </a:highlight>
                          <a:latin typeface="Consolas"/>
                          <a:ea typeface="Consolas"/>
                          <a:cs typeface="Consolas"/>
                          <a:sym typeface="Consolas"/>
                        </a:rPr>
                        <a:t> (</a:t>
                      </a:r>
                      <a:r>
                        <a:rPr lang="en" sz="1200">
                          <a:solidFill>
                            <a:srgbClr val="001080"/>
                          </a:solidFill>
                          <a:highlight>
                            <a:srgbClr val="FFFFFF"/>
                          </a:highlight>
                          <a:latin typeface="Consolas"/>
                          <a:ea typeface="Consolas"/>
                          <a:cs typeface="Consolas"/>
                          <a:sym typeface="Consolas"/>
                        </a:rPr>
                        <a:t>x</a:t>
                      </a:r>
                      <a:r>
                        <a:rPr lang="en" sz="1200">
                          <a:solidFill>
                            <a:schemeClr val="dk1"/>
                          </a:solidFill>
                          <a:highlight>
                            <a:srgbClr val="FFFFFF"/>
                          </a:highlight>
                          <a:latin typeface="Consolas"/>
                          <a:ea typeface="Consolas"/>
                          <a:cs typeface="Consolas"/>
                          <a:sym typeface="Consolas"/>
                        </a:rPr>
                        <a:t> &gt; </a:t>
                      </a:r>
                      <a:r>
                        <a:rPr lang="en" sz="1200">
                          <a:solidFill>
                            <a:srgbClr val="001080"/>
                          </a:solidFill>
                          <a:highlight>
                            <a:srgbClr val="FFFFFF"/>
                          </a:highlight>
                          <a:latin typeface="Consolas"/>
                          <a:ea typeface="Consolas"/>
                          <a:cs typeface="Consolas"/>
                          <a:sym typeface="Consolas"/>
                        </a:rPr>
                        <a:t>y</a:t>
                      </a:r>
                      <a:r>
                        <a:rPr lang="en" sz="1200">
                          <a:solidFill>
                            <a:schemeClr val="dk1"/>
                          </a:solidFill>
                          <a:highlight>
                            <a:srgbClr val="FFFFFF"/>
                          </a:highlight>
                          <a:latin typeface="Consolas"/>
                          <a:ea typeface="Consolas"/>
                          <a:cs typeface="Consolas"/>
                          <a:sym typeface="Consolas"/>
                        </a:rPr>
                        <a:t>) { </a:t>
                      </a:r>
                      <a:r>
                        <a:rPr lang="en" sz="1200">
                          <a:solidFill>
                            <a:srgbClr val="AF00DB"/>
                          </a:solidFill>
                          <a:highlight>
                            <a:srgbClr val="FFFFFF"/>
                          </a:highlight>
                          <a:latin typeface="Consolas"/>
                          <a:ea typeface="Consolas"/>
                          <a:cs typeface="Consolas"/>
                          <a:sym typeface="Consolas"/>
                        </a:rPr>
                        <a:t>return</a:t>
                      </a:r>
                      <a:r>
                        <a:rPr lang="en" sz="1200">
                          <a:solidFill>
                            <a:schemeClr val="dk1"/>
                          </a:solidFill>
                          <a:highlight>
                            <a:srgbClr val="FFFFFF"/>
                          </a:highlight>
                          <a:latin typeface="Consolas"/>
                          <a:ea typeface="Consolas"/>
                          <a:cs typeface="Consolas"/>
                          <a:sym typeface="Consolas"/>
                        </a:rPr>
                        <a:t> </a:t>
                      </a:r>
                      <a:r>
                        <a:rPr lang="en" sz="1200">
                          <a:solidFill>
                            <a:srgbClr val="001080"/>
                          </a:solidFill>
                          <a:highlight>
                            <a:srgbClr val="FFFFFF"/>
                          </a:highlight>
                          <a:latin typeface="Consolas"/>
                          <a:ea typeface="Consolas"/>
                          <a:cs typeface="Consolas"/>
                          <a:sym typeface="Consolas"/>
                        </a:rPr>
                        <a:t>x</a:t>
                      </a:r>
                      <a:r>
                        <a:rPr lang="en" sz="1200">
                          <a:solidFill>
                            <a:schemeClr val="dk1"/>
                          </a:solidFill>
                          <a:highlight>
                            <a:srgbClr val="FFFFFF"/>
                          </a:highlight>
                          <a:latin typeface="Consolas"/>
                          <a:ea typeface="Consolas"/>
                          <a:cs typeface="Consolas"/>
                          <a:sym typeface="Consolas"/>
                        </a:rPr>
                        <a:t>; }</a:t>
                      </a:r>
                      <a:endParaRPr sz="1200">
                        <a:solidFill>
                          <a:schemeClr val="dk1"/>
                        </a:solidFill>
                        <a:highlight>
                          <a:srgbClr val="FFFFFF"/>
                        </a:highlight>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highlight>
                            <a:srgbClr val="FFFFFF"/>
                          </a:highlight>
                          <a:latin typeface="Consolas"/>
                          <a:ea typeface="Consolas"/>
                          <a:cs typeface="Consolas"/>
                          <a:sym typeface="Consolas"/>
                        </a:rPr>
                        <a:t>  </a:t>
                      </a:r>
                      <a:r>
                        <a:rPr lang="en" sz="1200">
                          <a:solidFill>
                            <a:srgbClr val="AF00DB"/>
                          </a:solidFill>
                          <a:highlight>
                            <a:srgbClr val="FFFFFF"/>
                          </a:highlight>
                          <a:latin typeface="Consolas"/>
                          <a:ea typeface="Consolas"/>
                          <a:cs typeface="Consolas"/>
                          <a:sym typeface="Consolas"/>
                        </a:rPr>
                        <a:t>else</a:t>
                      </a:r>
                      <a:r>
                        <a:rPr lang="en" sz="1200">
                          <a:solidFill>
                            <a:schemeClr val="dk1"/>
                          </a:solidFill>
                          <a:highlight>
                            <a:srgbClr val="FFFFFF"/>
                          </a:highlight>
                          <a:latin typeface="Consolas"/>
                          <a:ea typeface="Consolas"/>
                          <a:cs typeface="Consolas"/>
                          <a:sym typeface="Consolas"/>
                        </a:rPr>
                        <a:t> { </a:t>
                      </a:r>
                      <a:r>
                        <a:rPr lang="en" sz="1200">
                          <a:solidFill>
                            <a:srgbClr val="AF00DB"/>
                          </a:solidFill>
                          <a:highlight>
                            <a:srgbClr val="FFFFFF"/>
                          </a:highlight>
                          <a:latin typeface="Consolas"/>
                          <a:ea typeface="Consolas"/>
                          <a:cs typeface="Consolas"/>
                          <a:sym typeface="Consolas"/>
                        </a:rPr>
                        <a:t>return</a:t>
                      </a:r>
                      <a:r>
                        <a:rPr lang="en" sz="1200">
                          <a:solidFill>
                            <a:schemeClr val="dk1"/>
                          </a:solidFill>
                          <a:highlight>
                            <a:srgbClr val="FFFFFF"/>
                          </a:highlight>
                          <a:latin typeface="Consolas"/>
                          <a:ea typeface="Consolas"/>
                          <a:cs typeface="Consolas"/>
                          <a:sym typeface="Consolas"/>
                        </a:rPr>
                        <a:t> </a:t>
                      </a:r>
                      <a:r>
                        <a:rPr lang="en" sz="1200">
                          <a:solidFill>
                            <a:srgbClr val="001080"/>
                          </a:solidFill>
                          <a:highlight>
                            <a:srgbClr val="FFFFFF"/>
                          </a:highlight>
                          <a:latin typeface="Consolas"/>
                          <a:ea typeface="Consolas"/>
                          <a:cs typeface="Consolas"/>
                          <a:sym typeface="Consolas"/>
                        </a:rPr>
                        <a:t>y</a:t>
                      </a:r>
                      <a:r>
                        <a:rPr lang="en" sz="1200">
                          <a:solidFill>
                            <a:schemeClr val="dk1"/>
                          </a:solidFill>
                          <a:highlight>
                            <a:srgbClr val="FFFFFF"/>
                          </a:highlight>
                          <a:latin typeface="Consolas"/>
                          <a:ea typeface="Consolas"/>
                          <a:cs typeface="Consolas"/>
                          <a:sym typeface="Consolas"/>
                        </a:rPr>
                        <a:t>; }</a:t>
                      </a:r>
                      <a:endParaRPr sz="1200">
                        <a:solidFill>
                          <a:schemeClr val="dk1"/>
                        </a:solidFill>
                        <a:highlight>
                          <a:srgbClr val="FFFFFF"/>
                        </a:highlight>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highlight>
                            <a:srgbClr val="FFFFFF"/>
                          </a:highlight>
                          <a:latin typeface="Consolas"/>
                          <a:ea typeface="Consolas"/>
                          <a:cs typeface="Consolas"/>
                          <a:sym typeface="Consolas"/>
                        </a:rPr>
                        <a:t>}</a:t>
                      </a:r>
                      <a:endParaRPr sz="1200">
                        <a:solidFill>
                          <a:schemeClr val="dk1"/>
                        </a:solidFill>
                        <a:highlight>
                          <a:srgbClr val="FFFFFF"/>
                        </a:highlight>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 sz="1200">
                          <a:solidFill>
                            <a:srgbClr val="0000FF"/>
                          </a:solidFill>
                          <a:highlight>
                            <a:srgbClr val="FFFFFF"/>
                          </a:highlight>
                          <a:latin typeface="Consolas"/>
                          <a:ea typeface="Consolas"/>
                          <a:cs typeface="Consolas"/>
                          <a:sym typeface="Consolas"/>
                        </a:rPr>
                        <a:t>int</a:t>
                      </a:r>
                      <a:r>
                        <a:rPr lang="en" sz="1200">
                          <a:solidFill>
                            <a:schemeClr val="dk1"/>
                          </a:solidFill>
                          <a:highlight>
                            <a:srgbClr val="FFFFFF"/>
                          </a:highlight>
                          <a:latin typeface="Consolas"/>
                          <a:ea typeface="Consolas"/>
                          <a:cs typeface="Consolas"/>
                          <a:sym typeface="Consolas"/>
                        </a:rPr>
                        <a:t> </a:t>
                      </a:r>
                      <a:r>
                        <a:rPr lang="en" sz="1200">
                          <a:solidFill>
                            <a:srgbClr val="795E26"/>
                          </a:solidFill>
                          <a:highlight>
                            <a:srgbClr val="FFFFFF"/>
                          </a:highlight>
                          <a:latin typeface="Consolas"/>
                          <a:ea typeface="Consolas"/>
                          <a:cs typeface="Consolas"/>
                          <a:sym typeface="Consolas"/>
                        </a:rPr>
                        <a:t>main</a:t>
                      </a:r>
                      <a:r>
                        <a:rPr lang="en" sz="1200">
                          <a:solidFill>
                            <a:schemeClr val="dk1"/>
                          </a:solidFill>
                          <a:highlight>
                            <a:srgbClr val="FFFFFF"/>
                          </a:highlight>
                          <a:latin typeface="Consolas"/>
                          <a:ea typeface="Consolas"/>
                          <a:cs typeface="Consolas"/>
                          <a:sym typeface="Consolas"/>
                        </a:rPr>
                        <a:t>() {</a:t>
                      </a:r>
                      <a:endParaRPr sz="1200">
                        <a:solidFill>
                          <a:schemeClr val="dk1"/>
                        </a:solidFill>
                        <a:highlight>
                          <a:srgbClr val="FFFFFF"/>
                        </a:highlight>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highlight>
                            <a:srgbClr val="FFFFFF"/>
                          </a:highlight>
                          <a:latin typeface="Consolas"/>
                          <a:ea typeface="Consolas"/>
                          <a:cs typeface="Consolas"/>
                          <a:sym typeface="Consolas"/>
                        </a:rPr>
                        <a:t>  </a:t>
                      </a:r>
                      <a:r>
                        <a:rPr lang="en" sz="1200">
                          <a:solidFill>
                            <a:srgbClr val="0000FF"/>
                          </a:solidFill>
                          <a:highlight>
                            <a:srgbClr val="FFFFFF"/>
                          </a:highlight>
                          <a:latin typeface="Consolas"/>
                          <a:ea typeface="Consolas"/>
                          <a:cs typeface="Consolas"/>
                          <a:sym typeface="Consolas"/>
                        </a:rPr>
                        <a:t>int</a:t>
                      </a:r>
                      <a:r>
                        <a:rPr lang="en" sz="1200">
                          <a:solidFill>
                            <a:schemeClr val="dk1"/>
                          </a:solidFill>
                          <a:highlight>
                            <a:srgbClr val="FFFFFF"/>
                          </a:highlight>
                          <a:latin typeface="Consolas"/>
                          <a:ea typeface="Consolas"/>
                          <a:cs typeface="Consolas"/>
                          <a:sym typeface="Consolas"/>
                        </a:rPr>
                        <a:t> </a:t>
                      </a:r>
                      <a:r>
                        <a:rPr lang="en" sz="1200">
                          <a:solidFill>
                            <a:srgbClr val="001080"/>
                          </a:solidFill>
                          <a:highlight>
                            <a:srgbClr val="FFFFFF"/>
                          </a:highlight>
                          <a:latin typeface="Consolas"/>
                          <a:ea typeface="Consolas"/>
                          <a:cs typeface="Consolas"/>
                          <a:sym typeface="Consolas"/>
                        </a:rPr>
                        <a:t>a</a:t>
                      </a:r>
                      <a:r>
                        <a:rPr lang="en" sz="1200">
                          <a:solidFill>
                            <a:schemeClr val="dk1"/>
                          </a:solidFill>
                          <a:highlight>
                            <a:srgbClr val="FFFFFF"/>
                          </a:highlight>
                          <a:latin typeface="Consolas"/>
                          <a:ea typeface="Consolas"/>
                          <a:cs typeface="Consolas"/>
                          <a:sym typeface="Consolas"/>
                        </a:rPr>
                        <a:t> = </a:t>
                      </a:r>
                      <a:r>
                        <a:rPr lang="en" sz="1200">
                          <a:solidFill>
                            <a:srgbClr val="098658"/>
                          </a:solidFill>
                          <a:highlight>
                            <a:srgbClr val="FFFFFF"/>
                          </a:highlight>
                          <a:latin typeface="Consolas"/>
                          <a:ea typeface="Consolas"/>
                          <a:cs typeface="Consolas"/>
                          <a:sym typeface="Consolas"/>
                        </a:rPr>
                        <a:t>3</a:t>
                      </a:r>
                      <a:r>
                        <a:rPr lang="en" sz="1200">
                          <a:solidFill>
                            <a:schemeClr val="dk1"/>
                          </a:solidFill>
                          <a:highlight>
                            <a:srgbClr val="FFFFFF"/>
                          </a:highlight>
                          <a:latin typeface="Consolas"/>
                          <a:ea typeface="Consolas"/>
                          <a:cs typeface="Consolas"/>
                          <a:sym typeface="Consolas"/>
                        </a:rPr>
                        <a:t>;</a:t>
                      </a:r>
                      <a:endParaRPr sz="1200">
                        <a:solidFill>
                          <a:schemeClr val="dk1"/>
                        </a:solidFill>
                        <a:highlight>
                          <a:srgbClr val="FFFFFF"/>
                        </a:highlight>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highlight>
                            <a:srgbClr val="FFFFFF"/>
                          </a:highlight>
                          <a:latin typeface="Consolas"/>
                          <a:ea typeface="Consolas"/>
                          <a:cs typeface="Consolas"/>
                          <a:sym typeface="Consolas"/>
                        </a:rPr>
                        <a:t>  </a:t>
                      </a:r>
                      <a:r>
                        <a:rPr lang="en" sz="1200">
                          <a:solidFill>
                            <a:srgbClr val="0000FF"/>
                          </a:solidFill>
                          <a:highlight>
                            <a:srgbClr val="FFFFFF"/>
                          </a:highlight>
                          <a:latin typeface="Consolas"/>
                          <a:ea typeface="Consolas"/>
                          <a:cs typeface="Consolas"/>
                          <a:sym typeface="Consolas"/>
                        </a:rPr>
                        <a:t>int</a:t>
                      </a:r>
                      <a:r>
                        <a:rPr lang="en" sz="1200">
                          <a:solidFill>
                            <a:schemeClr val="dk1"/>
                          </a:solidFill>
                          <a:highlight>
                            <a:srgbClr val="FFFFFF"/>
                          </a:highlight>
                          <a:latin typeface="Consolas"/>
                          <a:ea typeface="Consolas"/>
                          <a:cs typeface="Consolas"/>
                          <a:sym typeface="Consolas"/>
                        </a:rPr>
                        <a:t> </a:t>
                      </a:r>
                      <a:r>
                        <a:rPr lang="en" sz="1200">
                          <a:solidFill>
                            <a:srgbClr val="001080"/>
                          </a:solidFill>
                          <a:highlight>
                            <a:srgbClr val="FFFFFF"/>
                          </a:highlight>
                          <a:latin typeface="Consolas"/>
                          <a:ea typeface="Consolas"/>
                          <a:cs typeface="Consolas"/>
                          <a:sym typeface="Consolas"/>
                        </a:rPr>
                        <a:t>b</a:t>
                      </a:r>
                      <a:r>
                        <a:rPr lang="en" sz="1200">
                          <a:solidFill>
                            <a:schemeClr val="dk1"/>
                          </a:solidFill>
                          <a:highlight>
                            <a:srgbClr val="FFFFFF"/>
                          </a:highlight>
                          <a:latin typeface="Consolas"/>
                          <a:ea typeface="Consolas"/>
                          <a:cs typeface="Consolas"/>
                          <a:sym typeface="Consolas"/>
                        </a:rPr>
                        <a:t> = </a:t>
                      </a:r>
                      <a:r>
                        <a:rPr lang="en" sz="1200">
                          <a:solidFill>
                            <a:srgbClr val="098658"/>
                          </a:solidFill>
                          <a:highlight>
                            <a:srgbClr val="FFFFFF"/>
                          </a:highlight>
                          <a:latin typeface="Consolas"/>
                          <a:ea typeface="Consolas"/>
                          <a:cs typeface="Consolas"/>
                          <a:sym typeface="Consolas"/>
                        </a:rPr>
                        <a:t>4</a:t>
                      </a:r>
                      <a:r>
                        <a:rPr lang="en" sz="1200">
                          <a:solidFill>
                            <a:schemeClr val="dk1"/>
                          </a:solidFill>
                          <a:highlight>
                            <a:srgbClr val="FFFFFF"/>
                          </a:highlight>
                          <a:latin typeface="Consolas"/>
                          <a:ea typeface="Consolas"/>
                          <a:cs typeface="Consolas"/>
                          <a:sym typeface="Consolas"/>
                        </a:rPr>
                        <a:t>;</a:t>
                      </a:r>
                      <a:endParaRPr sz="1200">
                        <a:solidFill>
                          <a:schemeClr val="dk1"/>
                        </a:solidFill>
                        <a:highlight>
                          <a:srgbClr val="FFFFFF"/>
                        </a:highlight>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highlight>
                            <a:srgbClr val="FFFFFF"/>
                          </a:highlight>
                          <a:latin typeface="Consolas"/>
                          <a:ea typeface="Consolas"/>
                          <a:cs typeface="Consolas"/>
                          <a:sym typeface="Consolas"/>
                        </a:rPr>
                        <a:t>  cout &lt;&lt; </a:t>
                      </a:r>
                      <a:r>
                        <a:rPr lang="en" sz="1200">
                          <a:solidFill>
                            <a:srgbClr val="795E26"/>
                          </a:solidFill>
                          <a:highlight>
                            <a:srgbClr val="FFFFFF"/>
                          </a:highlight>
                          <a:latin typeface="Consolas"/>
                          <a:ea typeface="Consolas"/>
                          <a:cs typeface="Consolas"/>
                          <a:sym typeface="Consolas"/>
                        </a:rPr>
                        <a:t>max</a:t>
                      </a:r>
                      <a:r>
                        <a:rPr lang="en" sz="1200">
                          <a:solidFill>
                            <a:schemeClr val="dk1"/>
                          </a:solidFill>
                          <a:highlight>
                            <a:srgbClr val="FFFFFF"/>
                          </a:highlight>
                          <a:latin typeface="Consolas"/>
                          <a:ea typeface="Consolas"/>
                          <a:cs typeface="Consolas"/>
                          <a:sym typeface="Consolas"/>
                        </a:rPr>
                        <a:t>(</a:t>
                      </a:r>
                      <a:r>
                        <a:rPr lang="en" sz="1200">
                          <a:solidFill>
                            <a:srgbClr val="0000FF"/>
                          </a:solidFill>
                          <a:highlight>
                            <a:srgbClr val="FFFFFF"/>
                          </a:highlight>
                          <a:latin typeface="Consolas"/>
                          <a:ea typeface="Consolas"/>
                          <a:cs typeface="Consolas"/>
                          <a:sym typeface="Consolas"/>
                        </a:rPr>
                        <a:t>int</a:t>
                      </a:r>
                      <a:r>
                        <a:rPr lang="en" sz="1200">
                          <a:solidFill>
                            <a:schemeClr val="dk1"/>
                          </a:solidFill>
                          <a:highlight>
                            <a:srgbClr val="FFFFFF"/>
                          </a:highlight>
                          <a:latin typeface="Consolas"/>
                          <a:ea typeface="Consolas"/>
                          <a:cs typeface="Consolas"/>
                          <a:sym typeface="Consolas"/>
                        </a:rPr>
                        <a:t> a, </a:t>
                      </a:r>
                      <a:r>
                        <a:rPr lang="en" sz="1200">
                          <a:solidFill>
                            <a:srgbClr val="0000FF"/>
                          </a:solidFill>
                          <a:highlight>
                            <a:srgbClr val="FFFFFF"/>
                          </a:highlight>
                          <a:latin typeface="Consolas"/>
                          <a:ea typeface="Consolas"/>
                          <a:cs typeface="Consolas"/>
                          <a:sym typeface="Consolas"/>
                        </a:rPr>
                        <a:t>int</a:t>
                      </a:r>
                      <a:r>
                        <a:rPr lang="en" sz="1200">
                          <a:solidFill>
                            <a:schemeClr val="dk1"/>
                          </a:solidFill>
                          <a:highlight>
                            <a:srgbClr val="FFFFFF"/>
                          </a:highlight>
                          <a:latin typeface="Consolas"/>
                          <a:ea typeface="Consolas"/>
                          <a:cs typeface="Consolas"/>
                          <a:sym typeface="Consolas"/>
                        </a:rPr>
                        <a:t> b);</a:t>
                      </a:r>
                      <a:endParaRPr sz="1200">
                        <a:solidFill>
                          <a:schemeClr val="dk1"/>
                        </a:solidFill>
                        <a:highlight>
                          <a:srgbClr val="FFFFFF"/>
                        </a:highlight>
                        <a:latin typeface="Consolas"/>
                        <a:ea typeface="Consolas"/>
                        <a:cs typeface="Consolas"/>
                        <a:sym typeface="Consolas"/>
                      </a:endParaRPr>
                    </a:p>
                    <a:p>
                      <a:pPr indent="0" lvl="0" marL="0" rtl="0" algn="l">
                        <a:lnSpc>
                          <a:spcPct val="115000"/>
                        </a:lnSpc>
                        <a:spcBef>
                          <a:spcPts val="0"/>
                        </a:spcBef>
                        <a:spcAft>
                          <a:spcPts val="0"/>
                        </a:spcAft>
                        <a:buNone/>
                      </a:pPr>
                      <a:r>
                        <a:rPr lang="en" sz="1200">
                          <a:solidFill>
                            <a:schemeClr val="dk1"/>
                          </a:solidFill>
                          <a:highlight>
                            <a:srgbClr val="FFFFFF"/>
                          </a:highlight>
                          <a:latin typeface="Consolas"/>
                          <a:ea typeface="Consolas"/>
                          <a:cs typeface="Consolas"/>
                          <a:sym typeface="Consolas"/>
                        </a:rPr>
                        <a:t>}</a:t>
                      </a:r>
                      <a:endParaRPr sz="1200">
                        <a:latin typeface="Consolas"/>
                        <a:ea typeface="Consolas"/>
                        <a:cs typeface="Consolas"/>
                        <a:sym typeface="Consolas"/>
                      </a:endParaRPr>
                    </a:p>
                  </a:txBody>
                  <a:tcPr marT="91425" marB="91425" marR="91425" marL="91425">
                    <a:noFill/>
                  </a:tcPr>
                </a:tc>
              </a:tr>
              <a:tr h="1076325">
                <a:tc>
                  <a:txBody>
                    <a:bodyPr/>
                    <a:lstStyle/>
                    <a:p>
                      <a:pPr indent="0" lvl="0" marL="0" rtl="0" algn="l">
                        <a:spcBef>
                          <a:spcPts val="0"/>
                        </a:spcBef>
                        <a:spcAft>
                          <a:spcPts val="0"/>
                        </a:spcAft>
                        <a:buNone/>
                      </a:pPr>
                      <a:r>
                        <a:t/>
                      </a:r>
                      <a:endParaRPr>
                        <a:solidFill>
                          <a:srgbClr val="FF0000"/>
                        </a:solidFill>
                      </a:endParaRPr>
                    </a:p>
                  </a:txBody>
                  <a:tcPr marT="91425" marB="91425" marR="91425" marL="91425">
                    <a:noFill/>
                  </a:tcPr>
                </a:tc>
              </a:tr>
            </a:tbl>
          </a:graphicData>
        </a:graphic>
      </p:graphicFrame>
      <p:graphicFrame>
        <p:nvGraphicFramePr>
          <p:cNvPr id="70" name="Google Shape;70;p15"/>
          <p:cNvGraphicFramePr/>
          <p:nvPr/>
        </p:nvGraphicFramePr>
        <p:xfrm>
          <a:off x="3992525" y="1454925"/>
          <a:ext cx="3000000" cy="3000000"/>
        </p:xfrm>
        <a:graphic>
          <a:graphicData uri="http://schemas.openxmlformats.org/drawingml/2006/table">
            <a:tbl>
              <a:tblPr>
                <a:noFill/>
                <a:tableStyleId>{71AC3457-10E6-4857-A913-5A14E234D2E3}</a:tableStyleId>
              </a:tblPr>
              <a:tblGrid>
                <a:gridCol w="3474725"/>
              </a:tblGrid>
              <a:tr h="2374600">
                <a:tc>
                  <a:txBody>
                    <a:bodyPr/>
                    <a:lstStyle/>
                    <a:p>
                      <a:pPr indent="0" lvl="0" marL="0" rtl="0" algn="l">
                        <a:lnSpc>
                          <a:spcPct val="115000"/>
                        </a:lnSpc>
                        <a:spcBef>
                          <a:spcPts val="0"/>
                        </a:spcBef>
                        <a:spcAft>
                          <a:spcPts val="0"/>
                        </a:spcAft>
                        <a:buClr>
                          <a:schemeClr val="dk1"/>
                        </a:buClr>
                        <a:buSzPts val="1100"/>
                        <a:buFont typeface="Arial"/>
                        <a:buNone/>
                      </a:pPr>
                      <a:r>
                        <a:rPr lang="en" sz="1200">
                          <a:solidFill>
                            <a:srgbClr val="0000FF"/>
                          </a:solidFill>
                          <a:highlight>
                            <a:srgbClr val="FFFFFF"/>
                          </a:highlight>
                          <a:latin typeface="Consolas"/>
                          <a:ea typeface="Consolas"/>
                          <a:cs typeface="Consolas"/>
                          <a:sym typeface="Consolas"/>
                        </a:rPr>
                        <a:t>bool</a:t>
                      </a:r>
                      <a:r>
                        <a:rPr lang="en" sz="1200">
                          <a:solidFill>
                            <a:schemeClr val="dk1"/>
                          </a:solidFill>
                          <a:highlight>
                            <a:srgbClr val="FFFFFF"/>
                          </a:highlight>
                          <a:latin typeface="Consolas"/>
                          <a:ea typeface="Consolas"/>
                          <a:cs typeface="Consolas"/>
                          <a:sym typeface="Consolas"/>
                        </a:rPr>
                        <a:t> </a:t>
                      </a:r>
                      <a:r>
                        <a:rPr lang="en" sz="1200">
                          <a:solidFill>
                            <a:srgbClr val="795E26"/>
                          </a:solidFill>
                          <a:highlight>
                            <a:srgbClr val="FFFFFF"/>
                          </a:highlight>
                          <a:latin typeface="Consolas"/>
                          <a:ea typeface="Consolas"/>
                          <a:cs typeface="Consolas"/>
                          <a:sym typeface="Consolas"/>
                        </a:rPr>
                        <a:t>equal</a:t>
                      </a:r>
                      <a:r>
                        <a:rPr lang="en" sz="1200">
                          <a:solidFill>
                            <a:schemeClr val="dk1"/>
                          </a:solidFill>
                          <a:highlight>
                            <a:srgbClr val="FFFFFF"/>
                          </a:highlight>
                          <a:latin typeface="Consolas"/>
                          <a:ea typeface="Consolas"/>
                          <a:cs typeface="Consolas"/>
                          <a:sym typeface="Consolas"/>
                        </a:rPr>
                        <a:t>(</a:t>
                      </a:r>
                      <a:r>
                        <a:rPr lang="en" sz="1200">
                          <a:solidFill>
                            <a:srgbClr val="0000FF"/>
                          </a:solidFill>
                          <a:highlight>
                            <a:srgbClr val="FFFFFF"/>
                          </a:highlight>
                          <a:latin typeface="Consolas"/>
                          <a:ea typeface="Consolas"/>
                          <a:cs typeface="Consolas"/>
                          <a:sym typeface="Consolas"/>
                        </a:rPr>
                        <a:t>int</a:t>
                      </a:r>
                      <a:r>
                        <a:rPr lang="en" sz="1200">
                          <a:solidFill>
                            <a:schemeClr val="dk1"/>
                          </a:solidFill>
                          <a:highlight>
                            <a:srgbClr val="FFFFFF"/>
                          </a:highlight>
                          <a:latin typeface="Consolas"/>
                          <a:ea typeface="Consolas"/>
                          <a:cs typeface="Consolas"/>
                          <a:sym typeface="Consolas"/>
                        </a:rPr>
                        <a:t> </a:t>
                      </a:r>
                      <a:r>
                        <a:rPr lang="en" sz="1200">
                          <a:solidFill>
                            <a:srgbClr val="001080"/>
                          </a:solidFill>
                          <a:highlight>
                            <a:srgbClr val="FFFFFF"/>
                          </a:highlight>
                          <a:latin typeface="Consolas"/>
                          <a:ea typeface="Consolas"/>
                          <a:cs typeface="Consolas"/>
                          <a:sym typeface="Consolas"/>
                        </a:rPr>
                        <a:t>x</a:t>
                      </a:r>
                      <a:r>
                        <a:rPr lang="en" sz="1200">
                          <a:solidFill>
                            <a:schemeClr val="dk1"/>
                          </a:solidFill>
                          <a:highlight>
                            <a:srgbClr val="FFFFFF"/>
                          </a:highlight>
                          <a:latin typeface="Consolas"/>
                          <a:ea typeface="Consolas"/>
                          <a:cs typeface="Consolas"/>
                          <a:sym typeface="Consolas"/>
                        </a:rPr>
                        <a:t>, </a:t>
                      </a:r>
                      <a:r>
                        <a:rPr lang="en" sz="1200">
                          <a:solidFill>
                            <a:srgbClr val="0000FF"/>
                          </a:solidFill>
                          <a:highlight>
                            <a:srgbClr val="FFFFFF"/>
                          </a:highlight>
                          <a:latin typeface="Consolas"/>
                          <a:ea typeface="Consolas"/>
                          <a:cs typeface="Consolas"/>
                          <a:sym typeface="Consolas"/>
                        </a:rPr>
                        <a:t>int</a:t>
                      </a:r>
                      <a:r>
                        <a:rPr lang="en" sz="1200">
                          <a:solidFill>
                            <a:schemeClr val="dk1"/>
                          </a:solidFill>
                          <a:highlight>
                            <a:srgbClr val="FFFFFF"/>
                          </a:highlight>
                          <a:latin typeface="Consolas"/>
                          <a:ea typeface="Consolas"/>
                          <a:cs typeface="Consolas"/>
                          <a:sym typeface="Consolas"/>
                        </a:rPr>
                        <a:t> </a:t>
                      </a:r>
                      <a:r>
                        <a:rPr lang="en" sz="1200">
                          <a:solidFill>
                            <a:srgbClr val="001080"/>
                          </a:solidFill>
                          <a:highlight>
                            <a:srgbClr val="FFFFFF"/>
                          </a:highlight>
                          <a:latin typeface="Consolas"/>
                          <a:ea typeface="Consolas"/>
                          <a:cs typeface="Consolas"/>
                          <a:sym typeface="Consolas"/>
                        </a:rPr>
                        <a:t>y</a:t>
                      </a:r>
                      <a:r>
                        <a:rPr lang="en" sz="1200">
                          <a:solidFill>
                            <a:schemeClr val="dk1"/>
                          </a:solidFill>
                          <a:highlight>
                            <a:srgbClr val="FFFFFF"/>
                          </a:highlight>
                          <a:latin typeface="Consolas"/>
                          <a:ea typeface="Consolas"/>
                          <a:cs typeface="Consolas"/>
                          <a:sym typeface="Consolas"/>
                        </a:rPr>
                        <a:t>) {</a:t>
                      </a:r>
                      <a:endParaRPr sz="1200">
                        <a:solidFill>
                          <a:schemeClr val="dk1"/>
                        </a:solidFill>
                        <a:highlight>
                          <a:srgbClr val="FFFFFF"/>
                        </a:highlight>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highlight>
                            <a:srgbClr val="FFFFFF"/>
                          </a:highlight>
                          <a:latin typeface="Consolas"/>
                          <a:ea typeface="Consolas"/>
                          <a:cs typeface="Consolas"/>
                          <a:sym typeface="Consolas"/>
                        </a:rPr>
                        <a:t>  </a:t>
                      </a:r>
                      <a:r>
                        <a:rPr lang="en" sz="1200">
                          <a:solidFill>
                            <a:srgbClr val="AF00DB"/>
                          </a:solidFill>
                          <a:highlight>
                            <a:srgbClr val="FFFFFF"/>
                          </a:highlight>
                          <a:latin typeface="Consolas"/>
                          <a:ea typeface="Consolas"/>
                          <a:cs typeface="Consolas"/>
                          <a:sym typeface="Consolas"/>
                        </a:rPr>
                        <a:t>return</a:t>
                      </a:r>
                      <a:r>
                        <a:rPr lang="en" sz="1200">
                          <a:solidFill>
                            <a:schemeClr val="dk1"/>
                          </a:solidFill>
                          <a:highlight>
                            <a:srgbClr val="FFFFFF"/>
                          </a:highlight>
                          <a:latin typeface="Consolas"/>
                          <a:ea typeface="Consolas"/>
                          <a:cs typeface="Consolas"/>
                          <a:sym typeface="Consolas"/>
                        </a:rPr>
                        <a:t> a == b;</a:t>
                      </a:r>
                      <a:endParaRPr sz="1200">
                        <a:solidFill>
                          <a:schemeClr val="dk1"/>
                        </a:solidFill>
                        <a:highlight>
                          <a:srgbClr val="FFFFFF"/>
                        </a:highlight>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highlight>
                            <a:srgbClr val="FFFFFF"/>
                          </a:highlight>
                          <a:latin typeface="Consolas"/>
                          <a:ea typeface="Consolas"/>
                          <a:cs typeface="Consolas"/>
                          <a:sym typeface="Consolas"/>
                        </a:rPr>
                        <a:t>}</a:t>
                      </a:r>
                      <a:endParaRPr sz="1200">
                        <a:solidFill>
                          <a:schemeClr val="dk1"/>
                        </a:solidFill>
                        <a:highlight>
                          <a:srgbClr val="FFFFFF"/>
                        </a:highlight>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 sz="1200">
                          <a:solidFill>
                            <a:srgbClr val="0000FF"/>
                          </a:solidFill>
                          <a:highlight>
                            <a:srgbClr val="FFFFFF"/>
                          </a:highlight>
                          <a:latin typeface="Consolas"/>
                          <a:ea typeface="Consolas"/>
                          <a:cs typeface="Consolas"/>
                          <a:sym typeface="Consolas"/>
                        </a:rPr>
                        <a:t>int</a:t>
                      </a:r>
                      <a:r>
                        <a:rPr lang="en" sz="1200">
                          <a:solidFill>
                            <a:schemeClr val="dk1"/>
                          </a:solidFill>
                          <a:highlight>
                            <a:srgbClr val="FFFFFF"/>
                          </a:highlight>
                          <a:latin typeface="Consolas"/>
                          <a:ea typeface="Consolas"/>
                          <a:cs typeface="Consolas"/>
                          <a:sym typeface="Consolas"/>
                        </a:rPr>
                        <a:t> </a:t>
                      </a:r>
                      <a:r>
                        <a:rPr lang="en" sz="1200">
                          <a:solidFill>
                            <a:srgbClr val="795E26"/>
                          </a:solidFill>
                          <a:highlight>
                            <a:srgbClr val="FFFFFF"/>
                          </a:highlight>
                          <a:latin typeface="Consolas"/>
                          <a:ea typeface="Consolas"/>
                          <a:cs typeface="Consolas"/>
                          <a:sym typeface="Consolas"/>
                        </a:rPr>
                        <a:t>main</a:t>
                      </a:r>
                      <a:r>
                        <a:rPr lang="en" sz="1200">
                          <a:solidFill>
                            <a:schemeClr val="dk1"/>
                          </a:solidFill>
                          <a:highlight>
                            <a:srgbClr val="FFFFFF"/>
                          </a:highlight>
                          <a:latin typeface="Consolas"/>
                          <a:ea typeface="Consolas"/>
                          <a:cs typeface="Consolas"/>
                          <a:sym typeface="Consolas"/>
                        </a:rPr>
                        <a:t>() {</a:t>
                      </a:r>
                      <a:endParaRPr sz="1200">
                        <a:solidFill>
                          <a:schemeClr val="dk1"/>
                        </a:solidFill>
                        <a:highlight>
                          <a:srgbClr val="FFFFFF"/>
                        </a:highlight>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highlight>
                            <a:srgbClr val="FFFFFF"/>
                          </a:highlight>
                          <a:latin typeface="Consolas"/>
                          <a:ea typeface="Consolas"/>
                          <a:cs typeface="Consolas"/>
                          <a:sym typeface="Consolas"/>
                        </a:rPr>
                        <a:t>  </a:t>
                      </a:r>
                      <a:r>
                        <a:rPr lang="en" sz="1200">
                          <a:solidFill>
                            <a:srgbClr val="0000FF"/>
                          </a:solidFill>
                          <a:highlight>
                            <a:srgbClr val="FFFFFF"/>
                          </a:highlight>
                          <a:latin typeface="Consolas"/>
                          <a:ea typeface="Consolas"/>
                          <a:cs typeface="Consolas"/>
                          <a:sym typeface="Consolas"/>
                        </a:rPr>
                        <a:t>int</a:t>
                      </a:r>
                      <a:r>
                        <a:rPr lang="en" sz="1200">
                          <a:solidFill>
                            <a:schemeClr val="dk1"/>
                          </a:solidFill>
                          <a:highlight>
                            <a:srgbClr val="FFFFFF"/>
                          </a:highlight>
                          <a:latin typeface="Consolas"/>
                          <a:ea typeface="Consolas"/>
                          <a:cs typeface="Consolas"/>
                          <a:sym typeface="Consolas"/>
                        </a:rPr>
                        <a:t> </a:t>
                      </a:r>
                      <a:r>
                        <a:rPr lang="en" sz="1200">
                          <a:solidFill>
                            <a:srgbClr val="001080"/>
                          </a:solidFill>
                          <a:highlight>
                            <a:srgbClr val="FFFFFF"/>
                          </a:highlight>
                          <a:latin typeface="Consolas"/>
                          <a:ea typeface="Consolas"/>
                          <a:cs typeface="Consolas"/>
                          <a:sym typeface="Consolas"/>
                        </a:rPr>
                        <a:t>a</a:t>
                      </a:r>
                      <a:r>
                        <a:rPr lang="en" sz="1200">
                          <a:solidFill>
                            <a:schemeClr val="dk1"/>
                          </a:solidFill>
                          <a:highlight>
                            <a:srgbClr val="FFFFFF"/>
                          </a:highlight>
                          <a:latin typeface="Consolas"/>
                          <a:ea typeface="Consolas"/>
                          <a:cs typeface="Consolas"/>
                          <a:sym typeface="Consolas"/>
                        </a:rPr>
                        <a:t> = </a:t>
                      </a:r>
                      <a:r>
                        <a:rPr lang="en" sz="1200">
                          <a:solidFill>
                            <a:srgbClr val="098658"/>
                          </a:solidFill>
                          <a:highlight>
                            <a:srgbClr val="FFFFFF"/>
                          </a:highlight>
                          <a:latin typeface="Consolas"/>
                          <a:ea typeface="Consolas"/>
                          <a:cs typeface="Consolas"/>
                          <a:sym typeface="Consolas"/>
                        </a:rPr>
                        <a:t>5</a:t>
                      </a:r>
                      <a:r>
                        <a:rPr lang="en" sz="1200">
                          <a:solidFill>
                            <a:schemeClr val="dk1"/>
                          </a:solidFill>
                          <a:highlight>
                            <a:srgbClr val="FFFFFF"/>
                          </a:highlight>
                          <a:latin typeface="Consolas"/>
                          <a:ea typeface="Consolas"/>
                          <a:cs typeface="Consolas"/>
                          <a:sym typeface="Consolas"/>
                        </a:rPr>
                        <a:t>;</a:t>
                      </a:r>
                      <a:endParaRPr sz="1200">
                        <a:solidFill>
                          <a:schemeClr val="dk1"/>
                        </a:solidFill>
                        <a:highlight>
                          <a:srgbClr val="FFFFFF"/>
                        </a:highlight>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highlight>
                            <a:srgbClr val="FFFFFF"/>
                          </a:highlight>
                          <a:latin typeface="Consolas"/>
                          <a:ea typeface="Consolas"/>
                          <a:cs typeface="Consolas"/>
                          <a:sym typeface="Consolas"/>
                        </a:rPr>
                        <a:t>  </a:t>
                      </a:r>
                      <a:r>
                        <a:rPr lang="en" sz="1200">
                          <a:solidFill>
                            <a:srgbClr val="0000FF"/>
                          </a:solidFill>
                          <a:highlight>
                            <a:srgbClr val="FFFFFF"/>
                          </a:highlight>
                          <a:latin typeface="Consolas"/>
                          <a:ea typeface="Consolas"/>
                          <a:cs typeface="Consolas"/>
                          <a:sym typeface="Consolas"/>
                        </a:rPr>
                        <a:t>int</a:t>
                      </a:r>
                      <a:r>
                        <a:rPr lang="en" sz="1200">
                          <a:solidFill>
                            <a:schemeClr val="dk1"/>
                          </a:solidFill>
                          <a:highlight>
                            <a:srgbClr val="FFFFFF"/>
                          </a:highlight>
                          <a:latin typeface="Consolas"/>
                          <a:ea typeface="Consolas"/>
                          <a:cs typeface="Consolas"/>
                          <a:sym typeface="Consolas"/>
                        </a:rPr>
                        <a:t> </a:t>
                      </a:r>
                      <a:r>
                        <a:rPr lang="en" sz="1200">
                          <a:solidFill>
                            <a:srgbClr val="001080"/>
                          </a:solidFill>
                          <a:highlight>
                            <a:srgbClr val="FFFFFF"/>
                          </a:highlight>
                          <a:latin typeface="Consolas"/>
                          <a:ea typeface="Consolas"/>
                          <a:cs typeface="Consolas"/>
                          <a:sym typeface="Consolas"/>
                        </a:rPr>
                        <a:t>b</a:t>
                      </a:r>
                      <a:r>
                        <a:rPr lang="en" sz="1200">
                          <a:solidFill>
                            <a:schemeClr val="dk1"/>
                          </a:solidFill>
                          <a:highlight>
                            <a:srgbClr val="FFFFFF"/>
                          </a:highlight>
                          <a:latin typeface="Consolas"/>
                          <a:ea typeface="Consolas"/>
                          <a:cs typeface="Consolas"/>
                          <a:sym typeface="Consolas"/>
                        </a:rPr>
                        <a:t> = </a:t>
                      </a:r>
                      <a:r>
                        <a:rPr lang="en" sz="1200">
                          <a:solidFill>
                            <a:srgbClr val="098658"/>
                          </a:solidFill>
                          <a:highlight>
                            <a:srgbClr val="FFFFFF"/>
                          </a:highlight>
                          <a:latin typeface="Consolas"/>
                          <a:ea typeface="Consolas"/>
                          <a:cs typeface="Consolas"/>
                          <a:sym typeface="Consolas"/>
                        </a:rPr>
                        <a:t>5</a:t>
                      </a:r>
                      <a:r>
                        <a:rPr lang="en" sz="1200">
                          <a:solidFill>
                            <a:schemeClr val="dk1"/>
                          </a:solidFill>
                          <a:highlight>
                            <a:srgbClr val="FFFFFF"/>
                          </a:highlight>
                          <a:latin typeface="Consolas"/>
                          <a:ea typeface="Consolas"/>
                          <a:cs typeface="Consolas"/>
                          <a:sym typeface="Consolas"/>
                        </a:rPr>
                        <a:t>;</a:t>
                      </a:r>
                      <a:endParaRPr sz="1200">
                        <a:solidFill>
                          <a:schemeClr val="dk1"/>
                        </a:solidFill>
                        <a:highlight>
                          <a:srgbClr val="FFFFFF"/>
                        </a:highlight>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highlight>
                            <a:srgbClr val="FFFFFF"/>
                          </a:highlight>
                          <a:latin typeface="Consolas"/>
                          <a:ea typeface="Consolas"/>
                          <a:cs typeface="Consolas"/>
                          <a:sym typeface="Consolas"/>
                        </a:rPr>
                        <a:t>  </a:t>
                      </a:r>
                      <a:r>
                        <a:rPr lang="en" sz="1200">
                          <a:solidFill>
                            <a:srgbClr val="AF00DB"/>
                          </a:solidFill>
                          <a:highlight>
                            <a:srgbClr val="FFFFFF"/>
                          </a:highlight>
                          <a:latin typeface="Consolas"/>
                          <a:ea typeface="Consolas"/>
                          <a:cs typeface="Consolas"/>
                          <a:sym typeface="Consolas"/>
                        </a:rPr>
                        <a:t>if</a:t>
                      </a:r>
                      <a:r>
                        <a:rPr lang="en" sz="1200">
                          <a:solidFill>
                            <a:schemeClr val="dk1"/>
                          </a:solidFill>
                          <a:highlight>
                            <a:srgbClr val="FFFFFF"/>
                          </a:highlight>
                          <a:latin typeface="Consolas"/>
                          <a:ea typeface="Consolas"/>
                          <a:cs typeface="Consolas"/>
                          <a:sym typeface="Consolas"/>
                        </a:rPr>
                        <a:t> (</a:t>
                      </a:r>
                      <a:r>
                        <a:rPr lang="en" sz="1200">
                          <a:solidFill>
                            <a:srgbClr val="795E26"/>
                          </a:solidFill>
                          <a:highlight>
                            <a:srgbClr val="FFFFFF"/>
                          </a:highlight>
                          <a:latin typeface="Consolas"/>
                          <a:ea typeface="Consolas"/>
                          <a:cs typeface="Consolas"/>
                          <a:sym typeface="Consolas"/>
                        </a:rPr>
                        <a:t>equal</a:t>
                      </a:r>
                      <a:r>
                        <a:rPr lang="en" sz="1200">
                          <a:solidFill>
                            <a:schemeClr val="dk1"/>
                          </a:solidFill>
                          <a:highlight>
                            <a:srgbClr val="FFFFFF"/>
                          </a:highlight>
                          <a:latin typeface="Consolas"/>
                          <a:ea typeface="Consolas"/>
                          <a:cs typeface="Consolas"/>
                          <a:sym typeface="Consolas"/>
                        </a:rPr>
                        <a:t>(</a:t>
                      </a:r>
                      <a:r>
                        <a:rPr lang="en" sz="1200">
                          <a:solidFill>
                            <a:srgbClr val="001080"/>
                          </a:solidFill>
                          <a:highlight>
                            <a:srgbClr val="FFFFFF"/>
                          </a:highlight>
                          <a:latin typeface="Consolas"/>
                          <a:ea typeface="Consolas"/>
                          <a:cs typeface="Consolas"/>
                          <a:sym typeface="Consolas"/>
                        </a:rPr>
                        <a:t>a</a:t>
                      </a:r>
                      <a:r>
                        <a:rPr lang="en" sz="1200">
                          <a:solidFill>
                            <a:schemeClr val="dk1"/>
                          </a:solidFill>
                          <a:highlight>
                            <a:srgbClr val="FFFFFF"/>
                          </a:highlight>
                          <a:latin typeface="Consolas"/>
                          <a:ea typeface="Consolas"/>
                          <a:cs typeface="Consolas"/>
                          <a:sym typeface="Consolas"/>
                        </a:rPr>
                        <a:t>, </a:t>
                      </a:r>
                      <a:r>
                        <a:rPr lang="en" sz="1200">
                          <a:solidFill>
                            <a:srgbClr val="001080"/>
                          </a:solidFill>
                          <a:highlight>
                            <a:srgbClr val="FFFFFF"/>
                          </a:highlight>
                          <a:latin typeface="Consolas"/>
                          <a:ea typeface="Consolas"/>
                          <a:cs typeface="Consolas"/>
                          <a:sym typeface="Consolas"/>
                        </a:rPr>
                        <a:t>b</a:t>
                      </a:r>
                      <a:r>
                        <a:rPr lang="en" sz="1200">
                          <a:solidFill>
                            <a:schemeClr val="dk1"/>
                          </a:solidFill>
                          <a:highlight>
                            <a:srgbClr val="FFFFFF"/>
                          </a:highlight>
                          <a:latin typeface="Consolas"/>
                          <a:ea typeface="Consolas"/>
                          <a:cs typeface="Consolas"/>
                          <a:sym typeface="Consolas"/>
                        </a:rPr>
                        <a:t>)) {</a:t>
                      </a:r>
                      <a:endParaRPr sz="1200">
                        <a:solidFill>
                          <a:schemeClr val="dk1"/>
                        </a:solidFill>
                        <a:highlight>
                          <a:srgbClr val="FFFFFF"/>
                        </a:highlight>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highlight>
                            <a:srgbClr val="FFFFFF"/>
                          </a:highlight>
                          <a:latin typeface="Consolas"/>
                          <a:ea typeface="Consolas"/>
                          <a:cs typeface="Consolas"/>
                          <a:sym typeface="Consolas"/>
                        </a:rPr>
                        <a:t>    cout &lt;&lt; </a:t>
                      </a:r>
                      <a:r>
                        <a:rPr lang="en" sz="1200">
                          <a:solidFill>
                            <a:srgbClr val="A31515"/>
                          </a:solidFill>
                          <a:highlight>
                            <a:srgbClr val="FFFFFF"/>
                          </a:highlight>
                          <a:latin typeface="Consolas"/>
                          <a:ea typeface="Consolas"/>
                          <a:cs typeface="Consolas"/>
                          <a:sym typeface="Consolas"/>
                        </a:rPr>
                        <a:t>"they're equal!"</a:t>
                      </a:r>
                      <a:r>
                        <a:rPr lang="en" sz="1200">
                          <a:solidFill>
                            <a:schemeClr val="dk1"/>
                          </a:solidFill>
                          <a:highlight>
                            <a:srgbClr val="FFFFFF"/>
                          </a:highlight>
                          <a:latin typeface="Consolas"/>
                          <a:ea typeface="Consolas"/>
                          <a:cs typeface="Consolas"/>
                          <a:sym typeface="Consolas"/>
                        </a:rPr>
                        <a:t>;</a:t>
                      </a:r>
                      <a:endParaRPr sz="1200">
                        <a:solidFill>
                          <a:schemeClr val="dk1"/>
                        </a:solidFill>
                        <a:highlight>
                          <a:srgbClr val="FFFFFF"/>
                        </a:highlight>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highlight>
                            <a:srgbClr val="FFFFFF"/>
                          </a:highlight>
                          <a:latin typeface="Consolas"/>
                          <a:ea typeface="Consolas"/>
                          <a:cs typeface="Consolas"/>
                          <a:sym typeface="Consolas"/>
                        </a:rPr>
                        <a:t>  }</a:t>
                      </a:r>
                      <a:endParaRPr sz="1200">
                        <a:solidFill>
                          <a:schemeClr val="dk1"/>
                        </a:solidFill>
                        <a:highlight>
                          <a:srgbClr val="FFFFFF"/>
                        </a:highlight>
                        <a:latin typeface="Consolas"/>
                        <a:ea typeface="Consolas"/>
                        <a:cs typeface="Consolas"/>
                        <a:sym typeface="Consolas"/>
                      </a:endParaRPr>
                    </a:p>
                    <a:p>
                      <a:pPr indent="0" lvl="0" marL="0" rtl="0" algn="l">
                        <a:lnSpc>
                          <a:spcPct val="115000"/>
                        </a:lnSpc>
                        <a:spcBef>
                          <a:spcPts val="0"/>
                        </a:spcBef>
                        <a:spcAft>
                          <a:spcPts val="0"/>
                        </a:spcAft>
                        <a:buNone/>
                      </a:pPr>
                      <a:r>
                        <a:rPr lang="en" sz="1200">
                          <a:solidFill>
                            <a:schemeClr val="dk1"/>
                          </a:solidFill>
                          <a:highlight>
                            <a:srgbClr val="FFFFFF"/>
                          </a:highlight>
                          <a:latin typeface="Consolas"/>
                          <a:ea typeface="Consolas"/>
                          <a:cs typeface="Consolas"/>
                          <a:sym typeface="Consolas"/>
                        </a:rPr>
                        <a:t>}</a:t>
                      </a:r>
                      <a:endParaRPr sz="1200">
                        <a:latin typeface="Consolas"/>
                        <a:ea typeface="Consolas"/>
                        <a:cs typeface="Consolas"/>
                        <a:sym typeface="Consolas"/>
                      </a:endParaRPr>
                    </a:p>
                  </a:txBody>
                  <a:tcPr marT="91425" marB="91425" marR="91425" marL="91425">
                    <a:noFill/>
                  </a:tcPr>
                </a:tc>
              </a:tr>
              <a:tr h="1076325">
                <a:tc>
                  <a:txBody>
                    <a:bodyPr/>
                    <a:lstStyle/>
                    <a:p>
                      <a:pPr indent="0" lvl="0" marL="0" rtl="0" algn="l">
                        <a:spcBef>
                          <a:spcPts val="0"/>
                        </a:spcBef>
                        <a:spcAft>
                          <a:spcPts val="0"/>
                        </a:spcAft>
                        <a:buNone/>
                      </a:pPr>
                      <a:r>
                        <a:t/>
                      </a:r>
                      <a:endParaRPr>
                        <a:solidFill>
                          <a:srgbClr val="FF0000"/>
                        </a:solidFill>
                      </a:endParaRPr>
                    </a:p>
                  </a:txBody>
                  <a:tcPr marT="91425" marB="91425" marR="91425" marL="91425">
                    <a:noFill/>
                  </a:tcPr>
                </a:tc>
              </a:tr>
            </a:tbl>
          </a:graphicData>
        </a:graphic>
      </p:graphicFrame>
      <p:graphicFrame>
        <p:nvGraphicFramePr>
          <p:cNvPr id="71" name="Google Shape;71;p15"/>
          <p:cNvGraphicFramePr/>
          <p:nvPr/>
        </p:nvGraphicFramePr>
        <p:xfrm>
          <a:off x="279575" y="4958325"/>
          <a:ext cx="3000000" cy="3000000"/>
        </p:xfrm>
        <a:graphic>
          <a:graphicData uri="http://schemas.openxmlformats.org/drawingml/2006/table">
            <a:tbl>
              <a:tblPr>
                <a:noFill/>
                <a:tableStyleId>{71AC3457-10E6-4857-A913-5A14E234D2E3}</a:tableStyleId>
              </a:tblPr>
              <a:tblGrid>
                <a:gridCol w="3474725"/>
              </a:tblGrid>
              <a:tr h="2309975">
                <a:tc>
                  <a:txBody>
                    <a:bodyPr/>
                    <a:lstStyle/>
                    <a:p>
                      <a:pPr indent="0" lvl="0" marL="0" rtl="0" algn="l">
                        <a:lnSpc>
                          <a:spcPct val="115000"/>
                        </a:lnSpc>
                        <a:spcBef>
                          <a:spcPts val="0"/>
                        </a:spcBef>
                        <a:spcAft>
                          <a:spcPts val="0"/>
                        </a:spcAft>
                        <a:buClr>
                          <a:schemeClr val="dk1"/>
                        </a:buClr>
                        <a:buSzPts val="1100"/>
                        <a:buFont typeface="Arial"/>
                        <a:buNone/>
                      </a:pPr>
                      <a:r>
                        <a:rPr lang="en" sz="1200">
                          <a:solidFill>
                            <a:srgbClr val="0000FF"/>
                          </a:solidFill>
                          <a:highlight>
                            <a:srgbClr val="FFFFFF"/>
                          </a:highlight>
                          <a:latin typeface="Consolas"/>
                          <a:ea typeface="Consolas"/>
                          <a:cs typeface="Consolas"/>
                          <a:sym typeface="Consolas"/>
                        </a:rPr>
                        <a:t>int</a:t>
                      </a:r>
                      <a:r>
                        <a:rPr lang="en" sz="1200">
                          <a:solidFill>
                            <a:schemeClr val="dk1"/>
                          </a:solidFill>
                          <a:highlight>
                            <a:srgbClr val="FFFFFF"/>
                          </a:highlight>
                          <a:latin typeface="Consolas"/>
                          <a:ea typeface="Consolas"/>
                          <a:cs typeface="Consolas"/>
                          <a:sym typeface="Consolas"/>
                        </a:rPr>
                        <a:t> </a:t>
                      </a:r>
                      <a:r>
                        <a:rPr lang="en" sz="1200">
                          <a:solidFill>
                            <a:srgbClr val="795E26"/>
                          </a:solidFill>
                          <a:highlight>
                            <a:srgbClr val="FFFFFF"/>
                          </a:highlight>
                          <a:latin typeface="Consolas"/>
                          <a:ea typeface="Consolas"/>
                          <a:cs typeface="Consolas"/>
                          <a:sym typeface="Consolas"/>
                        </a:rPr>
                        <a:t>plus_one</a:t>
                      </a:r>
                      <a:r>
                        <a:rPr lang="en" sz="1200">
                          <a:solidFill>
                            <a:schemeClr val="dk1"/>
                          </a:solidFill>
                          <a:highlight>
                            <a:srgbClr val="FFFFFF"/>
                          </a:highlight>
                          <a:latin typeface="Consolas"/>
                          <a:ea typeface="Consolas"/>
                          <a:cs typeface="Consolas"/>
                          <a:sym typeface="Consolas"/>
                        </a:rPr>
                        <a:t>(</a:t>
                      </a:r>
                      <a:r>
                        <a:rPr lang="en" sz="1200">
                          <a:solidFill>
                            <a:srgbClr val="0000FF"/>
                          </a:solidFill>
                          <a:highlight>
                            <a:srgbClr val="FFFFFF"/>
                          </a:highlight>
                          <a:latin typeface="Consolas"/>
                          <a:ea typeface="Consolas"/>
                          <a:cs typeface="Consolas"/>
                          <a:sym typeface="Consolas"/>
                        </a:rPr>
                        <a:t>int</a:t>
                      </a:r>
                      <a:r>
                        <a:rPr lang="en" sz="1200">
                          <a:solidFill>
                            <a:schemeClr val="dk1"/>
                          </a:solidFill>
                          <a:highlight>
                            <a:srgbClr val="FFFFFF"/>
                          </a:highlight>
                          <a:latin typeface="Consolas"/>
                          <a:ea typeface="Consolas"/>
                          <a:cs typeface="Consolas"/>
                          <a:sym typeface="Consolas"/>
                        </a:rPr>
                        <a:t> </a:t>
                      </a:r>
                      <a:r>
                        <a:rPr lang="en" sz="1200">
                          <a:solidFill>
                            <a:srgbClr val="001080"/>
                          </a:solidFill>
                          <a:highlight>
                            <a:srgbClr val="FFFFFF"/>
                          </a:highlight>
                          <a:latin typeface="Consolas"/>
                          <a:ea typeface="Consolas"/>
                          <a:cs typeface="Consolas"/>
                          <a:sym typeface="Consolas"/>
                        </a:rPr>
                        <a:t>x</a:t>
                      </a:r>
                      <a:r>
                        <a:rPr lang="en" sz="1200">
                          <a:solidFill>
                            <a:schemeClr val="dk1"/>
                          </a:solidFill>
                          <a:highlight>
                            <a:srgbClr val="FFFFFF"/>
                          </a:highlight>
                          <a:latin typeface="Consolas"/>
                          <a:ea typeface="Consolas"/>
                          <a:cs typeface="Consolas"/>
                          <a:sym typeface="Consolas"/>
                        </a:rPr>
                        <a:t>) {</a:t>
                      </a:r>
                      <a:endParaRPr sz="1200">
                        <a:solidFill>
                          <a:schemeClr val="dk1"/>
                        </a:solidFill>
                        <a:highlight>
                          <a:srgbClr val="FFFFFF"/>
                        </a:highlight>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highlight>
                            <a:srgbClr val="FFFFFF"/>
                          </a:highlight>
                          <a:latin typeface="Consolas"/>
                          <a:ea typeface="Consolas"/>
                          <a:cs typeface="Consolas"/>
                          <a:sym typeface="Consolas"/>
                        </a:rPr>
                        <a:t>  </a:t>
                      </a:r>
                      <a:r>
                        <a:rPr lang="en" sz="1200">
                          <a:solidFill>
                            <a:srgbClr val="001080"/>
                          </a:solidFill>
                          <a:highlight>
                            <a:srgbClr val="FFFFFF"/>
                          </a:highlight>
                          <a:latin typeface="Consolas"/>
                          <a:ea typeface="Consolas"/>
                          <a:cs typeface="Consolas"/>
                          <a:sym typeface="Consolas"/>
                        </a:rPr>
                        <a:t>x</a:t>
                      </a:r>
                      <a:r>
                        <a:rPr lang="en" sz="1200">
                          <a:solidFill>
                            <a:schemeClr val="dk1"/>
                          </a:solidFill>
                          <a:highlight>
                            <a:srgbClr val="FFFFFF"/>
                          </a:highlight>
                          <a:latin typeface="Consolas"/>
                          <a:ea typeface="Consolas"/>
                          <a:cs typeface="Consolas"/>
                          <a:sym typeface="Consolas"/>
                        </a:rPr>
                        <a:t> = </a:t>
                      </a:r>
                      <a:r>
                        <a:rPr lang="en" sz="1200">
                          <a:solidFill>
                            <a:srgbClr val="001080"/>
                          </a:solidFill>
                          <a:highlight>
                            <a:srgbClr val="FFFFFF"/>
                          </a:highlight>
                          <a:latin typeface="Consolas"/>
                          <a:ea typeface="Consolas"/>
                          <a:cs typeface="Consolas"/>
                          <a:sym typeface="Consolas"/>
                        </a:rPr>
                        <a:t>x</a:t>
                      </a:r>
                      <a:r>
                        <a:rPr lang="en" sz="1200">
                          <a:solidFill>
                            <a:schemeClr val="dk1"/>
                          </a:solidFill>
                          <a:highlight>
                            <a:srgbClr val="FFFFFF"/>
                          </a:highlight>
                          <a:latin typeface="Consolas"/>
                          <a:ea typeface="Consolas"/>
                          <a:cs typeface="Consolas"/>
                          <a:sym typeface="Consolas"/>
                        </a:rPr>
                        <a:t> + </a:t>
                      </a:r>
                      <a:r>
                        <a:rPr lang="en" sz="1200">
                          <a:solidFill>
                            <a:srgbClr val="098658"/>
                          </a:solidFill>
                          <a:highlight>
                            <a:srgbClr val="FFFFFF"/>
                          </a:highlight>
                          <a:latin typeface="Consolas"/>
                          <a:ea typeface="Consolas"/>
                          <a:cs typeface="Consolas"/>
                          <a:sym typeface="Consolas"/>
                        </a:rPr>
                        <a:t>1</a:t>
                      </a:r>
                      <a:r>
                        <a:rPr lang="en" sz="1200">
                          <a:solidFill>
                            <a:schemeClr val="dk1"/>
                          </a:solidFill>
                          <a:highlight>
                            <a:srgbClr val="FFFFFF"/>
                          </a:highlight>
                          <a:latin typeface="Consolas"/>
                          <a:ea typeface="Consolas"/>
                          <a:cs typeface="Consolas"/>
                          <a:sym typeface="Consolas"/>
                        </a:rPr>
                        <a:t>;</a:t>
                      </a:r>
                      <a:endParaRPr sz="1200">
                        <a:solidFill>
                          <a:schemeClr val="dk1"/>
                        </a:solidFill>
                        <a:highlight>
                          <a:srgbClr val="FFFFFF"/>
                        </a:highlight>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highlight>
                            <a:srgbClr val="FFFFFF"/>
                          </a:highlight>
                          <a:latin typeface="Consolas"/>
                          <a:ea typeface="Consolas"/>
                          <a:cs typeface="Consolas"/>
                          <a:sym typeface="Consolas"/>
                        </a:rPr>
                        <a:t>  </a:t>
                      </a:r>
                      <a:r>
                        <a:rPr lang="en" sz="1200">
                          <a:solidFill>
                            <a:srgbClr val="AF00DB"/>
                          </a:solidFill>
                          <a:highlight>
                            <a:srgbClr val="FFFFFF"/>
                          </a:highlight>
                          <a:latin typeface="Consolas"/>
                          <a:ea typeface="Consolas"/>
                          <a:cs typeface="Consolas"/>
                          <a:sym typeface="Consolas"/>
                        </a:rPr>
                        <a:t>return</a:t>
                      </a:r>
                      <a:r>
                        <a:rPr lang="en" sz="1200">
                          <a:solidFill>
                            <a:schemeClr val="dk1"/>
                          </a:solidFill>
                          <a:highlight>
                            <a:srgbClr val="FFFFFF"/>
                          </a:highlight>
                          <a:latin typeface="Consolas"/>
                          <a:ea typeface="Consolas"/>
                          <a:cs typeface="Consolas"/>
                          <a:sym typeface="Consolas"/>
                        </a:rPr>
                        <a:t> </a:t>
                      </a:r>
                      <a:r>
                        <a:rPr lang="en" sz="1200">
                          <a:solidFill>
                            <a:srgbClr val="001080"/>
                          </a:solidFill>
                          <a:highlight>
                            <a:srgbClr val="FFFFFF"/>
                          </a:highlight>
                          <a:latin typeface="Consolas"/>
                          <a:ea typeface="Consolas"/>
                          <a:cs typeface="Consolas"/>
                          <a:sym typeface="Consolas"/>
                        </a:rPr>
                        <a:t>x</a:t>
                      </a:r>
                      <a:r>
                        <a:rPr lang="en" sz="1200">
                          <a:solidFill>
                            <a:schemeClr val="dk1"/>
                          </a:solidFill>
                          <a:highlight>
                            <a:srgbClr val="FFFFFF"/>
                          </a:highlight>
                          <a:latin typeface="Consolas"/>
                          <a:ea typeface="Consolas"/>
                          <a:cs typeface="Consolas"/>
                          <a:sym typeface="Consolas"/>
                        </a:rPr>
                        <a:t>;</a:t>
                      </a:r>
                      <a:endParaRPr sz="1200">
                        <a:solidFill>
                          <a:schemeClr val="dk1"/>
                        </a:solidFill>
                        <a:highlight>
                          <a:srgbClr val="FFFFFF"/>
                        </a:highlight>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highlight>
                            <a:srgbClr val="FFFFFF"/>
                          </a:highlight>
                          <a:latin typeface="Consolas"/>
                          <a:ea typeface="Consolas"/>
                          <a:cs typeface="Consolas"/>
                          <a:sym typeface="Consolas"/>
                        </a:rPr>
                        <a:t>}</a:t>
                      </a:r>
                      <a:endParaRPr sz="1200">
                        <a:solidFill>
                          <a:schemeClr val="dk1"/>
                        </a:solidFill>
                        <a:highlight>
                          <a:srgbClr val="FFFFFF"/>
                        </a:highlight>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 sz="1200">
                          <a:solidFill>
                            <a:srgbClr val="0000FF"/>
                          </a:solidFill>
                          <a:highlight>
                            <a:srgbClr val="FFFFFF"/>
                          </a:highlight>
                          <a:latin typeface="Consolas"/>
                          <a:ea typeface="Consolas"/>
                          <a:cs typeface="Consolas"/>
                          <a:sym typeface="Consolas"/>
                        </a:rPr>
                        <a:t>int</a:t>
                      </a:r>
                      <a:r>
                        <a:rPr lang="en" sz="1200">
                          <a:solidFill>
                            <a:schemeClr val="dk1"/>
                          </a:solidFill>
                          <a:highlight>
                            <a:srgbClr val="FFFFFF"/>
                          </a:highlight>
                          <a:latin typeface="Consolas"/>
                          <a:ea typeface="Consolas"/>
                          <a:cs typeface="Consolas"/>
                          <a:sym typeface="Consolas"/>
                        </a:rPr>
                        <a:t> </a:t>
                      </a:r>
                      <a:r>
                        <a:rPr lang="en" sz="1200">
                          <a:solidFill>
                            <a:srgbClr val="795E26"/>
                          </a:solidFill>
                          <a:highlight>
                            <a:srgbClr val="FFFFFF"/>
                          </a:highlight>
                          <a:latin typeface="Consolas"/>
                          <a:ea typeface="Consolas"/>
                          <a:cs typeface="Consolas"/>
                          <a:sym typeface="Consolas"/>
                        </a:rPr>
                        <a:t>main</a:t>
                      </a:r>
                      <a:r>
                        <a:rPr lang="en" sz="1200">
                          <a:solidFill>
                            <a:schemeClr val="dk1"/>
                          </a:solidFill>
                          <a:highlight>
                            <a:srgbClr val="FFFFFF"/>
                          </a:highlight>
                          <a:latin typeface="Consolas"/>
                          <a:ea typeface="Consolas"/>
                          <a:cs typeface="Consolas"/>
                          <a:sym typeface="Consolas"/>
                        </a:rPr>
                        <a:t>() {</a:t>
                      </a:r>
                      <a:endParaRPr sz="1200">
                        <a:solidFill>
                          <a:schemeClr val="dk1"/>
                        </a:solidFill>
                        <a:highlight>
                          <a:srgbClr val="FFFFFF"/>
                        </a:highlight>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highlight>
                            <a:srgbClr val="FFFFFF"/>
                          </a:highlight>
                          <a:latin typeface="Consolas"/>
                          <a:ea typeface="Consolas"/>
                          <a:cs typeface="Consolas"/>
                          <a:sym typeface="Consolas"/>
                        </a:rPr>
                        <a:t>  </a:t>
                      </a:r>
                      <a:r>
                        <a:rPr lang="en" sz="1200">
                          <a:solidFill>
                            <a:srgbClr val="0000FF"/>
                          </a:solidFill>
                          <a:highlight>
                            <a:srgbClr val="FFFFFF"/>
                          </a:highlight>
                          <a:latin typeface="Consolas"/>
                          <a:ea typeface="Consolas"/>
                          <a:cs typeface="Consolas"/>
                          <a:sym typeface="Consolas"/>
                        </a:rPr>
                        <a:t>int</a:t>
                      </a:r>
                      <a:r>
                        <a:rPr lang="en" sz="1200">
                          <a:solidFill>
                            <a:schemeClr val="dk1"/>
                          </a:solidFill>
                          <a:highlight>
                            <a:srgbClr val="FFFFFF"/>
                          </a:highlight>
                          <a:latin typeface="Consolas"/>
                          <a:ea typeface="Consolas"/>
                          <a:cs typeface="Consolas"/>
                          <a:sym typeface="Consolas"/>
                        </a:rPr>
                        <a:t> </a:t>
                      </a:r>
                      <a:r>
                        <a:rPr lang="en" sz="1200">
                          <a:solidFill>
                            <a:srgbClr val="001080"/>
                          </a:solidFill>
                          <a:highlight>
                            <a:srgbClr val="FFFFFF"/>
                          </a:highlight>
                          <a:latin typeface="Consolas"/>
                          <a:ea typeface="Consolas"/>
                          <a:cs typeface="Consolas"/>
                          <a:sym typeface="Consolas"/>
                        </a:rPr>
                        <a:t>a</a:t>
                      </a:r>
                      <a:r>
                        <a:rPr lang="en" sz="1200">
                          <a:solidFill>
                            <a:schemeClr val="dk1"/>
                          </a:solidFill>
                          <a:highlight>
                            <a:srgbClr val="FFFFFF"/>
                          </a:highlight>
                          <a:latin typeface="Consolas"/>
                          <a:ea typeface="Consolas"/>
                          <a:cs typeface="Consolas"/>
                          <a:sym typeface="Consolas"/>
                        </a:rPr>
                        <a:t> = </a:t>
                      </a:r>
                      <a:r>
                        <a:rPr lang="en" sz="1200">
                          <a:solidFill>
                            <a:srgbClr val="098658"/>
                          </a:solidFill>
                          <a:highlight>
                            <a:srgbClr val="FFFFFF"/>
                          </a:highlight>
                          <a:latin typeface="Consolas"/>
                          <a:ea typeface="Consolas"/>
                          <a:cs typeface="Consolas"/>
                          <a:sym typeface="Consolas"/>
                        </a:rPr>
                        <a:t>3</a:t>
                      </a:r>
                      <a:r>
                        <a:rPr lang="en" sz="1200">
                          <a:solidFill>
                            <a:schemeClr val="dk1"/>
                          </a:solidFill>
                          <a:highlight>
                            <a:srgbClr val="FFFFFF"/>
                          </a:highlight>
                          <a:latin typeface="Consolas"/>
                          <a:ea typeface="Consolas"/>
                          <a:cs typeface="Consolas"/>
                          <a:sym typeface="Consolas"/>
                        </a:rPr>
                        <a:t>;</a:t>
                      </a:r>
                      <a:endParaRPr sz="1200">
                        <a:solidFill>
                          <a:schemeClr val="dk1"/>
                        </a:solidFill>
                        <a:highlight>
                          <a:srgbClr val="FFFFFF"/>
                        </a:highlight>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highlight>
                            <a:srgbClr val="FFFFFF"/>
                          </a:highlight>
                          <a:latin typeface="Consolas"/>
                          <a:ea typeface="Consolas"/>
                          <a:cs typeface="Consolas"/>
                          <a:sym typeface="Consolas"/>
                        </a:rPr>
                        <a:t>  </a:t>
                      </a:r>
                      <a:r>
                        <a:rPr lang="en" sz="1200">
                          <a:solidFill>
                            <a:srgbClr val="795E26"/>
                          </a:solidFill>
                          <a:highlight>
                            <a:srgbClr val="FFFFFF"/>
                          </a:highlight>
                          <a:latin typeface="Consolas"/>
                          <a:ea typeface="Consolas"/>
                          <a:cs typeface="Consolas"/>
                          <a:sym typeface="Consolas"/>
                        </a:rPr>
                        <a:t>plus_one</a:t>
                      </a:r>
                      <a:r>
                        <a:rPr lang="en" sz="1200">
                          <a:solidFill>
                            <a:schemeClr val="dk1"/>
                          </a:solidFill>
                          <a:highlight>
                            <a:srgbClr val="FFFFFF"/>
                          </a:highlight>
                          <a:latin typeface="Consolas"/>
                          <a:ea typeface="Consolas"/>
                          <a:cs typeface="Consolas"/>
                          <a:sym typeface="Consolas"/>
                        </a:rPr>
                        <a:t>(</a:t>
                      </a:r>
                      <a:r>
                        <a:rPr lang="en" sz="1200">
                          <a:solidFill>
                            <a:srgbClr val="001080"/>
                          </a:solidFill>
                          <a:highlight>
                            <a:srgbClr val="FFFFFF"/>
                          </a:highlight>
                          <a:latin typeface="Consolas"/>
                          <a:ea typeface="Consolas"/>
                          <a:cs typeface="Consolas"/>
                          <a:sym typeface="Consolas"/>
                        </a:rPr>
                        <a:t>a</a:t>
                      </a:r>
                      <a:r>
                        <a:rPr lang="en" sz="1200">
                          <a:solidFill>
                            <a:schemeClr val="dk1"/>
                          </a:solidFill>
                          <a:highlight>
                            <a:srgbClr val="FFFFFF"/>
                          </a:highlight>
                          <a:latin typeface="Consolas"/>
                          <a:ea typeface="Consolas"/>
                          <a:cs typeface="Consolas"/>
                          <a:sym typeface="Consolas"/>
                        </a:rPr>
                        <a:t>);</a:t>
                      </a:r>
                      <a:endParaRPr sz="1200">
                        <a:solidFill>
                          <a:schemeClr val="dk1"/>
                        </a:solidFill>
                        <a:highlight>
                          <a:srgbClr val="FFFFFF"/>
                        </a:highlight>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highlight>
                            <a:srgbClr val="FFFFFF"/>
                          </a:highlight>
                          <a:latin typeface="Consolas"/>
                          <a:ea typeface="Consolas"/>
                          <a:cs typeface="Consolas"/>
                          <a:sym typeface="Consolas"/>
                        </a:rPr>
                        <a:t>  </a:t>
                      </a:r>
                      <a:r>
                        <a:rPr lang="en" sz="1200">
                          <a:solidFill>
                            <a:srgbClr val="795E26"/>
                          </a:solidFill>
                          <a:highlight>
                            <a:srgbClr val="FFFFFF"/>
                          </a:highlight>
                          <a:latin typeface="Consolas"/>
                          <a:ea typeface="Consolas"/>
                          <a:cs typeface="Consolas"/>
                          <a:sym typeface="Consolas"/>
                        </a:rPr>
                        <a:t>plus_one</a:t>
                      </a:r>
                      <a:r>
                        <a:rPr lang="en" sz="1200">
                          <a:solidFill>
                            <a:schemeClr val="dk1"/>
                          </a:solidFill>
                          <a:highlight>
                            <a:srgbClr val="FFFFFF"/>
                          </a:highlight>
                          <a:latin typeface="Consolas"/>
                          <a:ea typeface="Consolas"/>
                          <a:cs typeface="Consolas"/>
                          <a:sym typeface="Consolas"/>
                        </a:rPr>
                        <a:t>(</a:t>
                      </a:r>
                      <a:r>
                        <a:rPr lang="en" sz="1200">
                          <a:solidFill>
                            <a:srgbClr val="001080"/>
                          </a:solidFill>
                          <a:highlight>
                            <a:srgbClr val="FFFFFF"/>
                          </a:highlight>
                          <a:latin typeface="Consolas"/>
                          <a:ea typeface="Consolas"/>
                          <a:cs typeface="Consolas"/>
                          <a:sym typeface="Consolas"/>
                        </a:rPr>
                        <a:t>a</a:t>
                      </a:r>
                      <a:r>
                        <a:rPr lang="en" sz="1200">
                          <a:solidFill>
                            <a:schemeClr val="dk1"/>
                          </a:solidFill>
                          <a:highlight>
                            <a:srgbClr val="FFFFFF"/>
                          </a:highlight>
                          <a:latin typeface="Consolas"/>
                          <a:ea typeface="Consolas"/>
                          <a:cs typeface="Consolas"/>
                          <a:sym typeface="Consolas"/>
                        </a:rPr>
                        <a:t>);</a:t>
                      </a:r>
                      <a:endParaRPr sz="1200">
                        <a:solidFill>
                          <a:schemeClr val="dk1"/>
                        </a:solidFill>
                        <a:highlight>
                          <a:srgbClr val="FFFFFF"/>
                        </a:highlight>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highlight>
                            <a:srgbClr val="FFFFFF"/>
                          </a:highlight>
                          <a:latin typeface="Consolas"/>
                          <a:ea typeface="Consolas"/>
                          <a:cs typeface="Consolas"/>
                          <a:sym typeface="Consolas"/>
                        </a:rPr>
                        <a:t>  cout &lt;&lt; </a:t>
                      </a:r>
                      <a:r>
                        <a:rPr lang="en" sz="1200">
                          <a:solidFill>
                            <a:srgbClr val="001080"/>
                          </a:solidFill>
                          <a:highlight>
                            <a:srgbClr val="FFFFFF"/>
                          </a:highlight>
                          <a:latin typeface="Consolas"/>
                          <a:ea typeface="Consolas"/>
                          <a:cs typeface="Consolas"/>
                          <a:sym typeface="Consolas"/>
                        </a:rPr>
                        <a:t>a</a:t>
                      </a:r>
                      <a:r>
                        <a:rPr lang="en" sz="1200">
                          <a:solidFill>
                            <a:schemeClr val="dk1"/>
                          </a:solidFill>
                          <a:highlight>
                            <a:srgbClr val="FFFFFF"/>
                          </a:highlight>
                          <a:latin typeface="Consolas"/>
                          <a:ea typeface="Consolas"/>
                          <a:cs typeface="Consolas"/>
                          <a:sym typeface="Consolas"/>
                        </a:rPr>
                        <a:t> &lt;&lt; endl;</a:t>
                      </a:r>
                      <a:endParaRPr sz="1200">
                        <a:solidFill>
                          <a:schemeClr val="dk1"/>
                        </a:solidFill>
                        <a:highlight>
                          <a:srgbClr val="FFFFFF"/>
                        </a:highlight>
                        <a:latin typeface="Consolas"/>
                        <a:ea typeface="Consolas"/>
                        <a:cs typeface="Consolas"/>
                        <a:sym typeface="Consolas"/>
                      </a:endParaRPr>
                    </a:p>
                    <a:p>
                      <a:pPr indent="0" lvl="0" marL="0" rtl="0" algn="l">
                        <a:lnSpc>
                          <a:spcPct val="115000"/>
                        </a:lnSpc>
                        <a:spcBef>
                          <a:spcPts val="0"/>
                        </a:spcBef>
                        <a:spcAft>
                          <a:spcPts val="0"/>
                        </a:spcAft>
                        <a:buNone/>
                      </a:pPr>
                      <a:r>
                        <a:rPr lang="en" sz="1200">
                          <a:solidFill>
                            <a:schemeClr val="dk1"/>
                          </a:solidFill>
                          <a:highlight>
                            <a:srgbClr val="FFFFFF"/>
                          </a:highlight>
                          <a:latin typeface="Consolas"/>
                          <a:ea typeface="Consolas"/>
                          <a:cs typeface="Consolas"/>
                          <a:sym typeface="Consolas"/>
                        </a:rPr>
                        <a:t>}</a:t>
                      </a:r>
                      <a:endParaRPr sz="1200">
                        <a:latin typeface="Consolas"/>
                        <a:ea typeface="Consolas"/>
                        <a:cs typeface="Consolas"/>
                        <a:sym typeface="Consolas"/>
                      </a:endParaRPr>
                    </a:p>
                  </a:txBody>
                  <a:tcPr marT="91425" marB="91425" marR="91425" marL="91425">
                    <a:noFill/>
                  </a:tcPr>
                </a:tc>
              </a:tr>
              <a:tr h="1047025">
                <a:tc>
                  <a:txBody>
                    <a:bodyPr/>
                    <a:lstStyle/>
                    <a:p>
                      <a:pPr indent="0" lvl="0" marL="0" rtl="0" algn="l">
                        <a:spcBef>
                          <a:spcPts val="0"/>
                        </a:spcBef>
                        <a:spcAft>
                          <a:spcPts val="0"/>
                        </a:spcAft>
                        <a:buNone/>
                      </a:pPr>
                      <a:r>
                        <a:t/>
                      </a:r>
                      <a:endParaRPr>
                        <a:solidFill>
                          <a:srgbClr val="FF0000"/>
                        </a:solidFill>
                      </a:endParaRPr>
                    </a:p>
                  </a:txBody>
                  <a:tcPr marT="91425" marB="91425" marR="91425" marL="91425">
                    <a:noFill/>
                  </a:tcPr>
                </a:tc>
              </a:tr>
            </a:tbl>
          </a:graphicData>
        </a:graphic>
      </p:graphicFrame>
      <p:graphicFrame>
        <p:nvGraphicFramePr>
          <p:cNvPr id="72" name="Google Shape;72;p15"/>
          <p:cNvGraphicFramePr/>
          <p:nvPr/>
        </p:nvGraphicFramePr>
        <p:xfrm>
          <a:off x="3992525" y="4958325"/>
          <a:ext cx="3000000" cy="3000000"/>
        </p:xfrm>
        <a:graphic>
          <a:graphicData uri="http://schemas.openxmlformats.org/drawingml/2006/table">
            <a:tbl>
              <a:tblPr>
                <a:noFill/>
                <a:tableStyleId>{71AC3457-10E6-4857-A913-5A14E234D2E3}</a:tableStyleId>
              </a:tblPr>
              <a:tblGrid>
                <a:gridCol w="3474725"/>
              </a:tblGrid>
              <a:tr h="2309975">
                <a:tc>
                  <a:txBody>
                    <a:bodyPr/>
                    <a:lstStyle/>
                    <a:p>
                      <a:pPr indent="0" lvl="0" marL="0" rtl="0" algn="l">
                        <a:lnSpc>
                          <a:spcPct val="115000"/>
                        </a:lnSpc>
                        <a:spcBef>
                          <a:spcPts val="0"/>
                        </a:spcBef>
                        <a:spcAft>
                          <a:spcPts val="0"/>
                        </a:spcAft>
                        <a:buNone/>
                      </a:pPr>
                      <a:r>
                        <a:rPr lang="en" sz="1200">
                          <a:solidFill>
                            <a:srgbClr val="AF00DB"/>
                          </a:solidFill>
                          <a:highlight>
                            <a:srgbClr val="FFFFFF"/>
                          </a:highlight>
                          <a:latin typeface="Consolas"/>
                          <a:ea typeface="Consolas"/>
                          <a:cs typeface="Consolas"/>
                          <a:sym typeface="Consolas"/>
                        </a:rPr>
                        <a:t>#include</a:t>
                      </a:r>
                      <a:r>
                        <a:rPr lang="en" sz="1200">
                          <a:solidFill>
                            <a:srgbClr val="0000FF"/>
                          </a:solidFill>
                          <a:highlight>
                            <a:srgbClr val="FFFFFF"/>
                          </a:highlight>
                          <a:latin typeface="Consolas"/>
                          <a:ea typeface="Consolas"/>
                          <a:cs typeface="Consolas"/>
                          <a:sym typeface="Consolas"/>
                        </a:rPr>
                        <a:t> </a:t>
                      </a:r>
                      <a:r>
                        <a:rPr lang="en" sz="1200">
                          <a:solidFill>
                            <a:srgbClr val="A31515"/>
                          </a:solidFill>
                          <a:highlight>
                            <a:srgbClr val="FFFFFF"/>
                          </a:highlight>
                          <a:latin typeface="Consolas"/>
                          <a:ea typeface="Consolas"/>
                          <a:cs typeface="Consolas"/>
                          <a:sym typeface="Consolas"/>
                        </a:rPr>
                        <a:t>&lt;string&gt;</a:t>
                      </a:r>
                      <a:endParaRPr sz="1200">
                        <a:solidFill>
                          <a:srgbClr val="A31515"/>
                        </a:solidFill>
                        <a:highlight>
                          <a:srgbClr val="FFFFFF"/>
                        </a:highlight>
                        <a:latin typeface="Consolas"/>
                        <a:ea typeface="Consolas"/>
                        <a:cs typeface="Consolas"/>
                        <a:sym typeface="Consolas"/>
                      </a:endParaRPr>
                    </a:p>
                    <a:p>
                      <a:pPr indent="0" lvl="0" marL="0" rtl="0" algn="l">
                        <a:lnSpc>
                          <a:spcPct val="115000"/>
                        </a:lnSpc>
                        <a:spcBef>
                          <a:spcPts val="0"/>
                        </a:spcBef>
                        <a:spcAft>
                          <a:spcPts val="0"/>
                        </a:spcAft>
                        <a:buNone/>
                      </a:pPr>
                      <a:r>
                        <a:rPr lang="en" sz="1200">
                          <a:solidFill>
                            <a:srgbClr val="AF00DB"/>
                          </a:solidFill>
                          <a:highlight>
                            <a:srgbClr val="FFFFFF"/>
                          </a:highlight>
                          <a:latin typeface="Consolas"/>
                          <a:ea typeface="Consolas"/>
                          <a:cs typeface="Consolas"/>
                          <a:sym typeface="Consolas"/>
                        </a:rPr>
                        <a:t>#include</a:t>
                      </a:r>
                      <a:r>
                        <a:rPr lang="en" sz="1200">
                          <a:solidFill>
                            <a:srgbClr val="0000FF"/>
                          </a:solidFill>
                          <a:highlight>
                            <a:srgbClr val="FFFFFF"/>
                          </a:highlight>
                          <a:latin typeface="Consolas"/>
                          <a:ea typeface="Consolas"/>
                          <a:cs typeface="Consolas"/>
                          <a:sym typeface="Consolas"/>
                        </a:rPr>
                        <a:t> </a:t>
                      </a:r>
                      <a:r>
                        <a:rPr lang="en" sz="1200">
                          <a:solidFill>
                            <a:srgbClr val="A31515"/>
                          </a:solidFill>
                          <a:highlight>
                            <a:srgbClr val="FFFFFF"/>
                          </a:highlight>
                          <a:latin typeface="Consolas"/>
                          <a:ea typeface="Consolas"/>
                          <a:cs typeface="Consolas"/>
                          <a:sym typeface="Consolas"/>
                        </a:rPr>
                        <a:t>&lt;iostream&gt;</a:t>
                      </a:r>
                      <a:endParaRPr sz="1200">
                        <a:solidFill>
                          <a:srgbClr val="A31515"/>
                        </a:solidFill>
                        <a:highlight>
                          <a:srgbClr val="FFFFFF"/>
                        </a:highlight>
                        <a:latin typeface="Consolas"/>
                        <a:ea typeface="Consolas"/>
                        <a:cs typeface="Consolas"/>
                        <a:sym typeface="Consolas"/>
                      </a:endParaRPr>
                    </a:p>
                    <a:p>
                      <a:pPr indent="0" lvl="0" marL="0" rtl="0" algn="l">
                        <a:lnSpc>
                          <a:spcPct val="115000"/>
                        </a:lnSpc>
                        <a:spcBef>
                          <a:spcPts val="0"/>
                        </a:spcBef>
                        <a:spcAft>
                          <a:spcPts val="0"/>
                        </a:spcAft>
                        <a:buNone/>
                      </a:pPr>
                      <a:r>
                        <a:rPr lang="en" sz="1200">
                          <a:solidFill>
                            <a:srgbClr val="AF00DB"/>
                          </a:solidFill>
                          <a:highlight>
                            <a:srgbClr val="FFFFFF"/>
                          </a:highlight>
                          <a:latin typeface="Consolas"/>
                          <a:ea typeface="Consolas"/>
                          <a:cs typeface="Consolas"/>
                          <a:sym typeface="Consolas"/>
                        </a:rPr>
                        <a:t>using</a:t>
                      </a:r>
                      <a:r>
                        <a:rPr lang="en" sz="1200">
                          <a:solidFill>
                            <a:schemeClr val="dk1"/>
                          </a:solidFill>
                          <a:highlight>
                            <a:srgbClr val="FFFFFF"/>
                          </a:highlight>
                          <a:latin typeface="Consolas"/>
                          <a:ea typeface="Consolas"/>
                          <a:cs typeface="Consolas"/>
                          <a:sym typeface="Consolas"/>
                        </a:rPr>
                        <a:t> </a:t>
                      </a:r>
                      <a:r>
                        <a:rPr lang="en" sz="1200">
                          <a:solidFill>
                            <a:srgbClr val="0000FF"/>
                          </a:solidFill>
                          <a:highlight>
                            <a:srgbClr val="FFFFFF"/>
                          </a:highlight>
                          <a:latin typeface="Consolas"/>
                          <a:ea typeface="Consolas"/>
                          <a:cs typeface="Consolas"/>
                          <a:sym typeface="Consolas"/>
                        </a:rPr>
                        <a:t>namespace</a:t>
                      </a:r>
                      <a:r>
                        <a:rPr lang="en" sz="1200">
                          <a:solidFill>
                            <a:schemeClr val="dk1"/>
                          </a:solidFill>
                          <a:highlight>
                            <a:srgbClr val="FFFFFF"/>
                          </a:highlight>
                          <a:latin typeface="Consolas"/>
                          <a:ea typeface="Consolas"/>
                          <a:cs typeface="Consolas"/>
                          <a:sym typeface="Consolas"/>
                        </a:rPr>
                        <a:t> </a:t>
                      </a:r>
                      <a:r>
                        <a:rPr lang="en" sz="1200">
                          <a:solidFill>
                            <a:srgbClr val="267F99"/>
                          </a:solidFill>
                          <a:highlight>
                            <a:srgbClr val="FFFFFF"/>
                          </a:highlight>
                          <a:latin typeface="Consolas"/>
                          <a:ea typeface="Consolas"/>
                          <a:cs typeface="Consolas"/>
                          <a:sym typeface="Consolas"/>
                        </a:rPr>
                        <a:t>std</a:t>
                      </a:r>
                      <a:r>
                        <a:rPr lang="en" sz="1200">
                          <a:solidFill>
                            <a:schemeClr val="dk1"/>
                          </a:solidFill>
                          <a:highlight>
                            <a:srgbClr val="FFFFFF"/>
                          </a:highlight>
                          <a:latin typeface="Consolas"/>
                          <a:ea typeface="Consolas"/>
                          <a:cs typeface="Consolas"/>
                          <a:sym typeface="Consolas"/>
                        </a:rPr>
                        <a:t>;</a:t>
                      </a:r>
                      <a:endParaRPr sz="1200">
                        <a:solidFill>
                          <a:schemeClr val="dk1"/>
                        </a:solidFill>
                        <a:highlight>
                          <a:srgbClr val="FFFFFF"/>
                        </a:highlight>
                        <a:latin typeface="Consolas"/>
                        <a:ea typeface="Consolas"/>
                        <a:cs typeface="Consolas"/>
                        <a:sym typeface="Consolas"/>
                      </a:endParaRPr>
                    </a:p>
                    <a:p>
                      <a:pPr indent="0" lvl="0" marL="0" rtl="0" algn="l">
                        <a:lnSpc>
                          <a:spcPct val="115000"/>
                        </a:lnSpc>
                        <a:spcBef>
                          <a:spcPts val="0"/>
                        </a:spcBef>
                        <a:spcAft>
                          <a:spcPts val="0"/>
                        </a:spcAft>
                        <a:buNone/>
                      </a:pPr>
                      <a:r>
                        <a:rPr lang="en" sz="1200">
                          <a:solidFill>
                            <a:srgbClr val="0000FF"/>
                          </a:solidFill>
                          <a:highlight>
                            <a:srgbClr val="FFFFFF"/>
                          </a:highlight>
                          <a:latin typeface="Consolas"/>
                          <a:ea typeface="Consolas"/>
                          <a:cs typeface="Consolas"/>
                          <a:sym typeface="Consolas"/>
                        </a:rPr>
                        <a:t>void</a:t>
                      </a:r>
                      <a:r>
                        <a:rPr lang="en" sz="1200">
                          <a:solidFill>
                            <a:schemeClr val="dk1"/>
                          </a:solidFill>
                          <a:highlight>
                            <a:srgbClr val="FFFFFF"/>
                          </a:highlight>
                          <a:latin typeface="Consolas"/>
                          <a:ea typeface="Consolas"/>
                          <a:cs typeface="Consolas"/>
                          <a:sym typeface="Consolas"/>
                        </a:rPr>
                        <a:t> </a:t>
                      </a:r>
                      <a:r>
                        <a:rPr lang="en" sz="1200">
                          <a:solidFill>
                            <a:srgbClr val="795E26"/>
                          </a:solidFill>
                          <a:highlight>
                            <a:srgbClr val="FFFFFF"/>
                          </a:highlight>
                          <a:latin typeface="Consolas"/>
                          <a:ea typeface="Consolas"/>
                          <a:cs typeface="Consolas"/>
                          <a:sym typeface="Consolas"/>
                        </a:rPr>
                        <a:t>greet</a:t>
                      </a:r>
                      <a:r>
                        <a:rPr lang="en" sz="1200">
                          <a:solidFill>
                            <a:schemeClr val="dk1"/>
                          </a:solidFill>
                          <a:highlight>
                            <a:srgbClr val="FFFFFF"/>
                          </a:highlight>
                          <a:latin typeface="Consolas"/>
                          <a:ea typeface="Consolas"/>
                          <a:cs typeface="Consolas"/>
                          <a:sym typeface="Consolas"/>
                        </a:rPr>
                        <a:t>(</a:t>
                      </a:r>
                      <a:r>
                        <a:rPr lang="en" sz="1200">
                          <a:solidFill>
                            <a:srgbClr val="267F99"/>
                          </a:solidFill>
                          <a:highlight>
                            <a:srgbClr val="FFFFFF"/>
                          </a:highlight>
                          <a:latin typeface="Consolas"/>
                          <a:ea typeface="Consolas"/>
                          <a:cs typeface="Consolas"/>
                          <a:sym typeface="Consolas"/>
                        </a:rPr>
                        <a:t>string</a:t>
                      </a:r>
                      <a:r>
                        <a:rPr lang="en" sz="1200">
                          <a:solidFill>
                            <a:schemeClr val="dk1"/>
                          </a:solidFill>
                          <a:highlight>
                            <a:srgbClr val="FFFFFF"/>
                          </a:highlight>
                          <a:latin typeface="Consolas"/>
                          <a:ea typeface="Consolas"/>
                          <a:cs typeface="Consolas"/>
                          <a:sym typeface="Consolas"/>
                        </a:rPr>
                        <a:t> </a:t>
                      </a:r>
                      <a:r>
                        <a:rPr lang="en" sz="1200">
                          <a:solidFill>
                            <a:srgbClr val="001080"/>
                          </a:solidFill>
                          <a:highlight>
                            <a:srgbClr val="FFFFFF"/>
                          </a:highlight>
                          <a:latin typeface="Consolas"/>
                          <a:ea typeface="Consolas"/>
                          <a:cs typeface="Consolas"/>
                          <a:sym typeface="Consolas"/>
                        </a:rPr>
                        <a:t>name</a:t>
                      </a:r>
                      <a:r>
                        <a:rPr lang="en" sz="1200">
                          <a:solidFill>
                            <a:schemeClr val="dk1"/>
                          </a:solidFill>
                          <a:highlight>
                            <a:srgbClr val="FFFFFF"/>
                          </a:highlight>
                          <a:latin typeface="Consolas"/>
                          <a:ea typeface="Consolas"/>
                          <a:cs typeface="Consolas"/>
                          <a:sym typeface="Consolas"/>
                        </a:rPr>
                        <a:t>) {</a:t>
                      </a:r>
                      <a:endParaRPr sz="1200">
                        <a:solidFill>
                          <a:schemeClr val="dk1"/>
                        </a:solidFill>
                        <a:highlight>
                          <a:srgbClr val="FFFFFF"/>
                        </a:highlight>
                        <a:latin typeface="Consolas"/>
                        <a:ea typeface="Consolas"/>
                        <a:cs typeface="Consolas"/>
                        <a:sym typeface="Consolas"/>
                      </a:endParaRPr>
                    </a:p>
                    <a:p>
                      <a:pPr indent="0" lvl="0" marL="0" rtl="0" algn="l">
                        <a:lnSpc>
                          <a:spcPct val="115000"/>
                        </a:lnSpc>
                        <a:spcBef>
                          <a:spcPts val="0"/>
                        </a:spcBef>
                        <a:spcAft>
                          <a:spcPts val="0"/>
                        </a:spcAft>
                        <a:buNone/>
                      </a:pPr>
                      <a:r>
                        <a:rPr lang="en" sz="1200">
                          <a:solidFill>
                            <a:schemeClr val="dk1"/>
                          </a:solidFill>
                          <a:highlight>
                            <a:srgbClr val="FFFFFF"/>
                          </a:highlight>
                          <a:latin typeface="Consolas"/>
                          <a:ea typeface="Consolas"/>
                          <a:cs typeface="Consolas"/>
                          <a:sym typeface="Consolas"/>
                        </a:rPr>
                        <a:t>  cout &lt;&lt; </a:t>
                      </a:r>
                      <a:r>
                        <a:rPr lang="en" sz="1200">
                          <a:solidFill>
                            <a:srgbClr val="A31515"/>
                          </a:solidFill>
                          <a:highlight>
                            <a:srgbClr val="FFFFFF"/>
                          </a:highlight>
                          <a:latin typeface="Consolas"/>
                          <a:ea typeface="Consolas"/>
                          <a:cs typeface="Consolas"/>
                          <a:sym typeface="Consolas"/>
                        </a:rPr>
                        <a:t>"Hi "</a:t>
                      </a:r>
                      <a:r>
                        <a:rPr lang="en" sz="1200">
                          <a:solidFill>
                            <a:schemeClr val="dk1"/>
                          </a:solidFill>
                          <a:highlight>
                            <a:srgbClr val="FFFFFF"/>
                          </a:highlight>
                          <a:latin typeface="Consolas"/>
                          <a:ea typeface="Consolas"/>
                          <a:cs typeface="Consolas"/>
                          <a:sym typeface="Consolas"/>
                        </a:rPr>
                        <a:t> &lt;&lt; name &lt;&lt; endl;</a:t>
                      </a:r>
                      <a:endParaRPr sz="1200">
                        <a:solidFill>
                          <a:schemeClr val="dk1"/>
                        </a:solidFill>
                        <a:highlight>
                          <a:srgbClr val="FFFFFF"/>
                        </a:highlight>
                        <a:latin typeface="Consolas"/>
                        <a:ea typeface="Consolas"/>
                        <a:cs typeface="Consolas"/>
                        <a:sym typeface="Consolas"/>
                      </a:endParaRPr>
                    </a:p>
                    <a:p>
                      <a:pPr indent="0" lvl="0" marL="0" rtl="0" algn="l">
                        <a:lnSpc>
                          <a:spcPct val="115000"/>
                        </a:lnSpc>
                        <a:spcBef>
                          <a:spcPts val="0"/>
                        </a:spcBef>
                        <a:spcAft>
                          <a:spcPts val="0"/>
                        </a:spcAft>
                        <a:buNone/>
                      </a:pPr>
                      <a:r>
                        <a:rPr lang="en" sz="1200">
                          <a:solidFill>
                            <a:schemeClr val="dk1"/>
                          </a:solidFill>
                          <a:highlight>
                            <a:srgbClr val="FFFFFF"/>
                          </a:highlight>
                          <a:latin typeface="Consolas"/>
                          <a:ea typeface="Consolas"/>
                          <a:cs typeface="Consolas"/>
                          <a:sym typeface="Consolas"/>
                        </a:rPr>
                        <a:t>}</a:t>
                      </a:r>
                      <a:endParaRPr sz="1200">
                        <a:solidFill>
                          <a:schemeClr val="dk1"/>
                        </a:solidFill>
                        <a:highlight>
                          <a:srgbClr val="FFFFFF"/>
                        </a:highlight>
                        <a:latin typeface="Consolas"/>
                        <a:ea typeface="Consolas"/>
                        <a:cs typeface="Consolas"/>
                        <a:sym typeface="Consolas"/>
                      </a:endParaRPr>
                    </a:p>
                    <a:p>
                      <a:pPr indent="0" lvl="0" marL="0" rtl="0" algn="l">
                        <a:lnSpc>
                          <a:spcPct val="115000"/>
                        </a:lnSpc>
                        <a:spcBef>
                          <a:spcPts val="0"/>
                        </a:spcBef>
                        <a:spcAft>
                          <a:spcPts val="0"/>
                        </a:spcAft>
                        <a:buNone/>
                      </a:pPr>
                      <a:r>
                        <a:rPr lang="en" sz="1200">
                          <a:solidFill>
                            <a:srgbClr val="0000FF"/>
                          </a:solidFill>
                          <a:highlight>
                            <a:srgbClr val="FFFFFF"/>
                          </a:highlight>
                          <a:latin typeface="Consolas"/>
                          <a:ea typeface="Consolas"/>
                          <a:cs typeface="Consolas"/>
                          <a:sym typeface="Consolas"/>
                        </a:rPr>
                        <a:t>int</a:t>
                      </a:r>
                      <a:r>
                        <a:rPr lang="en" sz="1200">
                          <a:solidFill>
                            <a:schemeClr val="dk1"/>
                          </a:solidFill>
                          <a:highlight>
                            <a:srgbClr val="FFFFFF"/>
                          </a:highlight>
                          <a:latin typeface="Consolas"/>
                          <a:ea typeface="Consolas"/>
                          <a:cs typeface="Consolas"/>
                          <a:sym typeface="Consolas"/>
                        </a:rPr>
                        <a:t> </a:t>
                      </a:r>
                      <a:r>
                        <a:rPr lang="en" sz="1200">
                          <a:solidFill>
                            <a:srgbClr val="795E26"/>
                          </a:solidFill>
                          <a:highlight>
                            <a:srgbClr val="FFFFFF"/>
                          </a:highlight>
                          <a:latin typeface="Consolas"/>
                          <a:ea typeface="Consolas"/>
                          <a:cs typeface="Consolas"/>
                          <a:sym typeface="Consolas"/>
                        </a:rPr>
                        <a:t>main</a:t>
                      </a:r>
                      <a:r>
                        <a:rPr lang="en" sz="1200">
                          <a:solidFill>
                            <a:schemeClr val="dk1"/>
                          </a:solidFill>
                          <a:highlight>
                            <a:srgbClr val="FFFFFF"/>
                          </a:highlight>
                          <a:latin typeface="Consolas"/>
                          <a:ea typeface="Consolas"/>
                          <a:cs typeface="Consolas"/>
                          <a:sym typeface="Consolas"/>
                        </a:rPr>
                        <a:t>() {</a:t>
                      </a:r>
                      <a:endParaRPr sz="1200">
                        <a:solidFill>
                          <a:schemeClr val="dk1"/>
                        </a:solidFill>
                        <a:highlight>
                          <a:srgbClr val="FFFFFF"/>
                        </a:highlight>
                        <a:latin typeface="Consolas"/>
                        <a:ea typeface="Consolas"/>
                        <a:cs typeface="Consolas"/>
                        <a:sym typeface="Consolas"/>
                      </a:endParaRPr>
                    </a:p>
                    <a:p>
                      <a:pPr indent="0" lvl="0" marL="0" rtl="0" algn="l">
                        <a:lnSpc>
                          <a:spcPct val="115000"/>
                        </a:lnSpc>
                        <a:spcBef>
                          <a:spcPts val="0"/>
                        </a:spcBef>
                        <a:spcAft>
                          <a:spcPts val="0"/>
                        </a:spcAft>
                        <a:buNone/>
                      </a:pPr>
                      <a:r>
                        <a:rPr lang="en" sz="1200">
                          <a:solidFill>
                            <a:schemeClr val="dk1"/>
                          </a:solidFill>
                          <a:highlight>
                            <a:srgbClr val="FFFFFF"/>
                          </a:highlight>
                          <a:latin typeface="Consolas"/>
                          <a:ea typeface="Consolas"/>
                          <a:cs typeface="Consolas"/>
                          <a:sym typeface="Consolas"/>
                        </a:rPr>
                        <a:t>  cout &lt;&lt; </a:t>
                      </a:r>
                      <a:r>
                        <a:rPr lang="en" sz="1200">
                          <a:solidFill>
                            <a:srgbClr val="795E26"/>
                          </a:solidFill>
                          <a:highlight>
                            <a:srgbClr val="FFFFFF"/>
                          </a:highlight>
                          <a:latin typeface="Consolas"/>
                          <a:ea typeface="Consolas"/>
                          <a:cs typeface="Consolas"/>
                          <a:sym typeface="Consolas"/>
                        </a:rPr>
                        <a:t>greet</a:t>
                      </a:r>
                      <a:r>
                        <a:rPr lang="en" sz="1200">
                          <a:solidFill>
                            <a:schemeClr val="dk1"/>
                          </a:solidFill>
                          <a:highlight>
                            <a:srgbClr val="FFFFFF"/>
                          </a:highlight>
                          <a:latin typeface="Consolas"/>
                          <a:ea typeface="Consolas"/>
                          <a:cs typeface="Consolas"/>
                          <a:sym typeface="Consolas"/>
                        </a:rPr>
                        <a:t>(</a:t>
                      </a:r>
                      <a:r>
                        <a:rPr lang="en" sz="1200">
                          <a:solidFill>
                            <a:srgbClr val="A31515"/>
                          </a:solidFill>
                          <a:highlight>
                            <a:srgbClr val="FFFFFF"/>
                          </a:highlight>
                          <a:latin typeface="Consolas"/>
                          <a:ea typeface="Consolas"/>
                          <a:cs typeface="Consolas"/>
                          <a:sym typeface="Consolas"/>
                        </a:rPr>
                        <a:t>"Ashvin"</a:t>
                      </a:r>
                      <a:r>
                        <a:rPr lang="en" sz="1200">
                          <a:solidFill>
                            <a:schemeClr val="dk1"/>
                          </a:solidFill>
                          <a:highlight>
                            <a:srgbClr val="FFFFFF"/>
                          </a:highlight>
                          <a:latin typeface="Consolas"/>
                          <a:ea typeface="Consolas"/>
                          <a:cs typeface="Consolas"/>
                          <a:sym typeface="Consolas"/>
                        </a:rPr>
                        <a:t>);</a:t>
                      </a:r>
                      <a:endParaRPr sz="1200">
                        <a:solidFill>
                          <a:schemeClr val="dk1"/>
                        </a:solidFill>
                        <a:highlight>
                          <a:srgbClr val="FFFFFF"/>
                        </a:highlight>
                        <a:latin typeface="Consolas"/>
                        <a:ea typeface="Consolas"/>
                        <a:cs typeface="Consolas"/>
                        <a:sym typeface="Consolas"/>
                      </a:endParaRPr>
                    </a:p>
                    <a:p>
                      <a:pPr indent="0" lvl="0" marL="0" rtl="0" algn="l">
                        <a:lnSpc>
                          <a:spcPct val="115000"/>
                        </a:lnSpc>
                        <a:spcBef>
                          <a:spcPts val="0"/>
                        </a:spcBef>
                        <a:spcAft>
                          <a:spcPts val="0"/>
                        </a:spcAft>
                        <a:buNone/>
                      </a:pPr>
                      <a:r>
                        <a:rPr lang="en" sz="1200">
                          <a:solidFill>
                            <a:schemeClr val="dk1"/>
                          </a:solidFill>
                          <a:highlight>
                            <a:srgbClr val="FFFFFF"/>
                          </a:highlight>
                          <a:latin typeface="Consolas"/>
                          <a:ea typeface="Consolas"/>
                          <a:cs typeface="Consolas"/>
                          <a:sym typeface="Consolas"/>
                        </a:rPr>
                        <a:t>  cout &lt;&lt; </a:t>
                      </a:r>
                      <a:r>
                        <a:rPr lang="en" sz="1200">
                          <a:solidFill>
                            <a:srgbClr val="795E26"/>
                          </a:solidFill>
                          <a:highlight>
                            <a:srgbClr val="FFFFFF"/>
                          </a:highlight>
                          <a:latin typeface="Consolas"/>
                          <a:ea typeface="Consolas"/>
                          <a:cs typeface="Consolas"/>
                          <a:sym typeface="Consolas"/>
                        </a:rPr>
                        <a:t>greet</a:t>
                      </a:r>
                      <a:r>
                        <a:rPr lang="en" sz="1200">
                          <a:solidFill>
                            <a:schemeClr val="dk1"/>
                          </a:solidFill>
                          <a:highlight>
                            <a:srgbClr val="FFFFFF"/>
                          </a:highlight>
                          <a:latin typeface="Consolas"/>
                          <a:ea typeface="Consolas"/>
                          <a:cs typeface="Consolas"/>
                          <a:sym typeface="Consolas"/>
                        </a:rPr>
                        <a:t>(</a:t>
                      </a:r>
                      <a:r>
                        <a:rPr lang="en" sz="1200">
                          <a:solidFill>
                            <a:srgbClr val="A31515"/>
                          </a:solidFill>
                          <a:highlight>
                            <a:srgbClr val="FFFFFF"/>
                          </a:highlight>
                          <a:latin typeface="Consolas"/>
                          <a:ea typeface="Consolas"/>
                          <a:cs typeface="Consolas"/>
                          <a:sym typeface="Consolas"/>
                        </a:rPr>
                        <a:t>"Maria"</a:t>
                      </a:r>
                      <a:r>
                        <a:rPr lang="en" sz="1200">
                          <a:solidFill>
                            <a:schemeClr val="dk1"/>
                          </a:solidFill>
                          <a:highlight>
                            <a:srgbClr val="FFFFFF"/>
                          </a:highlight>
                          <a:latin typeface="Consolas"/>
                          <a:ea typeface="Consolas"/>
                          <a:cs typeface="Consolas"/>
                          <a:sym typeface="Consolas"/>
                        </a:rPr>
                        <a:t>);</a:t>
                      </a:r>
                      <a:endParaRPr sz="1200">
                        <a:solidFill>
                          <a:schemeClr val="dk1"/>
                        </a:solidFill>
                        <a:highlight>
                          <a:srgbClr val="FFFFFF"/>
                        </a:highlight>
                        <a:latin typeface="Consolas"/>
                        <a:ea typeface="Consolas"/>
                        <a:cs typeface="Consolas"/>
                        <a:sym typeface="Consolas"/>
                      </a:endParaRPr>
                    </a:p>
                    <a:p>
                      <a:pPr indent="0" lvl="0" marL="0" rtl="0" algn="l">
                        <a:lnSpc>
                          <a:spcPct val="115000"/>
                        </a:lnSpc>
                        <a:spcBef>
                          <a:spcPts val="0"/>
                        </a:spcBef>
                        <a:spcAft>
                          <a:spcPts val="0"/>
                        </a:spcAft>
                        <a:buNone/>
                      </a:pPr>
                      <a:r>
                        <a:rPr lang="en" sz="1200">
                          <a:solidFill>
                            <a:schemeClr val="dk1"/>
                          </a:solidFill>
                          <a:highlight>
                            <a:srgbClr val="FFFFFF"/>
                          </a:highlight>
                          <a:latin typeface="Consolas"/>
                          <a:ea typeface="Consolas"/>
                          <a:cs typeface="Consolas"/>
                          <a:sym typeface="Consolas"/>
                        </a:rPr>
                        <a:t>  cout &lt;&lt; </a:t>
                      </a:r>
                      <a:r>
                        <a:rPr lang="en" sz="1200">
                          <a:solidFill>
                            <a:srgbClr val="795E26"/>
                          </a:solidFill>
                          <a:highlight>
                            <a:srgbClr val="FFFFFF"/>
                          </a:highlight>
                          <a:latin typeface="Consolas"/>
                          <a:ea typeface="Consolas"/>
                          <a:cs typeface="Consolas"/>
                          <a:sym typeface="Consolas"/>
                        </a:rPr>
                        <a:t>greet</a:t>
                      </a:r>
                      <a:r>
                        <a:rPr lang="en" sz="1200">
                          <a:solidFill>
                            <a:schemeClr val="dk1"/>
                          </a:solidFill>
                          <a:highlight>
                            <a:srgbClr val="FFFFFF"/>
                          </a:highlight>
                          <a:latin typeface="Consolas"/>
                          <a:ea typeface="Consolas"/>
                          <a:cs typeface="Consolas"/>
                          <a:sym typeface="Consolas"/>
                        </a:rPr>
                        <a:t>(</a:t>
                      </a:r>
                      <a:r>
                        <a:rPr lang="en" sz="1200">
                          <a:solidFill>
                            <a:srgbClr val="A31515"/>
                          </a:solidFill>
                          <a:highlight>
                            <a:srgbClr val="FFFFFF"/>
                          </a:highlight>
                          <a:latin typeface="Consolas"/>
                          <a:ea typeface="Consolas"/>
                          <a:cs typeface="Consolas"/>
                          <a:sym typeface="Consolas"/>
                        </a:rPr>
                        <a:t>"Wenzhao"</a:t>
                      </a:r>
                      <a:r>
                        <a:rPr lang="en" sz="1200">
                          <a:solidFill>
                            <a:schemeClr val="dk1"/>
                          </a:solidFill>
                          <a:highlight>
                            <a:srgbClr val="FFFFFF"/>
                          </a:highlight>
                          <a:latin typeface="Consolas"/>
                          <a:ea typeface="Consolas"/>
                          <a:cs typeface="Consolas"/>
                          <a:sym typeface="Consolas"/>
                        </a:rPr>
                        <a:t>);</a:t>
                      </a:r>
                      <a:endParaRPr sz="1200">
                        <a:solidFill>
                          <a:schemeClr val="dk1"/>
                        </a:solidFill>
                        <a:highlight>
                          <a:srgbClr val="FFFFFF"/>
                        </a:highlight>
                        <a:latin typeface="Consolas"/>
                        <a:ea typeface="Consolas"/>
                        <a:cs typeface="Consolas"/>
                        <a:sym typeface="Consolas"/>
                      </a:endParaRPr>
                    </a:p>
                    <a:p>
                      <a:pPr indent="0" lvl="0" marL="0" rtl="0" algn="l">
                        <a:lnSpc>
                          <a:spcPct val="115000"/>
                        </a:lnSpc>
                        <a:spcBef>
                          <a:spcPts val="0"/>
                        </a:spcBef>
                        <a:spcAft>
                          <a:spcPts val="0"/>
                        </a:spcAft>
                        <a:buNone/>
                      </a:pPr>
                      <a:r>
                        <a:rPr lang="en" sz="1200">
                          <a:solidFill>
                            <a:schemeClr val="dk1"/>
                          </a:solidFill>
                          <a:highlight>
                            <a:srgbClr val="FFFFFF"/>
                          </a:highlight>
                          <a:latin typeface="Consolas"/>
                          <a:ea typeface="Consolas"/>
                          <a:cs typeface="Consolas"/>
                          <a:sym typeface="Consolas"/>
                        </a:rPr>
                        <a:t>}</a:t>
                      </a:r>
                      <a:endParaRPr sz="1200">
                        <a:solidFill>
                          <a:srgbClr val="0000FF"/>
                        </a:solidFill>
                        <a:highlight>
                          <a:srgbClr val="FFFFFE"/>
                        </a:highlight>
                        <a:latin typeface="Consolas"/>
                        <a:ea typeface="Consolas"/>
                        <a:cs typeface="Consolas"/>
                        <a:sym typeface="Consolas"/>
                      </a:endParaRPr>
                    </a:p>
                  </a:txBody>
                  <a:tcPr marT="91425" marB="91425" marR="91425" marL="91425">
                    <a:noFill/>
                  </a:tcPr>
                </a:tc>
              </a:tr>
              <a:tr h="888175">
                <a:tc>
                  <a:txBody>
                    <a:bodyPr/>
                    <a:lstStyle/>
                    <a:p>
                      <a:pPr indent="0" lvl="0" marL="0" rtl="0" algn="l">
                        <a:spcBef>
                          <a:spcPts val="0"/>
                        </a:spcBef>
                        <a:spcAft>
                          <a:spcPts val="0"/>
                        </a:spcAft>
                        <a:buNone/>
                      </a:pPr>
                      <a:r>
                        <a:t/>
                      </a:r>
                      <a:endParaRPr>
                        <a:solidFill>
                          <a:srgbClr val="FF0000"/>
                        </a:solidFill>
                      </a:endParaRPr>
                    </a:p>
                  </a:txBody>
                  <a:tcPr marT="91425" marB="91425" marR="91425" marL="91425">
                    <a:noFill/>
                  </a:tcPr>
                </a:tc>
              </a:tr>
            </a:tbl>
          </a:graphicData>
        </a:graphic>
      </p:graphicFrame>
      <p:graphicFrame>
        <p:nvGraphicFramePr>
          <p:cNvPr id="73" name="Google Shape;73;p15"/>
          <p:cNvGraphicFramePr/>
          <p:nvPr/>
        </p:nvGraphicFramePr>
        <p:xfrm>
          <a:off x="279575" y="8461725"/>
          <a:ext cx="3000000" cy="3000000"/>
        </p:xfrm>
        <a:graphic>
          <a:graphicData uri="http://schemas.openxmlformats.org/drawingml/2006/table">
            <a:tbl>
              <a:tblPr>
                <a:noFill/>
                <a:tableStyleId>{71AC3457-10E6-4857-A913-5A14E234D2E3}</a:tableStyleId>
              </a:tblPr>
              <a:tblGrid>
                <a:gridCol w="2335375"/>
                <a:gridCol w="4852325"/>
              </a:tblGrid>
              <a:tr h="1045375">
                <a:tc>
                  <a:txBody>
                    <a:bodyPr/>
                    <a:lstStyle/>
                    <a:p>
                      <a:pPr indent="0" lvl="0" marL="0" rtl="0" algn="l">
                        <a:lnSpc>
                          <a:spcPct val="115000"/>
                        </a:lnSpc>
                        <a:spcBef>
                          <a:spcPts val="0"/>
                        </a:spcBef>
                        <a:spcAft>
                          <a:spcPts val="0"/>
                        </a:spcAft>
                        <a:buNone/>
                      </a:pPr>
                      <a:r>
                        <a:rPr lang="en">
                          <a:solidFill>
                            <a:schemeClr val="dk1"/>
                          </a:solidFill>
                        </a:rPr>
                        <a:t>Which mistake will the compiler NOT catch? Why do you think this is?</a:t>
                      </a:r>
                      <a:endParaRPr/>
                    </a:p>
                  </a:txBody>
                  <a:tcPr marT="91425" marB="91425" marR="91425" marL="91425">
                    <a:noFill/>
                  </a:tcPr>
                </a:tc>
                <a:tc>
                  <a:txBody>
                    <a:bodyPr/>
                    <a:lstStyle/>
                    <a:p>
                      <a:pPr indent="0" lvl="0" marL="0" rtl="0" algn="l">
                        <a:spcBef>
                          <a:spcPts val="0"/>
                        </a:spcBef>
                        <a:spcAft>
                          <a:spcPts val="0"/>
                        </a:spcAft>
                        <a:buNone/>
                      </a:pPr>
                      <a:r>
                        <a:t/>
                      </a:r>
                      <a:endParaRPr/>
                    </a:p>
                  </a:txBody>
                  <a:tcPr marT="91425" marB="91425" marR="91425" marL="91425">
                    <a:no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6"/>
          <p:cNvSpPr txBox="1"/>
          <p:nvPr/>
        </p:nvSpPr>
        <p:spPr>
          <a:xfrm>
            <a:off x="288000" y="179925"/>
            <a:ext cx="7196400" cy="846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2000"/>
              <a:buFont typeface="Arial"/>
              <a:buNone/>
            </a:pPr>
            <a:r>
              <a:rPr lang="en" sz="2000">
                <a:solidFill>
                  <a:schemeClr val="dk1"/>
                </a:solidFill>
              </a:rPr>
              <a:t>1.3 Vectors, Branching, and Iteration</a:t>
            </a:r>
            <a:endParaRPr sz="2000"/>
          </a:p>
          <a:p>
            <a:pPr indent="0" lvl="0" marL="0" marR="0" rtl="0" algn="l">
              <a:lnSpc>
                <a:spcPct val="115000"/>
              </a:lnSpc>
              <a:spcBef>
                <a:spcPts val="600"/>
              </a:spcBef>
              <a:spcAft>
                <a:spcPts val="0"/>
              </a:spcAft>
              <a:buClr>
                <a:srgbClr val="000000"/>
              </a:buClr>
              <a:buSzPts val="1500"/>
              <a:buFont typeface="Arial"/>
              <a:buNone/>
            </a:pPr>
            <a:r>
              <a:rPr lang="en" sz="1500"/>
              <a:t>Write the </a:t>
            </a:r>
            <a:r>
              <a:rPr lang="en" sz="1500">
                <a:latin typeface="Consolas"/>
                <a:ea typeface="Consolas"/>
                <a:cs typeface="Consolas"/>
                <a:sym typeface="Consolas"/>
              </a:rPr>
              <a:t>count_if()</a:t>
            </a:r>
            <a:r>
              <a:rPr lang="en" sz="1500"/>
              <a:t> function, which counts occurrences of a value in a vector.</a:t>
            </a:r>
            <a:endParaRPr i="0" sz="1500" u="none" cap="none" strike="noStrike">
              <a:solidFill>
                <a:srgbClr val="000000"/>
              </a:solidFill>
            </a:endParaRPr>
          </a:p>
        </p:txBody>
      </p:sp>
      <p:graphicFrame>
        <p:nvGraphicFramePr>
          <p:cNvPr id="79" name="Google Shape;79;p16"/>
          <p:cNvGraphicFramePr/>
          <p:nvPr/>
        </p:nvGraphicFramePr>
        <p:xfrm>
          <a:off x="287988" y="1028275"/>
          <a:ext cx="3000000" cy="3000000"/>
        </p:xfrm>
        <a:graphic>
          <a:graphicData uri="http://schemas.openxmlformats.org/drawingml/2006/table">
            <a:tbl>
              <a:tblPr>
                <a:noFill/>
                <a:tableStyleId>{A0505F16-E8CE-4040-8224-7A68279C112B}</a:tableStyleId>
              </a:tblPr>
              <a:tblGrid>
                <a:gridCol w="7196400"/>
              </a:tblGrid>
              <a:tr h="822050">
                <a:tc>
                  <a:txBody>
                    <a:bodyPr/>
                    <a:lstStyle/>
                    <a:p>
                      <a:pPr indent="0" lvl="0" marL="0" rtl="0" algn="l">
                        <a:lnSpc>
                          <a:spcPct val="115000"/>
                        </a:lnSpc>
                        <a:spcBef>
                          <a:spcPts val="0"/>
                        </a:spcBef>
                        <a:spcAft>
                          <a:spcPts val="0"/>
                        </a:spcAft>
                        <a:buNone/>
                      </a:pPr>
                      <a:r>
                        <a:rPr lang="en">
                          <a:solidFill>
                            <a:schemeClr val="dk1"/>
                          </a:solidFill>
                          <a:latin typeface="Consolas"/>
                          <a:ea typeface="Consolas"/>
                          <a:cs typeface="Consolas"/>
                          <a:sym typeface="Consolas"/>
                        </a:rPr>
                        <a:t>// EFFECTS: Returns the number of elements in the vector that are</a:t>
                      </a:r>
                      <a:br>
                        <a:rPr lang="en">
                          <a:solidFill>
                            <a:schemeClr val="dk1"/>
                          </a:solidFill>
                          <a:latin typeface="Consolas"/>
                          <a:ea typeface="Consolas"/>
                          <a:cs typeface="Consolas"/>
                          <a:sym typeface="Consolas"/>
                        </a:rPr>
                      </a:br>
                      <a:r>
                        <a:rPr lang="en">
                          <a:solidFill>
                            <a:schemeClr val="dk1"/>
                          </a:solidFill>
                          <a:latin typeface="Consolas"/>
                          <a:ea typeface="Consolas"/>
                          <a:cs typeface="Consolas"/>
                          <a:sym typeface="Consolas"/>
                        </a:rPr>
                        <a:t>//          equal to the given value.</a:t>
                      </a:r>
                      <a:endParaRPr>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lang="en">
                          <a:solidFill>
                            <a:schemeClr val="dk1"/>
                          </a:solidFill>
                          <a:latin typeface="Consolas"/>
                          <a:ea typeface="Consolas"/>
                          <a:cs typeface="Consolas"/>
                          <a:sym typeface="Consolas"/>
                        </a:rPr>
                        <a:t>int count_if(vector&lt;double&gt; v, double val) {</a:t>
                      </a:r>
                      <a:endParaRPr/>
                    </a:p>
                  </a:txBody>
                  <a:tcPr marT="63500" marB="63500" marR="63500" marL="635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dk1"/>
                      </a:solidFill>
                      <a:prstDash val="solid"/>
                      <a:round/>
                      <a:headEnd len="sm" w="sm" type="none"/>
                      <a:tailEnd len="sm" w="sm" type="none"/>
                    </a:lnB>
                    <a:noFill/>
                  </a:tcPr>
                </a:tc>
              </a:tr>
              <a:tr h="2178725">
                <a:tc>
                  <a:txBody>
                    <a:bodyPr/>
                    <a:lstStyle/>
                    <a:p>
                      <a:pPr indent="0" lvl="0" marL="0" rtl="0" algn="l">
                        <a:lnSpc>
                          <a:spcPct val="115000"/>
                        </a:lnSpc>
                        <a:spcBef>
                          <a:spcPts val="0"/>
                        </a:spcBef>
                        <a:spcAft>
                          <a:spcPts val="0"/>
                        </a:spcAft>
                        <a:buNone/>
                      </a:pPr>
                      <a:r>
                        <a:t/>
                      </a:r>
                      <a:endParaRPr>
                        <a:solidFill>
                          <a:srgbClr val="FF0000"/>
                        </a:solidFill>
                        <a:latin typeface="Consolas"/>
                        <a:ea typeface="Consolas"/>
                        <a:cs typeface="Consolas"/>
                        <a:sym typeface="Consolas"/>
                      </a:endParaRPr>
                    </a:p>
                  </a:txBody>
                  <a:tcPr marT="63500" marB="63500" marR="63500" marL="635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r>
              <a:tr h="354025">
                <a:tc>
                  <a:txBody>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onsolas"/>
                          <a:ea typeface="Consolas"/>
                          <a:cs typeface="Consolas"/>
                          <a:sym typeface="Consolas"/>
                        </a:rPr>
                        <a:t>}</a:t>
                      </a:r>
                      <a:endParaRPr>
                        <a:solidFill>
                          <a:schemeClr val="dk1"/>
                        </a:solidFill>
                        <a:latin typeface="Consolas"/>
                        <a:ea typeface="Consolas"/>
                        <a:cs typeface="Consolas"/>
                        <a:sym typeface="Consolas"/>
                      </a:endParaRPr>
                    </a:p>
                  </a:txBody>
                  <a:tcPr marT="63500" marB="63500" marR="63500" marL="635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lt1"/>
                      </a:solidFill>
                      <a:prstDash val="solid"/>
                      <a:round/>
                      <a:headEnd len="sm" w="sm" type="none"/>
                      <a:tailEnd len="sm" w="sm" type="none"/>
                    </a:lnB>
                    <a:noFill/>
                  </a:tcPr>
                </a:tc>
              </a:tr>
            </a:tbl>
          </a:graphicData>
        </a:graphic>
      </p:graphicFrame>
      <p:sp>
        <p:nvSpPr>
          <p:cNvPr id="80" name="Google Shape;80;p16"/>
          <p:cNvSpPr txBox="1"/>
          <p:nvPr/>
        </p:nvSpPr>
        <p:spPr>
          <a:xfrm>
            <a:off x="288000" y="4529700"/>
            <a:ext cx="7196400" cy="6810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600"/>
              </a:spcBef>
              <a:spcAft>
                <a:spcPts val="0"/>
              </a:spcAft>
              <a:buClr>
                <a:srgbClr val="000000"/>
              </a:buClr>
              <a:buSzPts val="1500"/>
              <a:buFont typeface="Arial"/>
              <a:buNone/>
            </a:pPr>
            <a:r>
              <a:rPr lang="en" sz="1500"/>
              <a:t>Write the</a:t>
            </a:r>
            <a:r>
              <a:rPr lang="en" sz="1500"/>
              <a:t> </a:t>
            </a:r>
            <a:r>
              <a:rPr lang="en" sz="1500">
                <a:latin typeface="Consolas"/>
                <a:ea typeface="Consolas"/>
                <a:cs typeface="Consolas"/>
                <a:sym typeface="Consolas"/>
              </a:rPr>
              <a:t>has_zero</a:t>
            </a:r>
            <a:r>
              <a:rPr lang="en" sz="1500">
                <a:latin typeface="Consolas"/>
                <a:ea typeface="Consolas"/>
                <a:cs typeface="Consolas"/>
                <a:sym typeface="Consolas"/>
              </a:rPr>
              <a:t>()</a:t>
            </a:r>
            <a:r>
              <a:rPr lang="en" sz="1500"/>
              <a:t> function, which returns </a:t>
            </a:r>
            <a:r>
              <a:rPr lang="en" sz="1500">
                <a:latin typeface="Consolas"/>
                <a:ea typeface="Consolas"/>
                <a:cs typeface="Consolas"/>
                <a:sym typeface="Consolas"/>
              </a:rPr>
              <a:t>true</a:t>
            </a:r>
            <a:r>
              <a:rPr lang="en" sz="1500"/>
              <a:t> if the vector contains 0 and </a:t>
            </a:r>
            <a:r>
              <a:rPr lang="en" sz="1500">
                <a:latin typeface="Consolas"/>
                <a:ea typeface="Consolas"/>
                <a:cs typeface="Consolas"/>
                <a:sym typeface="Consolas"/>
              </a:rPr>
              <a:t>false</a:t>
            </a:r>
            <a:r>
              <a:rPr lang="en" sz="1500"/>
              <a:t> otherwise.</a:t>
            </a:r>
            <a:endParaRPr i="0" sz="1500" u="none" cap="none" strike="noStrike">
              <a:solidFill>
                <a:srgbClr val="000000"/>
              </a:solidFill>
            </a:endParaRPr>
          </a:p>
        </p:txBody>
      </p:sp>
      <p:graphicFrame>
        <p:nvGraphicFramePr>
          <p:cNvPr id="81" name="Google Shape;81;p16"/>
          <p:cNvGraphicFramePr/>
          <p:nvPr/>
        </p:nvGraphicFramePr>
        <p:xfrm>
          <a:off x="287988" y="4982100"/>
          <a:ext cx="3000000" cy="3000000"/>
        </p:xfrm>
        <a:graphic>
          <a:graphicData uri="http://schemas.openxmlformats.org/drawingml/2006/table">
            <a:tbl>
              <a:tblPr>
                <a:noFill/>
                <a:tableStyleId>{A0505F16-E8CE-4040-8224-7A68279C112B}</a:tableStyleId>
              </a:tblPr>
              <a:tblGrid>
                <a:gridCol w="7196400"/>
              </a:tblGrid>
              <a:tr h="822050">
                <a:tc>
                  <a:txBody>
                    <a:bodyPr/>
                    <a:lstStyle/>
                    <a:p>
                      <a:pPr indent="0" lvl="0" marL="0" rtl="0" algn="l">
                        <a:lnSpc>
                          <a:spcPct val="115000"/>
                        </a:lnSpc>
                        <a:spcBef>
                          <a:spcPts val="0"/>
                        </a:spcBef>
                        <a:spcAft>
                          <a:spcPts val="0"/>
                        </a:spcAft>
                        <a:buNone/>
                      </a:pPr>
                      <a:r>
                        <a:t/>
                      </a:r>
                      <a:endParaRPr>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lang="en">
                          <a:solidFill>
                            <a:schemeClr val="dk1"/>
                          </a:solidFill>
                          <a:latin typeface="Consolas"/>
                          <a:ea typeface="Consolas"/>
                          <a:cs typeface="Consolas"/>
                          <a:sym typeface="Consolas"/>
                        </a:rPr>
                        <a:t>// EFFECTS: Returns whether or not the vector contains 0 </a:t>
                      </a:r>
                      <a:endParaRPr>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lang="en">
                          <a:solidFill>
                            <a:schemeClr val="dk1"/>
                          </a:solidFill>
                          <a:latin typeface="Consolas"/>
                          <a:ea typeface="Consolas"/>
                          <a:cs typeface="Consolas"/>
                          <a:sym typeface="Consolas"/>
                        </a:rPr>
                        <a:t>bool has_zero(vector&lt;double&gt; v) {</a:t>
                      </a:r>
                      <a:endParaRPr/>
                    </a:p>
                  </a:txBody>
                  <a:tcPr marT="63500" marB="63500" marR="63500" marL="635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dk1"/>
                      </a:solidFill>
                      <a:prstDash val="solid"/>
                      <a:round/>
                      <a:headEnd len="sm" w="sm" type="none"/>
                      <a:tailEnd len="sm" w="sm" type="none"/>
                    </a:lnB>
                    <a:noFill/>
                  </a:tcPr>
                </a:tc>
              </a:tr>
              <a:tr h="2178725">
                <a:tc>
                  <a:txBody>
                    <a:bodyPr/>
                    <a:lstStyle/>
                    <a:p>
                      <a:pPr indent="0" lvl="0" marL="0" rtl="0" algn="l">
                        <a:lnSpc>
                          <a:spcPct val="115000"/>
                        </a:lnSpc>
                        <a:spcBef>
                          <a:spcPts val="0"/>
                        </a:spcBef>
                        <a:spcAft>
                          <a:spcPts val="0"/>
                        </a:spcAft>
                        <a:buNone/>
                      </a:pPr>
                      <a:r>
                        <a:t/>
                      </a:r>
                      <a:endParaRPr>
                        <a:solidFill>
                          <a:srgbClr val="FF0000"/>
                        </a:solidFill>
                        <a:latin typeface="Consolas"/>
                        <a:ea typeface="Consolas"/>
                        <a:cs typeface="Consolas"/>
                        <a:sym typeface="Consolas"/>
                      </a:endParaRPr>
                    </a:p>
                  </a:txBody>
                  <a:tcPr marT="63500" marB="63500" marR="63500" marL="635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r>
              <a:tr h="354025">
                <a:tc>
                  <a:txBody>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onsolas"/>
                          <a:ea typeface="Consolas"/>
                          <a:cs typeface="Consolas"/>
                          <a:sym typeface="Consolas"/>
                        </a:rPr>
                        <a:t>}</a:t>
                      </a:r>
                      <a:endParaRPr>
                        <a:solidFill>
                          <a:schemeClr val="dk1"/>
                        </a:solidFill>
                        <a:latin typeface="Consolas"/>
                        <a:ea typeface="Consolas"/>
                        <a:cs typeface="Consolas"/>
                        <a:sym typeface="Consolas"/>
                      </a:endParaRPr>
                    </a:p>
                  </a:txBody>
                  <a:tcPr marT="63500" marB="63500" marR="63500" marL="635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lt1"/>
                      </a:solidFill>
                      <a:prstDash val="solid"/>
                      <a:round/>
                      <a:headEnd len="sm" w="sm" type="none"/>
                      <a:tailEnd len="sm" w="sm" type="none"/>
                    </a:lnB>
                    <a:noFill/>
                  </a:tcPr>
                </a:tc>
              </a:tr>
            </a:tbl>
          </a:graphicData>
        </a:graphic>
      </p:graphicFrame>
      <p:sp>
        <p:nvSpPr>
          <p:cNvPr id="82" name="Google Shape;82;p16"/>
          <p:cNvSpPr txBox="1"/>
          <p:nvPr/>
        </p:nvSpPr>
        <p:spPr>
          <a:xfrm>
            <a:off x="288000" y="8720700"/>
            <a:ext cx="7196400" cy="846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600"/>
              </a:spcBef>
              <a:spcAft>
                <a:spcPts val="0"/>
              </a:spcAft>
              <a:buClr>
                <a:srgbClr val="000000"/>
              </a:buClr>
              <a:buSzPts val="1500"/>
              <a:buFont typeface="Arial"/>
              <a:buNone/>
            </a:pPr>
            <a:r>
              <a:rPr lang="en" sz="2000"/>
              <a:t>Have one group member submit your group’s code for both exercises </a:t>
            </a:r>
            <a:r>
              <a:rPr lang="en" sz="2000" u="sng">
                <a:solidFill>
                  <a:schemeClr val="hlink"/>
                </a:solidFill>
                <a:hlinkClick r:id="rId3"/>
              </a:rPr>
              <a:t>here</a:t>
            </a:r>
            <a:r>
              <a:rPr lang="en" sz="2000"/>
              <a:t>.</a:t>
            </a:r>
            <a:endParaRPr i="0" sz="2000" u="none" cap="none" strike="noStrike">
              <a:solidFill>
                <a:srgbClr val="00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7"/>
          <p:cNvSpPr txBox="1"/>
          <p:nvPr/>
        </p:nvSpPr>
        <p:spPr>
          <a:xfrm>
            <a:off x="288000" y="394550"/>
            <a:ext cx="7196400" cy="4155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600"/>
              </a:spcBef>
              <a:spcAft>
                <a:spcPts val="0"/>
              </a:spcAft>
              <a:buClr>
                <a:srgbClr val="000000"/>
              </a:buClr>
              <a:buSzPts val="1500"/>
              <a:buFont typeface="Arial"/>
              <a:buNone/>
            </a:pPr>
            <a:r>
              <a:t/>
            </a:r>
            <a:endParaRPr i="0" sz="1500" u="none" cap="none" strike="noStrike">
              <a:solidFill>
                <a:srgbClr val="000000"/>
              </a:solidFill>
            </a:endParaRPr>
          </a:p>
        </p:txBody>
      </p:sp>
      <p:sp>
        <p:nvSpPr>
          <p:cNvPr id="88" name="Google Shape;88;p17"/>
          <p:cNvSpPr txBox="1"/>
          <p:nvPr/>
        </p:nvSpPr>
        <p:spPr>
          <a:xfrm>
            <a:off x="288000" y="87425"/>
            <a:ext cx="7196400" cy="11121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000"/>
              <a:buFont typeface="Arial"/>
              <a:buNone/>
            </a:pPr>
            <a:r>
              <a:rPr lang="en" sz="2000"/>
              <a:t>1</a:t>
            </a:r>
            <a:r>
              <a:rPr lang="en" sz="2000">
                <a:solidFill>
                  <a:srgbClr val="000000"/>
                </a:solidFill>
              </a:rPr>
              <a:t>.</a:t>
            </a:r>
            <a:r>
              <a:rPr lang="en" sz="2000"/>
              <a:t>4</a:t>
            </a:r>
            <a:r>
              <a:rPr lang="en" sz="2000">
                <a:solidFill>
                  <a:srgbClr val="000000"/>
                </a:solidFill>
              </a:rPr>
              <a:t> </a:t>
            </a:r>
            <a:r>
              <a:rPr lang="en" sz="2000"/>
              <a:t>Testing with </a:t>
            </a:r>
            <a:r>
              <a:rPr lang="en" sz="2000">
                <a:latin typeface="Consolas"/>
                <a:ea typeface="Consolas"/>
                <a:cs typeface="Consolas"/>
                <a:sym typeface="Consolas"/>
              </a:rPr>
              <a:t>assert()</a:t>
            </a:r>
            <a:endParaRPr i="0" sz="2000" u="none" cap="none" strike="noStrike">
              <a:solidFill>
                <a:srgbClr val="000000"/>
              </a:solidFill>
              <a:latin typeface="Consolas"/>
              <a:ea typeface="Consolas"/>
              <a:cs typeface="Consolas"/>
              <a:sym typeface="Consolas"/>
            </a:endParaRPr>
          </a:p>
          <a:p>
            <a:pPr indent="0" lvl="0" marL="0" marR="0" rtl="0" algn="l">
              <a:lnSpc>
                <a:spcPct val="115000"/>
              </a:lnSpc>
              <a:spcBef>
                <a:spcPts val="600"/>
              </a:spcBef>
              <a:spcAft>
                <a:spcPts val="0"/>
              </a:spcAft>
              <a:buClr>
                <a:srgbClr val="000000"/>
              </a:buClr>
              <a:buSzPts val="1500"/>
              <a:buFont typeface="Arial"/>
              <a:buNone/>
            </a:pPr>
            <a:r>
              <a:rPr lang="en" sz="1500"/>
              <a:t>Write two test cases for the </a:t>
            </a:r>
            <a:r>
              <a:rPr lang="en" sz="1500">
                <a:latin typeface="Consolas"/>
                <a:ea typeface="Consolas"/>
                <a:cs typeface="Consolas"/>
                <a:sym typeface="Consolas"/>
              </a:rPr>
              <a:t>count_if()</a:t>
            </a:r>
            <a:r>
              <a:rPr lang="en" sz="1500"/>
              <a:t> function. Create a vector with some sample data, and use </a:t>
            </a:r>
            <a:r>
              <a:rPr lang="en" sz="1500">
                <a:latin typeface="Consolas"/>
                <a:ea typeface="Consolas"/>
                <a:cs typeface="Consolas"/>
                <a:sym typeface="Consolas"/>
              </a:rPr>
              <a:t>assert()</a:t>
            </a:r>
            <a:r>
              <a:rPr lang="en" sz="1500"/>
              <a:t> to verify the function gives the expected outcome.</a:t>
            </a:r>
            <a:endParaRPr i="0" sz="1500" u="none" cap="none" strike="noStrike">
              <a:solidFill>
                <a:srgbClr val="000000"/>
              </a:solidFill>
            </a:endParaRPr>
          </a:p>
        </p:txBody>
      </p:sp>
      <p:graphicFrame>
        <p:nvGraphicFramePr>
          <p:cNvPr id="89" name="Google Shape;89;p17"/>
          <p:cNvGraphicFramePr/>
          <p:nvPr/>
        </p:nvGraphicFramePr>
        <p:xfrm>
          <a:off x="287988" y="851900"/>
          <a:ext cx="3000000" cy="3000000"/>
        </p:xfrm>
        <a:graphic>
          <a:graphicData uri="http://schemas.openxmlformats.org/drawingml/2006/table">
            <a:tbl>
              <a:tblPr>
                <a:noFill/>
                <a:tableStyleId>{A0505F16-E8CE-4040-8224-7A68279C112B}</a:tableStyleId>
              </a:tblPr>
              <a:tblGrid>
                <a:gridCol w="7196400"/>
              </a:tblGrid>
              <a:tr h="1216150">
                <a:tc>
                  <a:txBody>
                    <a:bodyPr/>
                    <a:lstStyle/>
                    <a:p>
                      <a:pPr indent="0" lvl="0" marL="0" rtl="0" algn="l">
                        <a:lnSpc>
                          <a:spcPct val="115000"/>
                        </a:lnSpc>
                        <a:spcBef>
                          <a:spcPts val="0"/>
                        </a:spcBef>
                        <a:spcAft>
                          <a:spcPts val="0"/>
                        </a:spcAft>
                        <a:buNone/>
                      </a:pPr>
                      <a:r>
                        <a:t/>
                      </a:r>
                      <a:endParaRPr>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t/>
                      </a:r>
                      <a:endParaRPr>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lang="en">
                          <a:solidFill>
                            <a:schemeClr val="dk1"/>
                          </a:solidFill>
                          <a:latin typeface="Consolas"/>
                          <a:ea typeface="Consolas"/>
                          <a:cs typeface="Consolas"/>
                          <a:sym typeface="Consolas"/>
                        </a:rPr>
                        <a:t>// A main function containing a test case for </a:t>
                      </a:r>
                      <a:r>
                        <a:rPr lang="en" sz="1500">
                          <a:solidFill>
                            <a:schemeClr val="dk1"/>
                          </a:solidFill>
                          <a:latin typeface="Consolas"/>
                          <a:ea typeface="Consolas"/>
                          <a:cs typeface="Consolas"/>
                          <a:sym typeface="Consolas"/>
                        </a:rPr>
                        <a:t>count_if</a:t>
                      </a:r>
                      <a:r>
                        <a:rPr lang="en">
                          <a:solidFill>
                            <a:schemeClr val="dk1"/>
                          </a:solidFill>
                          <a:latin typeface="Consolas"/>
                          <a:ea typeface="Consolas"/>
                          <a:cs typeface="Consolas"/>
                          <a:sym typeface="Consolas"/>
                        </a:rPr>
                        <a:t>()</a:t>
                      </a:r>
                      <a:endParaRPr>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lang="en">
                          <a:solidFill>
                            <a:schemeClr val="dk1"/>
                          </a:solidFill>
                          <a:latin typeface="Consolas"/>
                          <a:ea typeface="Consolas"/>
                          <a:cs typeface="Consolas"/>
                          <a:sym typeface="Consolas"/>
                        </a:rPr>
                        <a:t>int main() {</a:t>
                      </a:r>
                      <a:endParaRPr>
                        <a:solidFill>
                          <a:schemeClr val="dk1"/>
                        </a:solidFill>
                        <a:latin typeface="Consolas"/>
                        <a:ea typeface="Consolas"/>
                        <a:cs typeface="Consolas"/>
                        <a:sym typeface="Consolas"/>
                      </a:endParaRPr>
                    </a:p>
                  </a:txBody>
                  <a:tcPr marT="63500" marB="63500" marR="63500" marL="635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dk1"/>
                      </a:solidFill>
                      <a:prstDash val="solid"/>
                      <a:round/>
                      <a:headEnd len="sm" w="sm" type="none"/>
                      <a:tailEnd len="sm" w="sm" type="none"/>
                    </a:lnB>
                    <a:noFill/>
                  </a:tcPr>
                </a:tc>
              </a:tr>
              <a:tr h="660150">
                <a:tc>
                  <a:txBody>
                    <a:bodyPr/>
                    <a:lstStyle/>
                    <a:p>
                      <a:pPr indent="0" lvl="0" marL="0" rtl="0" algn="l">
                        <a:lnSpc>
                          <a:spcPct val="115000"/>
                        </a:lnSpc>
                        <a:spcBef>
                          <a:spcPts val="0"/>
                        </a:spcBef>
                        <a:spcAft>
                          <a:spcPts val="0"/>
                        </a:spcAft>
                        <a:buNone/>
                      </a:pPr>
                      <a:r>
                        <a:t/>
                      </a:r>
                      <a:endParaRPr>
                        <a:solidFill>
                          <a:srgbClr val="FF0000"/>
                        </a:solidFill>
                        <a:latin typeface="Consolas"/>
                        <a:ea typeface="Consolas"/>
                        <a:cs typeface="Consolas"/>
                        <a:sym typeface="Consolas"/>
                      </a:endParaRPr>
                    </a:p>
                  </a:txBody>
                  <a:tcPr marT="63500" marB="63500" marR="63500" marL="635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r>
              <a:tr h="397450">
                <a:tc>
                  <a:txBody>
                    <a:bodyPr/>
                    <a:lstStyle/>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onsolas"/>
                        <a:ea typeface="Consolas"/>
                        <a:cs typeface="Consolas"/>
                        <a:sym typeface="Consolas"/>
                      </a:endParaRPr>
                    </a:p>
                  </a:txBody>
                  <a:tcPr marT="63500" marB="63500" marR="63500" marL="635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lt1"/>
                      </a:solidFill>
                      <a:prstDash val="solid"/>
                      <a:round/>
                      <a:headEnd len="sm" w="sm" type="none"/>
                      <a:tailEnd len="sm" w="sm" type="none"/>
                    </a:lnB>
                    <a:noFill/>
                  </a:tcPr>
                </a:tc>
              </a:tr>
            </a:tbl>
          </a:graphicData>
        </a:graphic>
      </p:graphicFrame>
      <p:graphicFrame>
        <p:nvGraphicFramePr>
          <p:cNvPr id="90" name="Google Shape;90;p17"/>
          <p:cNvGraphicFramePr/>
          <p:nvPr/>
        </p:nvGraphicFramePr>
        <p:xfrm>
          <a:off x="287988" y="2760250"/>
          <a:ext cx="3000000" cy="3000000"/>
        </p:xfrm>
        <a:graphic>
          <a:graphicData uri="http://schemas.openxmlformats.org/drawingml/2006/table">
            <a:tbl>
              <a:tblPr>
                <a:noFill/>
                <a:tableStyleId>{A0505F16-E8CE-4040-8224-7A68279C112B}</a:tableStyleId>
              </a:tblPr>
              <a:tblGrid>
                <a:gridCol w="7196400"/>
              </a:tblGrid>
              <a:tr h="912800">
                <a:tc>
                  <a:txBody>
                    <a:bodyPr/>
                    <a:lstStyle/>
                    <a:p>
                      <a:pPr indent="0" lvl="0" marL="0" rtl="0" algn="l">
                        <a:lnSpc>
                          <a:spcPct val="115000"/>
                        </a:lnSpc>
                        <a:spcBef>
                          <a:spcPts val="0"/>
                        </a:spcBef>
                        <a:spcAft>
                          <a:spcPts val="0"/>
                        </a:spcAft>
                        <a:buNone/>
                      </a:pPr>
                      <a:r>
                        <a:rPr lang="en">
                          <a:solidFill>
                            <a:schemeClr val="dk1"/>
                          </a:solidFill>
                          <a:latin typeface="Consolas"/>
                          <a:ea typeface="Consolas"/>
                          <a:cs typeface="Consolas"/>
                          <a:sym typeface="Consolas"/>
                        </a:rPr>
                        <a:t>// Another main function containing a </a:t>
                      </a:r>
                      <a:r>
                        <a:rPr i="1" lang="en">
                          <a:solidFill>
                            <a:schemeClr val="dk1"/>
                          </a:solidFill>
                          <a:latin typeface="Consolas"/>
                          <a:ea typeface="Consolas"/>
                          <a:cs typeface="Consolas"/>
                          <a:sym typeface="Consolas"/>
                        </a:rPr>
                        <a:t>different</a:t>
                      </a:r>
                      <a:r>
                        <a:rPr lang="en">
                          <a:solidFill>
                            <a:schemeClr val="dk1"/>
                          </a:solidFill>
                          <a:latin typeface="Consolas"/>
                          <a:ea typeface="Consolas"/>
                          <a:cs typeface="Consolas"/>
                          <a:sym typeface="Consolas"/>
                        </a:rPr>
                        <a:t> test case for</a:t>
                      </a:r>
                      <a:r>
                        <a:rPr lang="en">
                          <a:solidFill>
                            <a:schemeClr val="dk1"/>
                          </a:solidFill>
                          <a:latin typeface="Consolas"/>
                          <a:ea typeface="Consolas"/>
                          <a:cs typeface="Consolas"/>
                          <a:sym typeface="Consolas"/>
                        </a:rPr>
                        <a:t> </a:t>
                      </a:r>
                      <a:r>
                        <a:rPr lang="en" sz="1500">
                          <a:solidFill>
                            <a:schemeClr val="dk1"/>
                          </a:solidFill>
                          <a:latin typeface="Consolas"/>
                          <a:ea typeface="Consolas"/>
                          <a:cs typeface="Consolas"/>
                          <a:sym typeface="Consolas"/>
                        </a:rPr>
                        <a:t>count_if</a:t>
                      </a:r>
                      <a:r>
                        <a:rPr lang="en">
                          <a:solidFill>
                            <a:schemeClr val="dk1"/>
                          </a:solidFill>
                          <a:latin typeface="Consolas"/>
                          <a:ea typeface="Consolas"/>
                          <a:cs typeface="Consolas"/>
                          <a:sym typeface="Consolas"/>
                        </a:rPr>
                        <a:t>(), testing a different case.</a:t>
                      </a:r>
                      <a:endParaRPr>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lang="en">
                          <a:solidFill>
                            <a:schemeClr val="dk1"/>
                          </a:solidFill>
                          <a:latin typeface="Consolas"/>
                          <a:ea typeface="Consolas"/>
                          <a:cs typeface="Consolas"/>
                          <a:sym typeface="Consolas"/>
                        </a:rPr>
                        <a:t>int main() {</a:t>
                      </a:r>
                      <a:endParaRPr>
                        <a:solidFill>
                          <a:schemeClr val="dk1"/>
                        </a:solidFill>
                        <a:latin typeface="Consolas"/>
                        <a:ea typeface="Consolas"/>
                        <a:cs typeface="Consolas"/>
                        <a:sym typeface="Consolas"/>
                      </a:endParaRPr>
                    </a:p>
                  </a:txBody>
                  <a:tcPr marT="63500" marB="63500" marR="63500" marL="635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dk1"/>
                      </a:solidFill>
                      <a:prstDash val="solid"/>
                      <a:round/>
                      <a:headEnd len="sm" w="sm" type="none"/>
                      <a:tailEnd len="sm" w="sm" type="none"/>
                    </a:lnB>
                    <a:noFill/>
                  </a:tcPr>
                </a:tc>
              </a:tr>
              <a:tr h="660150">
                <a:tc>
                  <a:txBody>
                    <a:bodyPr/>
                    <a:lstStyle/>
                    <a:p>
                      <a:pPr indent="0" lvl="0" marL="0" rtl="0" algn="l">
                        <a:lnSpc>
                          <a:spcPct val="115000"/>
                        </a:lnSpc>
                        <a:spcBef>
                          <a:spcPts val="0"/>
                        </a:spcBef>
                        <a:spcAft>
                          <a:spcPts val="0"/>
                        </a:spcAft>
                        <a:buNone/>
                      </a:pPr>
                      <a:r>
                        <a:t/>
                      </a:r>
                      <a:endParaRPr>
                        <a:solidFill>
                          <a:srgbClr val="FF0000"/>
                        </a:solidFill>
                        <a:latin typeface="Consolas"/>
                        <a:ea typeface="Consolas"/>
                        <a:cs typeface="Consolas"/>
                        <a:sym typeface="Consolas"/>
                      </a:endParaRPr>
                    </a:p>
                  </a:txBody>
                  <a:tcPr marT="63500" marB="63500" marR="63500" marL="635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r>
              <a:tr h="397450">
                <a:tc>
                  <a:txBody>
                    <a:bodyPr/>
                    <a:lstStyle/>
                    <a:p>
                      <a:pPr indent="0" lvl="0" marL="0" rtl="0" algn="l">
                        <a:lnSpc>
                          <a:spcPct val="115000"/>
                        </a:lnSpc>
                        <a:spcBef>
                          <a:spcPts val="0"/>
                        </a:spcBef>
                        <a:spcAft>
                          <a:spcPts val="0"/>
                        </a:spcAft>
                        <a:buNone/>
                      </a:pPr>
                      <a:r>
                        <a:rPr lang="en">
                          <a:solidFill>
                            <a:schemeClr val="dk1"/>
                          </a:solidFill>
                          <a:latin typeface="Consolas"/>
                          <a:ea typeface="Consolas"/>
                          <a:cs typeface="Consolas"/>
                          <a:sym typeface="Consolas"/>
                        </a:rPr>
                        <a:t>}</a:t>
                      </a:r>
                      <a:endParaRPr>
                        <a:solidFill>
                          <a:schemeClr val="dk1"/>
                        </a:solidFill>
                        <a:latin typeface="Consolas"/>
                        <a:ea typeface="Consolas"/>
                        <a:cs typeface="Consolas"/>
                        <a:sym typeface="Consolas"/>
                      </a:endParaRPr>
                    </a:p>
                  </a:txBody>
                  <a:tcPr marT="63500" marB="63500" marR="63500" marL="635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lt1"/>
                      </a:solidFill>
                      <a:prstDash val="solid"/>
                      <a:round/>
                      <a:headEnd len="sm" w="sm" type="none"/>
                      <a:tailEnd len="sm" w="sm" type="none"/>
                    </a:lnB>
                    <a:noFill/>
                  </a:tcPr>
                </a:tc>
              </a:tr>
            </a:tbl>
          </a:graphicData>
        </a:graphic>
      </p:graphicFrame>
      <p:graphicFrame>
        <p:nvGraphicFramePr>
          <p:cNvPr id="91" name="Google Shape;91;p17"/>
          <p:cNvGraphicFramePr/>
          <p:nvPr/>
        </p:nvGraphicFramePr>
        <p:xfrm>
          <a:off x="287988" y="5186400"/>
          <a:ext cx="3000000" cy="3000000"/>
        </p:xfrm>
        <a:graphic>
          <a:graphicData uri="http://schemas.openxmlformats.org/drawingml/2006/table">
            <a:tbl>
              <a:tblPr>
                <a:noFill/>
                <a:tableStyleId>{A0505F16-E8CE-4040-8224-7A68279C112B}</a:tableStyleId>
              </a:tblPr>
              <a:tblGrid>
                <a:gridCol w="7196400"/>
              </a:tblGrid>
              <a:tr h="1216150">
                <a:tc>
                  <a:txBody>
                    <a:bodyPr/>
                    <a:lstStyle/>
                    <a:p>
                      <a:pPr indent="0" lvl="0" marL="0" rtl="0" algn="l">
                        <a:lnSpc>
                          <a:spcPct val="115000"/>
                        </a:lnSpc>
                        <a:spcBef>
                          <a:spcPts val="0"/>
                        </a:spcBef>
                        <a:spcAft>
                          <a:spcPts val="0"/>
                        </a:spcAft>
                        <a:buNone/>
                      </a:pPr>
                      <a:r>
                        <a:t/>
                      </a:r>
                      <a:endParaRPr>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t/>
                      </a:r>
                      <a:endParaRPr>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lang="en">
                          <a:solidFill>
                            <a:schemeClr val="dk1"/>
                          </a:solidFill>
                          <a:latin typeface="Consolas"/>
                          <a:ea typeface="Consolas"/>
                          <a:cs typeface="Consolas"/>
                          <a:sym typeface="Consolas"/>
                        </a:rPr>
                        <a:t>// A main function containing a test case for has_zero()</a:t>
                      </a:r>
                      <a:endParaRPr>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lang="en">
                          <a:solidFill>
                            <a:schemeClr val="dk1"/>
                          </a:solidFill>
                          <a:latin typeface="Consolas"/>
                          <a:ea typeface="Consolas"/>
                          <a:cs typeface="Consolas"/>
                          <a:sym typeface="Consolas"/>
                        </a:rPr>
                        <a:t>int main() {</a:t>
                      </a:r>
                      <a:endParaRPr>
                        <a:solidFill>
                          <a:schemeClr val="dk1"/>
                        </a:solidFill>
                        <a:latin typeface="Consolas"/>
                        <a:ea typeface="Consolas"/>
                        <a:cs typeface="Consolas"/>
                        <a:sym typeface="Consolas"/>
                      </a:endParaRPr>
                    </a:p>
                  </a:txBody>
                  <a:tcPr marT="63500" marB="63500" marR="63500" marL="635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dk1"/>
                      </a:solidFill>
                      <a:prstDash val="solid"/>
                      <a:round/>
                      <a:headEnd len="sm" w="sm" type="none"/>
                      <a:tailEnd len="sm" w="sm" type="none"/>
                    </a:lnB>
                    <a:noFill/>
                  </a:tcPr>
                </a:tc>
              </a:tr>
              <a:tr h="660150">
                <a:tc>
                  <a:txBody>
                    <a:bodyPr/>
                    <a:lstStyle/>
                    <a:p>
                      <a:pPr indent="0" lvl="0" marL="0" rtl="0" algn="l">
                        <a:lnSpc>
                          <a:spcPct val="115000"/>
                        </a:lnSpc>
                        <a:spcBef>
                          <a:spcPts val="0"/>
                        </a:spcBef>
                        <a:spcAft>
                          <a:spcPts val="0"/>
                        </a:spcAft>
                        <a:buNone/>
                      </a:pPr>
                      <a:r>
                        <a:t/>
                      </a:r>
                      <a:endParaRPr>
                        <a:solidFill>
                          <a:srgbClr val="FF0000"/>
                        </a:solidFill>
                        <a:latin typeface="Consolas"/>
                        <a:ea typeface="Consolas"/>
                        <a:cs typeface="Consolas"/>
                        <a:sym typeface="Consolas"/>
                      </a:endParaRPr>
                    </a:p>
                  </a:txBody>
                  <a:tcPr marT="63500" marB="63500" marR="63500" marL="635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r>
              <a:tr h="397450">
                <a:tc>
                  <a:txBody>
                    <a:bodyPr/>
                    <a:lstStyle/>
                    <a:p>
                      <a:pPr indent="0" lvl="0" marL="0" rtl="0" algn="l">
                        <a:lnSpc>
                          <a:spcPct val="115000"/>
                        </a:lnSpc>
                        <a:spcBef>
                          <a:spcPts val="0"/>
                        </a:spcBef>
                        <a:spcAft>
                          <a:spcPts val="0"/>
                        </a:spcAft>
                        <a:buNone/>
                      </a:pPr>
                      <a:r>
                        <a:rPr lang="en">
                          <a:solidFill>
                            <a:schemeClr val="dk1"/>
                          </a:solidFill>
                          <a:latin typeface="Consolas"/>
                          <a:ea typeface="Consolas"/>
                          <a:cs typeface="Consolas"/>
                          <a:sym typeface="Consolas"/>
                        </a:rPr>
                        <a:t>}</a:t>
                      </a:r>
                      <a:endParaRPr>
                        <a:solidFill>
                          <a:schemeClr val="dk1"/>
                        </a:solidFill>
                        <a:latin typeface="Consolas"/>
                        <a:ea typeface="Consolas"/>
                        <a:cs typeface="Consolas"/>
                        <a:sym typeface="Consolas"/>
                      </a:endParaRPr>
                    </a:p>
                  </a:txBody>
                  <a:tcPr marT="63500" marB="63500" marR="63500" marL="635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lt1"/>
                      </a:solidFill>
                      <a:prstDash val="solid"/>
                      <a:round/>
                      <a:headEnd len="sm" w="sm" type="none"/>
                      <a:tailEnd len="sm" w="sm" type="none"/>
                    </a:lnB>
                    <a:noFill/>
                  </a:tcPr>
                </a:tc>
              </a:tr>
            </a:tbl>
          </a:graphicData>
        </a:graphic>
      </p:graphicFrame>
      <p:sp>
        <p:nvSpPr>
          <p:cNvPr id="92" name="Google Shape;92;p17"/>
          <p:cNvSpPr txBox="1"/>
          <p:nvPr/>
        </p:nvSpPr>
        <p:spPr>
          <a:xfrm>
            <a:off x="288000" y="4806850"/>
            <a:ext cx="7196400" cy="6810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600"/>
              </a:spcBef>
              <a:spcAft>
                <a:spcPts val="0"/>
              </a:spcAft>
              <a:buClr>
                <a:srgbClr val="000000"/>
              </a:buClr>
              <a:buSzPts val="1500"/>
              <a:buFont typeface="Arial"/>
              <a:buNone/>
            </a:pPr>
            <a:r>
              <a:rPr lang="en" sz="1500"/>
              <a:t>Now do the same for the </a:t>
            </a:r>
            <a:r>
              <a:rPr lang="en" sz="1500">
                <a:latin typeface="Consolas"/>
                <a:ea typeface="Consolas"/>
                <a:cs typeface="Consolas"/>
                <a:sym typeface="Consolas"/>
              </a:rPr>
              <a:t>has_zero</a:t>
            </a:r>
            <a:r>
              <a:rPr lang="en" sz="1500">
                <a:latin typeface="Consolas"/>
                <a:ea typeface="Consolas"/>
                <a:cs typeface="Consolas"/>
                <a:sym typeface="Consolas"/>
              </a:rPr>
              <a:t>()</a:t>
            </a:r>
            <a:r>
              <a:rPr lang="en" sz="1500"/>
              <a:t> function. Create a vector with some sample data, and use </a:t>
            </a:r>
            <a:r>
              <a:rPr lang="en" sz="1500">
                <a:latin typeface="Consolas"/>
                <a:ea typeface="Consolas"/>
                <a:cs typeface="Consolas"/>
                <a:sym typeface="Consolas"/>
              </a:rPr>
              <a:t>assert()</a:t>
            </a:r>
            <a:r>
              <a:rPr lang="en" sz="1500"/>
              <a:t> to verify the function gives the expected outcome.</a:t>
            </a:r>
            <a:endParaRPr i="0" sz="1500" u="none" cap="none" strike="noStrike">
              <a:solidFill>
                <a:srgbClr val="000000"/>
              </a:solidFill>
            </a:endParaRPr>
          </a:p>
        </p:txBody>
      </p:sp>
      <p:graphicFrame>
        <p:nvGraphicFramePr>
          <p:cNvPr id="93" name="Google Shape;93;p17"/>
          <p:cNvGraphicFramePr/>
          <p:nvPr/>
        </p:nvGraphicFramePr>
        <p:xfrm>
          <a:off x="287988" y="7536350"/>
          <a:ext cx="3000000" cy="3000000"/>
        </p:xfrm>
        <a:graphic>
          <a:graphicData uri="http://schemas.openxmlformats.org/drawingml/2006/table">
            <a:tbl>
              <a:tblPr>
                <a:noFill/>
                <a:tableStyleId>{A0505F16-E8CE-4040-8224-7A68279C112B}</a:tableStyleId>
              </a:tblPr>
              <a:tblGrid>
                <a:gridCol w="7196400"/>
              </a:tblGrid>
              <a:tr h="912800">
                <a:tc>
                  <a:txBody>
                    <a:bodyPr/>
                    <a:lstStyle/>
                    <a:p>
                      <a:pPr indent="0" lvl="0" marL="0" rtl="0" algn="l">
                        <a:lnSpc>
                          <a:spcPct val="115000"/>
                        </a:lnSpc>
                        <a:spcBef>
                          <a:spcPts val="0"/>
                        </a:spcBef>
                        <a:spcAft>
                          <a:spcPts val="0"/>
                        </a:spcAft>
                        <a:buNone/>
                      </a:pPr>
                      <a:r>
                        <a:rPr lang="en">
                          <a:solidFill>
                            <a:schemeClr val="dk1"/>
                          </a:solidFill>
                          <a:latin typeface="Consolas"/>
                          <a:ea typeface="Consolas"/>
                          <a:cs typeface="Consolas"/>
                          <a:sym typeface="Consolas"/>
                        </a:rPr>
                        <a:t>// Another main function containing a </a:t>
                      </a:r>
                      <a:r>
                        <a:rPr i="1" lang="en">
                          <a:solidFill>
                            <a:schemeClr val="dk1"/>
                          </a:solidFill>
                          <a:latin typeface="Consolas"/>
                          <a:ea typeface="Consolas"/>
                          <a:cs typeface="Consolas"/>
                          <a:sym typeface="Consolas"/>
                        </a:rPr>
                        <a:t>different</a:t>
                      </a:r>
                      <a:r>
                        <a:rPr lang="en">
                          <a:solidFill>
                            <a:schemeClr val="dk1"/>
                          </a:solidFill>
                          <a:latin typeface="Consolas"/>
                          <a:ea typeface="Consolas"/>
                          <a:cs typeface="Consolas"/>
                          <a:sym typeface="Consolas"/>
                        </a:rPr>
                        <a:t> test case for has_zero(), testing a different case.</a:t>
                      </a:r>
                      <a:endParaRPr>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lang="en">
                          <a:solidFill>
                            <a:schemeClr val="dk1"/>
                          </a:solidFill>
                          <a:latin typeface="Consolas"/>
                          <a:ea typeface="Consolas"/>
                          <a:cs typeface="Consolas"/>
                          <a:sym typeface="Consolas"/>
                        </a:rPr>
                        <a:t>int main() {</a:t>
                      </a:r>
                      <a:endParaRPr>
                        <a:solidFill>
                          <a:schemeClr val="dk1"/>
                        </a:solidFill>
                        <a:latin typeface="Consolas"/>
                        <a:ea typeface="Consolas"/>
                        <a:cs typeface="Consolas"/>
                        <a:sym typeface="Consolas"/>
                      </a:endParaRPr>
                    </a:p>
                  </a:txBody>
                  <a:tcPr marT="63500" marB="63500" marR="63500" marL="635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dk1"/>
                      </a:solidFill>
                      <a:prstDash val="solid"/>
                      <a:round/>
                      <a:headEnd len="sm" w="sm" type="none"/>
                      <a:tailEnd len="sm" w="sm" type="none"/>
                    </a:lnB>
                    <a:noFill/>
                  </a:tcPr>
                </a:tc>
              </a:tr>
              <a:tr h="660150">
                <a:tc>
                  <a:txBody>
                    <a:bodyPr/>
                    <a:lstStyle/>
                    <a:p>
                      <a:pPr indent="0" lvl="0" marL="0" rtl="0" algn="l">
                        <a:lnSpc>
                          <a:spcPct val="115000"/>
                        </a:lnSpc>
                        <a:spcBef>
                          <a:spcPts val="0"/>
                        </a:spcBef>
                        <a:spcAft>
                          <a:spcPts val="0"/>
                        </a:spcAft>
                        <a:buNone/>
                      </a:pPr>
                      <a:r>
                        <a:t/>
                      </a:r>
                      <a:endParaRPr>
                        <a:solidFill>
                          <a:srgbClr val="FF0000"/>
                        </a:solidFill>
                        <a:latin typeface="Consolas"/>
                        <a:ea typeface="Consolas"/>
                        <a:cs typeface="Consolas"/>
                        <a:sym typeface="Consolas"/>
                      </a:endParaRPr>
                    </a:p>
                  </a:txBody>
                  <a:tcPr marT="63500" marB="63500" marR="63500" marL="635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r>
              <a:tr h="397450">
                <a:tc>
                  <a:txBody>
                    <a:bodyPr/>
                    <a:lstStyle/>
                    <a:p>
                      <a:pPr indent="0" lvl="0" marL="0" rtl="0" algn="l">
                        <a:lnSpc>
                          <a:spcPct val="115000"/>
                        </a:lnSpc>
                        <a:spcBef>
                          <a:spcPts val="0"/>
                        </a:spcBef>
                        <a:spcAft>
                          <a:spcPts val="0"/>
                        </a:spcAft>
                        <a:buNone/>
                      </a:pPr>
                      <a:r>
                        <a:rPr lang="en">
                          <a:solidFill>
                            <a:schemeClr val="dk1"/>
                          </a:solidFill>
                          <a:latin typeface="Consolas"/>
                          <a:ea typeface="Consolas"/>
                          <a:cs typeface="Consolas"/>
                          <a:sym typeface="Consolas"/>
                        </a:rPr>
                        <a:t>}</a:t>
                      </a:r>
                      <a:endParaRPr>
                        <a:solidFill>
                          <a:schemeClr val="dk1"/>
                        </a:solidFill>
                        <a:latin typeface="Consolas"/>
                        <a:ea typeface="Consolas"/>
                        <a:cs typeface="Consolas"/>
                        <a:sym typeface="Consolas"/>
                      </a:endParaRPr>
                    </a:p>
                  </a:txBody>
                  <a:tcPr marT="63500" marB="63500" marR="63500" marL="635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lt1"/>
                      </a:solidFill>
                      <a:prstDash val="solid"/>
                      <a:round/>
                      <a:headEnd len="sm" w="sm" type="none"/>
                      <a:tailEnd len="sm" w="sm" type="none"/>
                    </a:lnB>
                    <a:no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8"/>
          <p:cNvSpPr txBox="1"/>
          <p:nvPr/>
        </p:nvSpPr>
        <p:spPr>
          <a:xfrm>
            <a:off x="147675" y="146500"/>
            <a:ext cx="7350900" cy="483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lang="en" sz="1900">
                <a:solidFill>
                  <a:schemeClr val="dk1"/>
                </a:solidFill>
              </a:rPr>
              <a:t>1.4 </a:t>
            </a:r>
            <a:r>
              <a:rPr lang="en" sz="1900">
                <a:solidFill>
                  <a:schemeClr val="dk1"/>
                </a:solidFill>
              </a:rPr>
              <a:t>Getting Help in EECS 280</a:t>
            </a:r>
            <a:endParaRPr sz="1900">
              <a:solidFill>
                <a:schemeClr val="dk1"/>
              </a:solidFill>
            </a:endParaRPr>
          </a:p>
          <a:p>
            <a:pPr indent="0" lvl="0" marL="0" rtl="0" algn="l">
              <a:lnSpc>
                <a:spcPct val="115000"/>
              </a:lnSpc>
              <a:spcBef>
                <a:spcPts val="1000"/>
              </a:spcBef>
              <a:spcAft>
                <a:spcPts val="0"/>
              </a:spcAft>
              <a:buClr>
                <a:schemeClr val="dk1"/>
              </a:buClr>
              <a:buSzPts val="1100"/>
              <a:buFont typeface="Arial"/>
              <a:buNone/>
            </a:pPr>
            <a:r>
              <a:rPr lang="en">
                <a:solidFill>
                  <a:schemeClr val="dk1"/>
                </a:solidFill>
              </a:rPr>
              <a:t>One of the keys to success in EECS 280 is learning where to go when you need to figure something out, whether this is searching online or getting help from a staff member. Here are some available resources:</a:t>
            </a:r>
            <a:endParaRPr>
              <a:solidFill>
                <a:schemeClr val="dk1"/>
              </a:solidFill>
            </a:endParaRPr>
          </a:p>
          <a:p>
            <a:pPr indent="-317500" lvl="0" marL="457200" rtl="0" algn="l">
              <a:lnSpc>
                <a:spcPct val="115000"/>
              </a:lnSpc>
              <a:spcBef>
                <a:spcPts val="1000"/>
              </a:spcBef>
              <a:spcAft>
                <a:spcPts val="0"/>
              </a:spcAft>
              <a:buClr>
                <a:schemeClr val="dk1"/>
              </a:buClr>
              <a:buSzPts val="1400"/>
              <a:buAutoNum type="alphaUcPeriod"/>
            </a:pPr>
            <a:r>
              <a:rPr lang="en">
                <a:solidFill>
                  <a:schemeClr val="dk1"/>
                </a:solidFill>
              </a:rPr>
              <a:t>Ed Q&amp;A Forum</a:t>
            </a:r>
            <a:endParaRPr>
              <a:solidFill>
                <a:schemeClr val="dk1"/>
              </a:solidFill>
            </a:endParaRPr>
          </a:p>
          <a:p>
            <a:pPr indent="-317500" lvl="0" marL="457200" rtl="0" algn="l">
              <a:lnSpc>
                <a:spcPct val="115000"/>
              </a:lnSpc>
              <a:spcBef>
                <a:spcPts val="0"/>
              </a:spcBef>
              <a:spcAft>
                <a:spcPts val="0"/>
              </a:spcAft>
              <a:buClr>
                <a:schemeClr val="dk1"/>
              </a:buClr>
              <a:buSzPts val="1400"/>
              <a:buAutoNum type="alphaUcPeriod"/>
            </a:pPr>
            <a:r>
              <a:rPr lang="en">
                <a:solidFill>
                  <a:schemeClr val="dk1"/>
                </a:solidFill>
              </a:rPr>
              <a:t>Other students in the course</a:t>
            </a:r>
            <a:endParaRPr>
              <a:solidFill>
                <a:schemeClr val="dk1"/>
              </a:solidFill>
            </a:endParaRPr>
          </a:p>
          <a:p>
            <a:pPr indent="-317500" lvl="0" marL="457200" rtl="0" algn="l">
              <a:lnSpc>
                <a:spcPct val="115000"/>
              </a:lnSpc>
              <a:spcBef>
                <a:spcPts val="0"/>
              </a:spcBef>
              <a:spcAft>
                <a:spcPts val="0"/>
              </a:spcAft>
              <a:buClr>
                <a:schemeClr val="dk1"/>
              </a:buClr>
              <a:buSzPts val="1400"/>
              <a:buAutoNum type="alphaUcPeriod"/>
            </a:pPr>
            <a:r>
              <a:rPr lang="en">
                <a:solidFill>
                  <a:schemeClr val="dk1"/>
                </a:solidFill>
              </a:rPr>
              <a:t>Lab IA/GSI</a:t>
            </a:r>
            <a:endParaRPr>
              <a:solidFill>
                <a:schemeClr val="dk1"/>
              </a:solidFill>
            </a:endParaRPr>
          </a:p>
          <a:p>
            <a:pPr indent="-317500" lvl="0" marL="457200" rtl="0" algn="l">
              <a:lnSpc>
                <a:spcPct val="115000"/>
              </a:lnSpc>
              <a:spcBef>
                <a:spcPts val="0"/>
              </a:spcBef>
              <a:spcAft>
                <a:spcPts val="0"/>
              </a:spcAft>
              <a:buClr>
                <a:schemeClr val="dk1"/>
              </a:buClr>
              <a:buSzPts val="1400"/>
              <a:buAutoNum type="alphaUcPeriod"/>
            </a:pPr>
            <a:r>
              <a:rPr lang="en">
                <a:solidFill>
                  <a:schemeClr val="dk1"/>
                </a:solidFill>
              </a:rPr>
              <a:t>Office Hours</a:t>
            </a:r>
            <a:endParaRPr>
              <a:solidFill>
                <a:schemeClr val="dk1"/>
              </a:solidFill>
            </a:endParaRPr>
          </a:p>
          <a:p>
            <a:pPr indent="-317500" lvl="0" marL="457200" rtl="0" algn="l">
              <a:lnSpc>
                <a:spcPct val="115000"/>
              </a:lnSpc>
              <a:spcBef>
                <a:spcPts val="0"/>
              </a:spcBef>
              <a:spcAft>
                <a:spcPts val="0"/>
              </a:spcAft>
              <a:buClr>
                <a:schemeClr val="dk1"/>
              </a:buClr>
              <a:buSzPts val="1400"/>
              <a:buAutoNum type="alphaUcPeriod"/>
            </a:pPr>
            <a:r>
              <a:rPr lang="en">
                <a:solidFill>
                  <a:schemeClr val="dk1"/>
                </a:solidFill>
              </a:rPr>
              <a:t>"Proffice Hours" (Professor Office Hours)</a:t>
            </a:r>
            <a:endParaRPr>
              <a:solidFill>
                <a:schemeClr val="dk1"/>
              </a:solidFill>
            </a:endParaRPr>
          </a:p>
          <a:p>
            <a:pPr indent="-317500" lvl="0" marL="457200" rtl="0" algn="l">
              <a:lnSpc>
                <a:spcPct val="115000"/>
              </a:lnSpc>
              <a:spcBef>
                <a:spcPts val="0"/>
              </a:spcBef>
              <a:spcAft>
                <a:spcPts val="0"/>
              </a:spcAft>
              <a:buClr>
                <a:schemeClr val="dk1"/>
              </a:buClr>
              <a:buSzPts val="1400"/>
              <a:buAutoNum type="alphaUcPeriod"/>
            </a:pPr>
            <a:r>
              <a:rPr lang="en">
                <a:solidFill>
                  <a:schemeClr val="dk1"/>
                </a:solidFill>
              </a:rPr>
              <a:t>Searching online (search engine, stackoverflow.com, online C++ references, etc.)</a:t>
            </a:r>
            <a:endParaRPr>
              <a:solidFill>
                <a:schemeClr val="dk1"/>
              </a:solidFill>
            </a:endParaRPr>
          </a:p>
          <a:p>
            <a:pPr indent="-317500" lvl="0" marL="457200" rtl="0" algn="l">
              <a:lnSpc>
                <a:spcPct val="115000"/>
              </a:lnSpc>
              <a:spcBef>
                <a:spcPts val="0"/>
              </a:spcBef>
              <a:spcAft>
                <a:spcPts val="0"/>
              </a:spcAft>
              <a:buClr>
                <a:schemeClr val="dk1"/>
              </a:buClr>
              <a:buSzPts val="1400"/>
              <a:buAutoNum type="alphaUcPeriod"/>
            </a:pPr>
            <a:r>
              <a:rPr lang="en">
                <a:solidFill>
                  <a:schemeClr val="dk1"/>
                </a:solidFill>
              </a:rPr>
              <a:t>Generative AI (e.g. ChatGPT)</a:t>
            </a:r>
            <a:endParaRPr>
              <a:solidFill>
                <a:schemeClr val="dk1"/>
              </a:solidFill>
            </a:endParaRPr>
          </a:p>
          <a:p>
            <a:pPr indent="-317500" lvl="0" marL="457200" rtl="0" algn="l">
              <a:lnSpc>
                <a:spcPct val="115000"/>
              </a:lnSpc>
              <a:spcBef>
                <a:spcPts val="0"/>
              </a:spcBef>
              <a:spcAft>
                <a:spcPts val="0"/>
              </a:spcAft>
              <a:buClr>
                <a:schemeClr val="dk1"/>
              </a:buClr>
              <a:buSzPts val="1400"/>
              <a:buAutoNum type="alphaUcPeriod"/>
            </a:pPr>
            <a:r>
              <a:rPr lang="en">
                <a:solidFill>
                  <a:schemeClr val="dk1"/>
                </a:solidFill>
              </a:rPr>
              <a:t>Debugging Tools: Visual Debugger, Sanitizer Tools, Leak Checker</a:t>
            </a:r>
            <a:endParaRPr>
              <a:solidFill>
                <a:schemeClr val="dk1"/>
              </a:solidFill>
            </a:endParaRPr>
          </a:p>
          <a:p>
            <a:pPr indent="-317500" lvl="0" marL="457200" rtl="0" algn="l">
              <a:lnSpc>
                <a:spcPct val="115000"/>
              </a:lnSpc>
              <a:spcBef>
                <a:spcPts val="0"/>
              </a:spcBef>
              <a:spcAft>
                <a:spcPts val="0"/>
              </a:spcAft>
              <a:buClr>
                <a:schemeClr val="dk1"/>
              </a:buClr>
              <a:buSzPts val="1400"/>
              <a:buAutoNum type="alphaUcPeriod"/>
            </a:pPr>
            <a:r>
              <a:rPr lang="en">
                <a:solidFill>
                  <a:schemeClr val="dk1"/>
                </a:solidFill>
              </a:rPr>
              <a:t>Administrative Request Forms on eecs280.org</a:t>
            </a:r>
            <a:endParaRPr>
              <a:solidFill>
                <a:schemeClr val="dk1"/>
              </a:solidFill>
            </a:endParaRPr>
          </a:p>
          <a:p>
            <a:pPr indent="-317500" lvl="0" marL="457200" rtl="0" algn="l">
              <a:lnSpc>
                <a:spcPct val="115000"/>
              </a:lnSpc>
              <a:spcBef>
                <a:spcPts val="0"/>
              </a:spcBef>
              <a:spcAft>
                <a:spcPts val="0"/>
              </a:spcAft>
              <a:buClr>
                <a:schemeClr val="dk1"/>
              </a:buClr>
              <a:buSzPts val="1400"/>
              <a:buAutoNum type="alphaUcPeriod"/>
            </a:pPr>
            <a:r>
              <a:rPr lang="en">
                <a:solidFill>
                  <a:schemeClr val="dk1"/>
                </a:solidFill>
              </a:rPr>
              <a:t>Email professor or course staff (for </a:t>
            </a:r>
            <a:r>
              <a:rPr lang="en" u="sng">
                <a:solidFill>
                  <a:schemeClr val="dk1"/>
                </a:solidFill>
              </a:rPr>
              <a:t>non</a:t>
            </a:r>
            <a:r>
              <a:rPr lang="en">
                <a:solidFill>
                  <a:schemeClr val="dk1"/>
                </a:solidFill>
              </a:rPr>
              <a:t>-course content/project related questions)</a:t>
            </a:r>
            <a:endParaRPr>
              <a:solidFill>
                <a:schemeClr val="dk1"/>
              </a:solidFill>
            </a:endParaRPr>
          </a:p>
          <a:p>
            <a:pPr indent="-317500" lvl="0" marL="457200" rtl="0" algn="l">
              <a:lnSpc>
                <a:spcPct val="115000"/>
              </a:lnSpc>
              <a:spcBef>
                <a:spcPts val="0"/>
              </a:spcBef>
              <a:spcAft>
                <a:spcPts val="0"/>
              </a:spcAft>
              <a:buClr>
                <a:schemeClr val="dk1"/>
              </a:buClr>
              <a:buSzPts val="1400"/>
              <a:buAutoNum type="alphaUcPeriod"/>
            </a:pPr>
            <a:r>
              <a:rPr lang="en">
                <a:solidFill>
                  <a:schemeClr val="dk1"/>
                </a:solidFill>
              </a:rPr>
              <a:t>EECS 280 Discord</a:t>
            </a:r>
            <a:endParaRPr>
              <a:solidFill>
                <a:schemeClr val="dk1"/>
              </a:solidFill>
            </a:endParaRPr>
          </a:p>
          <a:p>
            <a:pPr indent="0" lvl="0" marL="0" rtl="0" algn="l">
              <a:lnSpc>
                <a:spcPct val="115000"/>
              </a:lnSpc>
              <a:spcBef>
                <a:spcPts val="1000"/>
              </a:spcBef>
              <a:spcAft>
                <a:spcPts val="0"/>
              </a:spcAft>
              <a:buClr>
                <a:schemeClr val="dk1"/>
              </a:buClr>
              <a:buSzPts val="1100"/>
              <a:buFont typeface="Arial"/>
              <a:buNone/>
            </a:pPr>
            <a:r>
              <a:rPr lang="en">
                <a:solidFill>
                  <a:schemeClr val="dk1"/>
                </a:solidFill>
              </a:rPr>
              <a:t>Consider the appropriate resource(s) to use in the cases below. In some cases, there may be many appropriate resources. Record the letter(s) for each in the boxes below.</a:t>
            </a:r>
            <a:endParaRPr sz="1900">
              <a:solidFill>
                <a:schemeClr val="dk1"/>
              </a:solidFill>
            </a:endParaRPr>
          </a:p>
        </p:txBody>
      </p:sp>
      <p:graphicFrame>
        <p:nvGraphicFramePr>
          <p:cNvPr id="99" name="Google Shape;99;p18"/>
          <p:cNvGraphicFramePr/>
          <p:nvPr/>
        </p:nvGraphicFramePr>
        <p:xfrm>
          <a:off x="654825" y="4960750"/>
          <a:ext cx="3000000" cy="3000000"/>
        </p:xfrm>
        <a:graphic>
          <a:graphicData uri="http://schemas.openxmlformats.org/drawingml/2006/table">
            <a:tbl>
              <a:tblPr>
                <a:noFill/>
                <a:tableStyleId>{A0505F16-E8CE-4040-8224-7A68279C112B}</a:tableStyleId>
              </a:tblPr>
              <a:tblGrid>
                <a:gridCol w="3455400"/>
                <a:gridCol w="2934925"/>
              </a:tblGrid>
              <a:tr h="398300">
                <a:tc>
                  <a:txBody>
                    <a:bodyPr/>
                    <a:lstStyle/>
                    <a:p>
                      <a:pPr indent="0" lvl="0" marL="0" rtl="0" algn="l">
                        <a:spcBef>
                          <a:spcPts val="0"/>
                        </a:spcBef>
                        <a:spcAft>
                          <a:spcPts val="0"/>
                        </a:spcAft>
                        <a:buNone/>
                      </a:pPr>
                      <a:r>
                        <a:rPr b="1" lang="en" sz="1300"/>
                        <a:t>Question Type</a:t>
                      </a:r>
                      <a:endParaRPr b="1" sz="1300"/>
                    </a:p>
                  </a:txBody>
                  <a:tcPr marT="63500" marB="63500" marR="63500" marL="63500">
                    <a:noFill/>
                  </a:tcPr>
                </a:tc>
                <a:tc>
                  <a:txBody>
                    <a:bodyPr/>
                    <a:lstStyle/>
                    <a:p>
                      <a:pPr indent="0" lvl="0" marL="0" rtl="0" algn="l">
                        <a:spcBef>
                          <a:spcPts val="0"/>
                        </a:spcBef>
                        <a:spcAft>
                          <a:spcPts val="0"/>
                        </a:spcAft>
                        <a:buNone/>
                      </a:pPr>
                      <a:r>
                        <a:rPr b="1" lang="en" sz="1300"/>
                        <a:t>Best Resources to Use</a:t>
                      </a:r>
                      <a:endParaRPr b="1" sz="1300"/>
                    </a:p>
                  </a:txBody>
                  <a:tcPr marT="63500" marB="63500" marR="63500" marL="63500">
                    <a:noFill/>
                  </a:tcPr>
                </a:tc>
              </a:tr>
              <a:tr h="398300">
                <a:tc>
                  <a:txBody>
                    <a:bodyPr/>
                    <a:lstStyle/>
                    <a:p>
                      <a:pPr indent="0" lvl="0" marL="0" rtl="0" algn="l">
                        <a:spcBef>
                          <a:spcPts val="0"/>
                        </a:spcBef>
                        <a:spcAft>
                          <a:spcPts val="0"/>
                        </a:spcAft>
                        <a:buNone/>
                      </a:pPr>
                      <a:r>
                        <a:rPr lang="en" sz="1300"/>
                        <a:t>You get a compile error you don't recognize.</a:t>
                      </a:r>
                      <a:endParaRPr sz="1300"/>
                    </a:p>
                  </a:txBody>
                  <a:tcPr marT="63500" marB="63500" marR="63500" marL="63500">
                    <a:noFill/>
                  </a:tcPr>
                </a:tc>
                <a:tc>
                  <a:txBody>
                    <a:bodyPr/>
                    <a:lstStyle/>
                    <a:p>
                      <a:pPr indent="0" lvl="0" marL="0" rtl="0" algn="l">
                        <a:spcBef>
                          <a:spcPts val="0"/>
                        </a:spcBef>
                        <a:spcAft>
                          <a:spcPts val="0"/>
                        </a:spcAft>
                        <a:buClr>
                          <a:schemeClr val="dk1"/>
                        </a:buClr>
                        <a:buSzPts val="1100"/>
                        <a:buFont typeface="Arial"/>
                        <a:buNone/>
                      </a:pPr>
                      <a:r>
                        <a:t/>
                      </a:r>
                      <a:endParaRPr sz="1300"/>
                    </a:p>
                  </a:txBody>
                  <a:tcPr marT="63500" marB="63500" marR="63500" marL="63500">
                    <a:noFill/>
                  </a:tcPr>
                </a:tc>
              </a:tr>
              <a:tr h="483750">
                <a:tc>
                  <a:txBody>
                    <a:bodyPr/>
                    <a:lstStyle/>
                    <a:p>
                      <a:pPr indent="0" lvl="0" marL="0" rtl="0" algn="l">
                        <a:spcBef>
                          <a:spcPts val="0"/>
                        </a:spcBef>
                        <a:spcAft>
                          <a:spcPts val="0"/>
                        </a:spcAft>
                        <a:buNone/>
                      </a:pPr>
                      <a:r>
                        <a:rPr lang="en" sz="1300"/>
                        <a:t>You run into an error when setting up your computer for C++.</a:t>
                      </a:r>
                      <a:endParaRPr sz="1300"/>
                    </a:p>
                  </a:txBody>
                  <a:tcPr marT="63500" marB="63500" marR="63500" marL="63500">
                    <a:noFill/>
                  </a:tcPr>
                </a:tc>
                <a:tc>
                  <a:txBody>
                    <a:bodyPr/>
                    <a:lstStyle/>
                    <a:p>
                      <a:pPr indent="0" lvl="0" marL="0" rtl="0" algn="l">
                        <a:spcBef>
                          <a:spcPts val="0"/>
                        </a:spcBef>
                        <a:spcAft>
                          <a:spcPts val="0"/>
                        </a:spcAft>
                        <a:buClr>
                          <a:schemeClr val="dk1"/>
                        </a:buClr>
                        <a:buSzPts val="1100"/>
                        <a:buFont typeface="Arial"/>
                        <a:buNone/>
                      </a:pPr>
                      <a:r>
                        <a:t/>
                      </a:r>
                      <a:endParaRPr sz="1300">
                        <a:solidFill>
                          <a:srgbClr val="FF0000"/>
                        </a:solidFill>
                      </a:endParaRPr>
                    </a:p>
                  </a:txBody>
                  <a:tcPr marT="63500" marB="63500" marR="63500" marL="63500">
                    <a:noFill/>
                  </a:tcPr>
                </a:tc>
              </a:tr>
              <a:tr h="398300">
                <a:tc>
                  <a:txBody>
                    <a:bodyPr/>
                    <a:lstStyle/>
                    <a:p>
                      <a:pPr indent="0" lvl="0" marL="0" rtl="0" algn="l">
                        <a:spcBef>
                          <a:spcPts val="0"/>
                        </a:spcBef>
                        <a:spcAft>
                          <a:spcPts val="0"/>
                        </a:spcAft>
                        <a:buNone/>
                      </a:pPr>
                      <a:r>
                        <a:rPr lang="en" sz="1300"/>
                        <a:t>You're not sure where to start on a project.</a:t>
                      </a:r>
                      <a:endParaRPr sz="1300"/>
                    </a:p>
                  </a:txBody>
                  <a:tcPr marT="63500" marB="63500" marR="63500" marL="63500">
                    <a:noFill/>
                  </a:tcPr>
                </a:tc>
                <a:tc>
                  <a:txBody>
                    <a:bodyPr/>
                    <a:lstStyle/>
                    <a:p>
                      <a:pPr indent="0" lvl="0" marL="0" rtl="0" algn="l">
                        <a:spcBef>
                          <a:spcPts val="0"/>
                        </a:spcBef>
                        <a:spcAft>
                          <a:spcPts val="0"/>
                        </a:spcAft>
                        <a:buClr>
                          <a:schemeClr val="dk1"/>
                        </a:buClr>
                        <a:buSzPts val="1100"/>
                        <a:buFont typeface="Arial"/>
                        <a:buNone/>
                      </a:pPr>
                      <a:r>
                        <a:t/>
                      </a:r>
                      <a:endParaRPr sz="1300"/>
                    </a:p>
                  </a:txBody>
                  <a:tcPr marT="63500" marB="63500" marR="63500" marL="63500">
                    <a:noFill/>
                  </a:tcPr>
                </a:tc>
              </a:tr>
              <a:tr h="520250">
                <a:tc>
                  <a:txBody>
                    <a:bodyPr/>
                    <a:lstStyle/>
                    <a:p>
                      <a:pPr indent="0" lvl="0" marL="0" rtl="0" algn="l">
                        <a:spcBef>
                          <a:spcPts val="0"/>
                        </a:spcBef>
                        <a:spcAft>
                          <a:spcPts val="0"/>
                        </a:spcAft>
                        <a:buNone/>
                      </a:pPr>
                      <a:r>
                        <a:rPr lang="en" sz="1300"/>
                        <a:t>Your program's output doesn't match up on the public test.</a:t>
                      </a:r>
                      <a:endParaRPr sz="1300"/>
                    </a:p>
                  </a:txBody>
                  <a:tcPr marT="63500" marB="63500" marR="63500" marL="63500">
                    <a:noFill/>
                  </a:tcPr>
                </a:tc>
                <a:tc>
                  <a:txBody>
                    <a:bodyPr/>
                    <a:lstStyle/>
                    <a:p>
                      <a:pPr indent="0" lvl="0" marL="0" rtl="0" algn="l">
                        <a:spcBef>
                          <a:spcPts val="0"/>
                        </a:spcBef>
                        <a:spcAft>
                          <a:spcPts val="0"/>
                        </a:spcAft>
                        <a:buClr>
                          <a:schemeClr val="dk1"/>
                        </a:buClr>
                        <a:buSzPts val="1100"/>
                        <a:buFont typeface="Arial"/>
                        <a:buNone/>
                      </a:pPr>
                      <a:r>
                        <a:t/>
                      </a:r>
                      <a:endParaRPr sz="1300"/>
                    </a:p>
                  </a:txBody>
                  <a:tcPr marT="63500" marB="63500" marR="63500" marL="63500">
                    <a:noFill/>
                  </a:tcPr>
                </a:tc>
              </a:tr>
              <a:tr h="520250">
                <a:tc>
                  <a:txBody>
                    <a:bodyPr/>
                    <a:lstStyle/>
                    <a:p>
                      <a:pPr indent="0" lvl="0" marL="0" rtl="0" algn="l">
                        <a:spcBef>
                          <a:spcPts val="0"/>
                        </a:spcBef>
                        <a:spcAft>
                          <a:spcPts val="0"/>
                        </a:spcAft>
                        <a:buNone/>
                      </a:pPr>
                      <a:r>
                        <a:rPr lang="en" sz="1300"/>
                        <a:t>You're concerned about your grade in the course.</a:t>
                      </a:r>
                      <a:endParaRPr sz="1300"/>
                    </a:p>
                  </a:txBody>
                  <a:tcPr marT="63500" marB="63500" marR="63500" marL="63500">
                    <a:noFill/>
                  </a:tcPr>
                </a:tc>
                <a:tc>
                  <a:txBody>
                    <a:bodyPr/>
                    <a:lstStyle/>
                    <a:p>
                      <a:pPr indent="0" lvl="0" marL="0" rtl="0" algn="l">
                        <a:spcBef>
                          <a:spcPts val="0"/>
                        </a:spcBef>
                        <a:spcAft>
                          <a:spcPts val="0"/>
                        </a:spcAft>
                        <a:buClr>
                          <a:schemeClr val="dk1"/>
                        </a:buClr>
                        <a:buSzPts val="1100"/>
                        <a:buFont typeface="Arial"/>
                        <a:buNone/>
                      </a:pPr>
                      <a:r>
                        <a:t/>
                      </a:r>
                      <a:endParaRPr sz="1300"/>
                    </a:p>
                  </a:txBody>
                  <a:tcPr marT="63500" marB="63500" marR="63500" marL="63500">
                    <a:noFill/>
                  </a:tcPr>
                </a:tc>
              </a:tr>
              <a:tr h="543600">
                <a:tc>
                  <a:txBody>
                    <a:bodyPr/>
                    <a:lstStyle/>
                    <a:p>
                      <a:pPr indent="0" lvl="0" marL="0" rtl="0" algn="l">
                        <a:spcBef>
                          <a:spcPts val="0"/>
                        </a:spcBef>
                        <a:spcAft>
                          <a:spcPts val="0"/>
                        </a:spcAft>
                        <a:buNone/>
                      </a:pPr>
                      <a:r>
                        <a:rPr lang="en" sz="1300"/>
                        <a:t>Your project crashes with a segmentation fault and you're not sure where.</a:t>
                      </a:r>
                      <a:endParaRPr sz="1300"/>
                    </a:p>
                  </a:txBody>
                  <a:tcPr marT="63500" marB="63500" marR="63500" marL="63500">
                    <a:noFill/>
                  </a:tcPr>
                </a:tc>
                <a:tc>
                  <a:txBody>
                    <a:bodyPr/>
                    <a:lstStyle/>
                    <a:p>
                      <a:pPr indent="0" lvl="0" marL="0" rtl="0" algn="l">
                        <a:spcBef>
                          <a:spcPts val="0"/>
                        </a:spcBef>
                        <a:spcAft>
                          <a:spcPts val="0"/>
                        </a:spcAft>
                        <a:buClr>
                          <a:schemeClr val="dk1"/>
                        </a:buClr>
                        <a:buSzPts val="1100"/>
                        <a:buFont typeface="Arial"/>
                        <a:buNone/>
                      </a:pPr>
                      <a:r>
                        <a:t/>
                      </a:r>
                      <a:endParaRPr sz="1300"/>
                    </a:p>
                  </a:txBody>
                  <a:tcPr marT="63500" marB="63500" marR="63500" marL="63500">
                    <a:noFill/>
                  </a:tcPr>
                </a:tc>
              </a:tr>
              <a:tr h="398300">
                <a:tc>
                  <a:txBody>
                    <a:bodyPr/>
                    <a:lstStyle/>
                    <a:p>
                      <a:pPr indent="0" lvl="0" marL="0" rtl="0" algn="l">
                        <a:spcBef>
                          <a:spcPts val="0"/>
                        </a:spcBef>
                        <a:spcAft>
                          <a:spcPts val="0"/>
                        </a:spcAft>
                        <a:buNone/>
                      </a:pPr>
                      <a:r>
                        <a:rPr lang="en" sz="1300"/>
                        <a:t>You have a medical or personal emergency.</a:t>
                      </a:r>
                      <a:endParaRPr sz="1300"/>
                    </a:p>
                  </a:txBody>
                  <a:tcPr marT="63500" marB="63500" marR="63500" marL="63500">
                    <a:noFill/>
                  </a:tcPr>
                </a:tc>
                <a:tc>
                  <a:txBody>
                    <a:bodyPr/>
                    <a:lstStyle/>
                    <a:p>
                      <a:pPr indent="0" lvl="0" marL="0" rtl="0" algn="l">
                        <a:spcBef>
                          <a:spcPts val="0"/>
                        </a:spcBef>
                        <a:spcAft>
                          <a:spcPts val="0"/>
                        </a:spcAft>
                        <a:buClr>
                          <a:schemeClr val="dk1"/>
                        </a:buClr>
                        <a:buSzPts val="1100"/>
                        <a:buFont typeface="Arial"/>
                        <a:buNone/>
                      </a:pPr>
                      <a:r>
                        <a:t/>
                      </a:r>
                      <a:endParaRPr sz="1300"/>
                    </a:p>
                  </a:txBody>
                  <a:tcPr marT="63500" marB="63500" marR="63500" marL="63500">
                    <a:noFill/>
                  </a:tcPr>
                </a:tc>
              </a:tr>
              <a:tr h="520250">
                <a:tc>
                  <a:txBody>
                    <a:bodyPr/>
                    <a:lstStyle/>
                    <a:p>
                      <a:pPr indent="0" lvl="0" marL="0" rtl="0" algn="l">
                        <a:spcBef>
                          <a:spcPts val="0"/>
                        </a:spcBef>
                        <a:spcAft>
                          <a:spcPts val="0"/>
                        </a:spcAft>
                        <a:buNone/>
                      </a:pPr>
                      <a:r>
                        <a:rPr lang="en" sz="1300"/>
                        <a:t>Your code passes the public tests in your IDE but fails them on the Autograder.</a:t>
                      </a:r>
                      <a:endParaRPr sz="1300"/>
                    </a:p>
                  </a:txBody>
                  <a:tcPr marT="63500" marB="63500" marR="63500" marL="63500">
                    <a:noFill/>
                  </a:tcPr>
                </a:tc>
                <a:tc>
                  <a:txBody>
                    <a:bodyPr/>
                    <a:lstStyle/>
                    <a:p>
                      <a:pPr indent="0" lvl="0" marL="0" rtl="0" algn="l">
                        <a:spcBef>
                          <a:spcPts val="0"/>
                        </a:spcBef>
                        <a:spcAft>
                          <a:spcPts val="0"/>
                        </a:spcAft>
                        <a:buClr>
                          <a:schemeClr val="dk1"/>
                        </a:buClr>
                        <a:buSzPts val="1100"/>
                        <a:buFont typeface="Arial"/>
                        <a:buNone/>
                      </a:pPr>
                      <a:r>
                        <a:t/>
                      </a:r>
                      <a:endParaRPr sz="1300"/>
                    </a:p>
                  </a:txBody>
                  <a:tcPr marT="63500" marB="63500" marR="63500" marL="63500">
                    <a:noFill/>
                  </a:tcPr>
                </a:tc>
              </a:tr>
            </a:tbl>
          </a:graphicData>
        </a:graphic>
      </p:graphicFrame>
      <p:sp>
        <p:nvSpPr>
          <p:cNvPr id="100" name="Google Shape;100;p18"/>
          <p:cNvSpPr txBox="1"/>
          <p:nvPr/>
        </p:nvSpPr>
        <p:spPr>
          <a:xfrm>
            <a:off x="98100" y="9325850"/>
            <a:ext cx="7576200" cy="677100"/>
          </a:xfrm>
          <a:prstGeom prst="rect">
            <a:avLst/>
          </a:prstGeom>
          <a:solidFill>
            <a:srgbClr val="FFFF00"/>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1"/>
                </a:solidFill>
              </a:rPr>
              <a:t>You’ve reached the end of checkpoint 1! Let your instructor know you’re ready to check your work!</a:t>
            </a:r>
            <a:endParaRPr sz="1600">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graphicFrame>
        <p:nvGraphicFramePr>
          <p:cNvPr id="105" name="Google Shape;105;p19"/>
          <p:cNvGraphicFramePr/>
          <p:nvPr/>
        </p:nvGraphicFramePr>
        <p:xfrm>
          <a:off x="952500" y="7645338"/>
          <a:ext cx="3000000" cy="3000000"/>
        </p:xfrm>
        <a:graphic>
          <a:graphicData uri="http://schemas.openxmlformats.org/drawingml/2006/table">
            <a:tbl>
              <a:tblPr>
                <a:noFill/>
                <a:tableStyleId>{71AC3457-10E6-4857-A913-5A14E234D2E3}</a:tableStyleId>
              </a:tblPr>
              <a:tblGrid>
                <a:gridCol w="1466850"/>
                <a:gridCol w="1475250"/>
                <a:gridCol w="1458450"/>
                <a:gridCol w="1466850"/>
              </a:tblGrid>
              <a:tr h="381000">
                <a:tc>
                  <a:txBody>
                    <a:bodyPr/>
                    <a:lstStyle/>
                    <a:p>
                      <a:pPr indent="0" lvl="0" marL="0" rtl="0" algn="l">
                        <a:spcBef>
                          <a:spcPts val="0"/>
                        </a:spcBef>
                        <a:spcAft>
                          <a:spcPts val="0"/>
                        </a:spcAft>
                        <a:buNone/>
                      </a:pPr>
                      <a:r>
                        <a:rPr lang="en"/>
                        <a:t>apricot</a:t>
                      </a:r>
                      <a:endParaRPr/>
                    </a:p>
                  </a:txBody>
                  <a:tcPr marT="91425" marB="91425" marR="91425" marL="91425">
                    <a:noFill/>
                  </a:tcPr>
                </a:tc>
                <a:tc>
                  <a:txBody>
                    <a:bodyPr/>
                    <a:lstStyle/>
                    <a:p>
                      <a:pPr indent="0" lvl="0" marL="0" rtl="0" algn="l">
                        <a:spcBef>
                          <a:spcPts val="0"/>
                        </a:spcBef>
                        <a:spcAft>
                          <a:spcPts val="0"/>
                        </a:spcAft>
                        <a:buNone/>
                      </a:pPr>
                      <a:r>
                        <a:rPr lang="en"/>
                        <a:t>banana</a:t>
                      </a:r>
                      <a:endParaRPr/>
                    </a:p>
                  </a:txBody>
                  <a:tcPr marT="91425" marB="91425" marR="91425" marL="91425">
                    <a:noFill/>
                  </a:tcPr>
                </a:tc>
                <a:tc>
                  <a:txBody>
                    <a:bodyPr/>
                    <a:lstStyle/>
                    <a:p>
                      <a:pPr indent="0" lvl="0" marL="0" rtl="0" algn="l">
                        <a:spcBef>
                          <a:spcPts val="0"/>
                        </a:spcBef>
                        <a:spcAft>
                          <a:spcPts val="0"/>
                        </a:spcAft>
                        <a:buNone/>
                      </a:pPr>
                      <a:r>
                        <a:rPr lang="en"/>
                        <a:t>cantaloupe</a:t>
                      </a:r>
                      <a:endParaRPr/>
                    </a:p>
                  </a:txBody>
                  <a:tcPr marT="91425" marB="91425" marR="91425" marL="91425">
                    <a:noFill/>
                  </a:tcPr>
                </a:tc>
                <a:tc>
                  <a:txBody>
                    <a:bodyPr/>
                    <a:lstStyle/>
                    <a:p>
                      <a:pPr indent="0" lvl="0" marL="0" rtl="0" algn="l">
                        <a:spcBef>
                          <a:spcPts val="0"/>
                        </a:spcBef>
                        <a:spcAft>
                          <a:spcPts val="0"/>
                        </a:spcAft>
                        <a:buNone/>
                      </a:pPr>
                      <a:r>
                        <a:rPr lang="en"/>
                        <a:t>dragonfruit</a:t>
                      </a:r>
                      <a:endParaRPr/>
                    </a:p>
                  </a:txBody>
                  <a:tcPr marT="91425" marB="91425" marR="91425" marL="91425">
                    <a:noFill/>
                  </a:tcPr>
                </a:tc>
              </a:tr>
              <a:tr h="381000">
                <a:tc>
                  <a:txBody>
                    <a:bodyPr/>
                    <a:lstStyle/>
                    <a:p>
                      <a:pPr indent="0" lvl="0" marL="0" rtl="0" algn="l">
                        <a:spcBef>
                          <a:spcPts val="0"/>
                        </a:spcBef>
                        <a:spcAft>
                          <a:spcPts val="0"/>
                        </a:spcAft>
                        <a:buNone/>
                      </a:pPr>
                      <a:r>
                        <a:t/>
                      </a:r>
                      <a:endParaRPr/>
                    </a:p>
                  </a:txBody>
                  <a:tcPr marT="91425" marB="91425" marR="91425" marL="91425">
                    <a:noFill/>
                  </a:tcPr>
                </a:tc>
                <a:tc>
                  <a:txBody>
                    <a:bodyPr/>
                    <a:lstStyle/>
                    <a:p>
                      <a:pPr indent="0" lvl="0" marL="0" rtl="0" algn="l">
                        <a:spcBef>
                          <a:spcPts val="0"/>
                        </a:spcBef>
                        <a:spcAft>
                          <a:spcPts val="0"/>
                        </a:spcAft>
                        <a:buNone/>
                      </a:pPr>
                      <a:r>
                        <a:t/>
                      </a:r>
                      <a:endParaRPr/>
                    </a:p>
                  </a:txBody>
                  <a:tcPr marT="91425" marB="91425" marR="91425" marL="91425">
                    <a:noFill/>
                  </a:tcPr>
                </a:tc>
                <a:tc>
                  <a:txBody>
                    <a:bodyPr/>
                    <a:lstStyle/>
                    <a:p>
                      <a:pPr indent="0" lvl="0" marL="0" rtl="0" algn="l">
                        <a:spcBef>
                          <a:spcPts val="0"/>
                        </a:spcBef>
                        <a:spcAft>
                          <a:spcPts val="0"/>
                        </a:spcAft>
                        <a:buNone/>
                      </a:pPr>
                      <a:r>
                        <a:t/>
                      </a:r>
                      <a:endParaRPr/>
                    </a:p>
                  </a:txBody>
                  <a:tcPr marT="91425" marB="91425" marR="91425" marL="91425">
                    <a:noFill/>
                  </a:tcPr>
                </a:tc>
                <a:tc>
                  <a:txBody>
                    <a:bodyPr/>
                    <a:lstStyle/>
                    <a:p>
                      <a:pPr indent="0" lvl="0" marL="0" rtl="0" algn="l">
                        <a:spcBef>
                          <a:spcPts val="0"/>
                        </a:spcBef>
                        <a:spcAft>
                          <a:spcPts val="0"/>
                        </a:spcAft>
                        <a:buNone/>
                      </a:pPr>
                      <a:r>
                        <a:t/>
                      </a:r>
                      <a:endParaRPr/>
                    </a:p>
                  </a:txBody>
                  <a:tcPr marT="91425" marB="91425" marR="91425" marL="91425">
                    <a:noFill/>
                  </a:tcPr>
                </a:tc>
              </a:tr>
            </a:tbl>
          </a:graphicData>
        </a:graphic>
      </p:graphicFrame>
      <p:sp>
        <p:nvSpPr>
          <p:cNvPr id="106" name="Google Shape;106;p19"/>
          <p:cNvSpPr txBox="1"/>
          <p:nvPr/>
        </p:nvSpPr>
        <p:spPr>
          <a:xfrm>
            <a:off x="211650" y="8585025"/>
            <a:ext cx="7349100" cy="1152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a:solidFill>
                  <a:schemeClr val="dk1"/>
                </a:solidFill>
              </a:rPr>
              <a:t>Finally, run the following (replacing "fruit" with the name of your fruit) to enter a subfolder.</a:t>
            </a:r>
            <a:endParaRPr>
              <a:solidFill>
                <a:schemeClr val="dk1"/>
              </a:solidFill>
            </a:endParaRPr>
          </a:p>
          <a:p>
            <a:pPr indent="0" lvl="0" marL="0" rtl="0" algn="l">
              <a:lnSpc>
                <a:spcPct val="115000"/>
              </a:lnSpc>
              <a:spcBef>
                <a:spcPts val="1000"/>
              </a:spcBef>
              <a:spcAft>
                <a:spcPts val="0"/>
              </a:spcAft>
              <a:buNone/>
            </a:pPr>
            <a:r>
              <a:rPr lang="en">
                <a:solidFill>
                  <a:schemeClr val="dk1"/>
                </a:solidFill>
                <a:latin typeface="Consolas"/>
                <a:ea typeface="Consolas"/>
                <a:cs typeface="Consolas"/>
                <a:sym typeface="Consolas"/>
              </a:rPr>
              <a:t>  cd fruit</a:t>
            </a:r>
            <a:endParaRPr>
              <a:solidFill>
                <a:schemeClr val="dk1"/>
              </a:solidFill>
              <a:latin typeface="Consolas"/>
              <a:ea typeface="Consolas"/>
              <a:cs typeface="Consolas"/>
              <a:sym typeface="Consolas"/>
            </a:endParaRPr>
          </a:p>
          <a:p>
            <a:pPr indent="0" lvl="0" marL="0" rtl="0" algn="l">
              <a:lnSpc>
                <a:spcPct val="115000"/>
              </a:lnSpc>
              <a:spcBef>
                <a:spcPts val="1000"/>
              </a:spcBef>
              <a:spcAft>
                <a:spcPts val="1000"/>
              </a:spcAft>
              <a:buNone/>
            </a:pPr>
            <a:r>
              <a:rPr lang="en">
                <a:solidFill>
                  <a:schemeClr val="dk1"/>
                </a:solidFill>
              </a:rPr>
              <a:t>Once you're all set, continue your command-line adventure on the following page...</a:t>
            </a:r>
            <a:endParaRPr>
              <a:solidFill>
                <a:schemeClr val="dk1"/>
              </a:solidFill>
            </a:endParaRPr>
          </a:p>
        </p:txBody>
      </p:sp>
      <p:sp>
        <p:nvSpPr>
          <p:cNvPr id="107" name="Google Shape;107;p19"/>
          <p:cNvSpPr txBox="1"/>
          <p:nvPr/>
        </p:nvSpPr>
        <p:spPr>
          <a:xfrm>
            <a:off x="220050" y="276750"/>
            <a:ext cx="7349100" cy="7368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900">
                <a:solidFill>
                  <a:schemeClr val="dk1"/>
                </a:solidFill>
              </a:rPr>
              <a:t>1.5 Command-Line Interface Scavenger Hunt</a:t>
            </a:r>
            <a:br>
              <a:rPr lang="en" sz="1900">
                <a:solidFill>
                  <a:schemeClr val="dk1"/>
                </a:solidFill>
              </a:rPr>
            </a:br>
            <a:r>
              <a:rPr lang="en">
                <a:solidFill>
                  <a:schemeClr val="dk1"/>
                </a:solidFill>
              </a:rPr>
              <a:t>Using a Command-Line Interface (CLI), sometimes called a "terminal" or "shell", can be intimidating at first, but you can become a pro with practice. This exercise is structured as a "scavenger hunt" where your group will use some fundamental terminal commands to find and uncover some hidden secrets in a set of starter files.</a:t>
            </a:r>
            <a:endParaRPr>
              <a:solidFill>
                <a:schemeClr val="dk1"/>
              </a:solidFill>
            </a:endParaRPr>
          </a:p>
          <a:p>
            <a:pPr indent="0" lvl="0" marL="0" rtl="0" algn="l">
              <a:lnSpc>
                <a:spcPct val="115000"/>
              </a:lnSpc>
              <a:spcBef>
                <a:spcPts val="600"/>
              </a:spcBef>
              <a:spcAft>
                <a:spcPts val="0"/>
              </a:spcAft>
              <a:buNone/>
            </a:pPr>
            <a:r>
              <a:rPr lang="en">
                <a:solidFill>
                  <a:schemeClr val="dk1"/>
                </a:solidFill>
              </a:rPr>
              <a:t>To participate in this exercise, you'll need to have completed at least step 1 of our setup tutorial (</a:t>
            </a:r>
            <a:r>
              <a:rPr lang="en" u="sng">
                <a:solidFill>
                  <a:schemeClr val="hlink"/>
                </a:solidFill>
                <a:hlinkClick r:id="rId3"/>
              </a:rPr>
              <a:t>https://eecs280staff.github.io/tutorials/</a:t>
            </a:r>
            <a:r>
              <a:rPr lang="en">
                <a:solidFill>
                  <a:schemeClr val="dk1"/>
                </a:solidFill>
              </a:rPr>
              <a:t>) to install command line tools.</a:t>
            </a:r>
            <a:endParaRPr>
              <a:solidFill>
                <a:schemeClr val="dk1"/>
              </a:solidFill>
            </a:endParaRPr>
          </a:p>
          <a:p>
            <a:pPr indent="0" lvl="0" marL="0" rtl="0" algn="l">
              <a:lnSpc>
                <a:spcPct val="115000"/>
              </a:lnSpc>
              <a:spcBef>
                <a:spcPts val="1000"/>
              </a:spcBef>
              <a:spcAft>
                <a:spcPts val="0"/>
              </a:spcAft>
              <a:buNone/>
            </a:pPr>
            <a:r>
              <a:rPr lang="en">
                <a:solidFill>
                  <a:schemeClr val="dk1"/>
                </a:solidFill>
              </a:rPr>
              <a:t>Verify you have the tools you'll need by opening a terminal and running:</a:t>
            </a:r>
            <a:endParaRPr>
              <a:solidFill>
                <a:schemeClr val="dk1"/>
              </a:solidFill>
            </a:endParaRPr>
          </a:p>
          <a:p>
            <a:pPr indent="0" lvl="0" marL="0" rtl="0" algn="l">
              <a:lnSpc>
                <a:spcPct val="115000"/>
              </a:lnSpc>
              <a:spcBef>
                <a:spcPts val="1000"/>
              </a:spcBef>
              <a:spcAft>
                <a:spcPts val="0"/>
              </a:spcAft>
              <a:buNone/>
            </a:pPr>
            <a:r>
              <a:rPr lang="en">
                <a:solidFill>
                  <a:schemeClr val="dk1"/>
                </a:solidFill>
                <a:latin typeface="Consolas"/>
                <a:ea typeface="Consolas"/>
                <a:cs typeface="Consolas"/>
                <a:sym typeface="Consolas"/>
              </a:rPr>
              <a:t>  g++ --version</a:t>
            </a:r>
            <a:br>
              <a:rPr lang="en">
                <a:solidFill>
                  <a:schemeClr val="dk1"/>
                </a:solidFill>
                <a:latin typeface="Consolas"/>
                <a:ea typeface="Consolas"/>
                <a:cs typeface="Consolas"/>
                <a:sym typeface="Consolas"/>
              </a:rPr>
            </a:br>
            <a:r>
              <a:rPr lang="en">
                <a:solidFill>
                  <a:schemeClr val="dk1"/>
                </a:solidFill>
                <a:latin typeface="Consolas"/>
                <a:ea typeface="Consolas"/>
                <a:cs typeface="Consolas"/>
                <a:sym typeface="Consolas"/>
              </a:rPr>
              <a:t>  git --version</a:t>
            </a:r>
            <a:endParaRPr>
              <a:solidFill>
                <a:schemeClr val="dk1"/>
              </a:solidFill>
              <a:latin typeface="Consolas"/>
              <a:ea typeface="Consolas"/>
              <a:cs typeface="Consolas"/>
              <a:sym typeface="Consolas"/>
            </a:endParaRPr>
          </a:p>
          <a:p>
            <a:pPr indent="0" lvl="0" marL="0" rtl="0" algn="l">
              <a:lnSpc>
                <a:spcPct val="115000"/>
              </a:lnSpc>
              <a:spcBef>
                <a:spcPts val="1000"/>
              </a:spcBef>
              <a:spcAft>
                <a:spcPts val="0"/>
              </a:spcAft>
              <a:buNone/>
            </a:pPr>
            <a:r>
              <a:rPr lang="en">
                <a:solidFill>
                  <a:schemeClr val="dk1"/>
                </a:solidFill>
              </a:rPr>
              <a:t>If you see an error message for either, revisit the tutorial and install them.</a:t>
            </a:r>
            <a:endParaRPr>
              <a:solidFill>
                <a:schemeClr val="dk1"/>
              </a:solidFill>
            </a:endParaRPr>
          </a:p>
          <a:p>
            <a:pPr indent="0" lvl="0" marL="0" rtl="0" algn="l">
              <a:lnSpc>
                <a:spcPct val="115000"/>
              </a:lnSpc>
              <a:spcBef>
                <a:spcPts val="1000"/>
              </a:spcBef>
              <a:spcAft>
                <a:spcPts val="0"/>
              </a:spcAft>
              <a:buNone/>
            </a:pPr>
            <a:r>
              <a:rPr lang="en">
                <a:solidFill>
                  <a:schemeClr val="dk1"/>
                </a:solidFill>
              </a:rPr>
              <a:t>For this exercise, refer to </a:t>
            </a:r>
            <a:r>
              <a:rPr lang="en" u="sng">
                <a:solidFill>
                  <a:schemeClr val="accent5"/>
                </a:solidFill>
                <a:hlinkClick r:id="rId4">
                  <a:extLst>
                    <a:ext uri="{A12FA001-AC4F-418D-AE19-62706E023703}">
                      <ahyp:hlinkClr val="tx"/>
                    </a:ext>
                  </a:extLst>
                </a:hlinkClick>
              </a:rPr>
              <a:t>https://eecs280staff.github.io/tutorials/cli.html</a:t>
            </a:r>
            <a:r>
              <a:rPr lang="en">
                <a:solidFill>
                  <a:schemeClr val="dk1"/>
                </a:solidFill>
              </a:rPr>
              <a:t> as needed!</a:t>
            </a:r>
            <a:endParaRPr>
              <a:solidFill>
                <a:schemeClr val="dk1"/>
              </a:solidFill>
            </a:endParaRPr>
          </a:p>
          <a:p>
            <a:pPr indent="0" lvl="0" marL="0" rtl="0" algn="l">
              <a:lnSpc>
                <a:spcPct val="115000"/>
              </a:lnSpc>
              <a:spcBef>
                <a:spcPts val="600"/>
              </a:spcBef>
              <a:spcAft>
                <a:spcPts val="0"/>
              </a:spcAft>
              <a:buNone/>
            </a:pPr>
            <a:r>
              <a:rPr lang="en">
                <a:solidFill>
                  <a:schemeClr val="dk1"/>
                </a:solidFill>
              </a:rPr>
              <a:t>To get started, each group member should run the following:</a:t>
            </a:r>
            <a:endParaRPr>
              <a:solidFill>
                <a:schemeClr val="dk1"/>
              </a:solidFill>
            </a:endParaRPr>
          </a:p>
          <a:p>
            <a:pPr indent="0" lvl="0" marL="0" rtl="0" algn="l">
              <a:lnSpc>
                <a:spcPct val="115000"/>
              </a:lnSpc>
              <a:spcBef>
                <a:spcPts val="1000"/>
              </a:spcBef>
              <a:spcAft>
                <a:spcPts val="0"/>
              </a:spcAft>
              <a:buNone/>
            </a:pPr>
            <a:r>
              <a:rPr lang="en">
                <a:solidFill>
                  <a:schemeClr val="dk1"/>
                </a:solidFill>
                <a:latin typeface="Consolas"/>
                <a:ea typeface="Consolas"/>
                <a:cs typeface="Consolas"/>
                <a:sym typeface="Consolas"/>
              </a:rPr>
              <a:t>  mkdir -p ~/eecs280</a:t>
            </a:r>
            <a:br>
              <a:rPr lang="en">
                <a:solidFill>
                  <a:schemeClr val="dk1"/>
                </a:solidFill>
                <a:latin typeface="Consolas"/>
                <a:ea typeface="Consolas"/>
                <a:cs typeface="Consolas"/>
                <a:sym typeface="Consolas"/>
              </a:rPr>
            </a:br>
            <a:r>
              <a:rPr lang="en">
                <a:solidFill>
                  <a:schemeClr val="dk1"/>
                </a:solidFill>
                <a:latin typeface="Consolas"/>
                <a:ea typeface="Consolas"/>
                <a:cs typeface="Consolas"/>
                <a:sym typeface="Consolas"/>
              </a:rPr>
              <a:t>  cd ~/eecs280</a:t>
            </a:r>
            <a:br>
              <a:rPr lang="en">
                <a:solidFill>
                  <a:schemeClr val="dk1"/>
                </a:solidFill>
                <a:latin typeface="Consolas"/>
                <a:ea typeface="Consolas"/>
                <a:cs typeface="Consolas"/>
                <a:sym typeface="Consolas"/>
              </a:rPr>
            </a:br>
            <a:r>
              <a:rPr lang="en">
                <a:solidFill>
                  <a:schemeClr val="dk1"/>
                </a:solidFill>
                <a:latin typeface="Consolas"/>
                <a:ea typeface="Consolas"/>
                <a:cs typeface="Consolas"/>
                <a:sym typeface="Consolas"/>
              </a:rPr>
              <a:t>  git clone </a:t>
            </a:r>
            <a:r>
              <a:rPr lang="en" u="sng">
                <a:solidFill>
                  <a:schemeClr val="hlink"/>
                </a:solidFill>
                <a:latin typeface="Consolas"/>
                <a:ea typeface="Consolas"/>
                <a:cs typeface="Consolas"/>
                <a:sym typeface="Consolas"/>
                <a:hlinkClick r:id="rId5"/>
              </a:rPr>
              <a:t>https://github.com/jamesjuett/eecs280_cli_lab.git</a:t>
            </a:r>
            <a:br>
              <a:rPr lang="en">
                <a:solidFill>
                  <a:schemeClr val="dk1"/>
                </a:solidFill>
                <a:latin typeface="Consolas"/>
                <a:ea typeface="Consolas"/>
                <a:cs typeface="Consolas"/>
                <a:sym typeface="Consolas"/>
              </a:rPr>
            </a:br>
            <a:r>
              <a:rPr lang="en">
                <a:solidFill>
                  <a:schemeClr val="dk1"/>
                </a:solidFill>
                <a:latin typeface="Consolas"/>
                <a:ea typeface="Consolas"/>
                <a:cs typeface="Consolas"/>
                <a:sym typeface="Consolas"/>
              </a:rPr>
              <a:t>  cd eecs280_cli_lab</a:t>
            </a:r>
            <a:endParaRPr>
              <a:solidFill>
                <a:schemeClr val="dk1"/>
              </a:solidFill>
              <a:latin typeface="Consolas"/>
              <a:ea typeface="Consolas"/>
              <a:cs typeface="Consolas"/>
              <a:sym typeface="Consolas"/>
            </a:endParaRPr>
          </a:p>
          <a:p>
            <a:pPr indent="0" lvl="0" marL="0" rtl="0" algn="l">
              <a:lnSpc>
                <a:spcPct val="115000"/>
              </a:lnSpc>
              <a:spcBef>
                <a:spcPts val="1000"/>
              </a:spcBef>
              <a:spcAft>
                <a:spcPts val="0"/>
              </a:spcAft>
              <a:buNone/>
            </a:pPr>
            <a:r>
              <a:rPr lang="en">
                <a:solidFill>
                  <a:schemeClr val="dk1"/>
                </a:solidFill>
              </a:rPr>
              <a:t>This will create an eecs280 folder in your home directory (if you don't already have one), change to that folder, create a new subfolder with a copy of starter files for this exercise (downloaded from a GitHub repository), and change into the new folder.</a:t>
            </a:r>
            <a:endParaRPr>
              <a:solidFill>
                <a:schemeClr val="dk1"/>
              </a:solidFill>
            </a:endParaRPr>
          </a:p>
          <a:p>
            <a:pPr indent="0" lvl="0" marL="0" rtl="0" algn="l">
              <a:lnSpc>
                <a:spcPct val="115000"/>
              </a:lnSpc>
              <a:spcBef>
                <a:spcPts val="1000"/>
              </a:spcBef>
              <a:spcAft>
                <a:spcPts val="0"/>
              </a:spcAft>
              <a:buNone/>
            </a:pPr>
            <a:r>
              <a:rPr lang="en">
                <a:solidFill>
                  <a:schemeClr val="dk1"/>
                </a:solidFill>
              </a:rPr>
              <a:t>Double check by running the </a:t>
            </a:r>
            <a:r>
              <a:rPr lang="en">
                <a:solidFill>
                  <a:schemeClr val="dk1"/>
                </a:solidFill>
                <a:latin typeface="Consolas"/>
                <a:ea typeface="Consolas"/>
                <a:cs typeface="Consolas"/>
                <a:sym typeface="Consolas"/>
              </a:rPr>
              <a:t>pwd</a:t>
            </a:r>
            <a:r>
              <a:rPr lang="en">
                <a:solidFill>
                  <a:schemeClr val="dk1"/>
                </a:solidFill>
              </a:rPr>
              <a:t> and </a:t>
            </a:r>
            <a:r>
              <a:rPr lang="en">
                <a:solidFill>
                  <a:schemeClr val="dk1"/>
                </a:solidFill>
                <a:latin typeface="Consolas"/>
                <a:ea typeface="Consolas"/>
                <a:cs typeface="Consolas"/>
                <a:sym typeface="Consolas"/>
              </a:rPr>
              <a:t>ls</a:t>
            </a:r>
            <a:r>
              <a:rPr lang="en">
                <a:solidFill>
                  <a:schemeClr val="dk1"/>
                </a:solidFill>
              </a:rPr>
              <a:t> commands. You should see a path similar to /home/jjuett/eecs280/eecs280_cli_lab and a list of subfolders named after fruits.</a:t>
            </a:r>
            <a:endParaRPr>
              <a:solidFill>
                <a:schemeClr val="dk1"/>
              </a:solidFill>
            </a:endParaRPr>
          </a:p>
          <a:p>
            <a:pPr indent="0" lvl="0" marL="0" rtl="0" algn="l">
              <a:lnSpc>
                <a:spcPct val="115000"/>
              </a:lnSpc>
              <a:spcBef>
                <a:spcPts val="1000"/>
              </a:spcBef>
              <a:spcAft>
                <a:spcPts val="600"/>
              </a:spcAft>
              <a:buNone/>
            </a:pPr>
            <a:r>
              <a:rPr lang="en">
                <a:solidFill>
                  <a:schemeClr val="dk1"/>
                </a:solidFill>
              </a:rPr>
              <a:t>Each group member should claim one of the fruits. Write your name in the box. If your group has fewer than 4 members, someone can take two.</a:t>
            </a:r>
            <a:endParaRPr>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0"/>
          <p:cNvSpPr txBox="1"/>
          <p:nvPr/>
        </p:nvSpPr>
        <p:spPr>
          <a:xfrm>
            <a:off x="220050" y="48150"/>
            <a:ext cx="7349100" cy="736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600"/>
              </a:spcAft>
              <a:buNone/>
            </a:pPr>
            <a:r>
              <a:rPr lang="en" sz="1900">
                <a:solidFill>
                  <a:schemeClr val="dk1"/>
                </a:solidFill>
              </a:rPr>
              <a:t>1.5 Command-Line Interface Scavenger Hunt Cont’d</a:t>
            </a:r>
            <a:br>
              <a:rPr lang="en" sz="1900">
                <a:solidFill>
                  <a:schemeClr val="dk1"/>
                </a:solidFill>
              </a:rPr>
            </a:br>
            <a:endParaRPr>
              <a:solidFill>
                <a:schemeClr val="dk1"/>
              </a:solidFill>
            </a:endParaRPr>
          </a:p>
        </p:txBody>
      </p:sp>
      <p:graphicFrame>
        <p:nvGraphicFramePr>
          <p:cNvPr id="113" name="Google Shape;113;p20"/>
          <p:cNvGraphicFramePr/>
          <p:nvPr/>
        </p:nvGraphicFramePr>
        <p:xfrm>
          <a:off x="296225" y="7144088"/>
          <a:ext cx="3000000" cy="3000000"/>
        </p:xfrm>
        <a:graphic>
          <a:graphicData uri="http://schemas.openxmlformats.org/drawingml/2006/table">
            <a:tbl>
              <a:tblPr>
                <a:noFill/>
                <a:tableStyleId>{71AC3457-10E6-4857-A913-5A14E234D2E3}</a:tableStyleId>
              </a:tblPr>
              <a:tblGrid>
                <a:gridCol w="1439350"/>
                <a:gridCol w="1439350"/>
                <a:gridCol w="1447600"/>
                <a:gridCol w="1431100"/>
                <a:gridCol w="1439350"/>
              </a:tblGrid>
              <a:tr h="358500">
                <a:tc>
                  <a:txBody>
                    <a:bodyPr/>
                    <a:lstStyle/>
                    <a:p>
                      <a:pPr indent="0" lvl="0" marL="0" rtl="0" algn="l">
                        <a:spcBef>
                          <a:spcPts val="0"/>
                        </a:spcBef>
                        <a:spcAft>
                          <a:spcPts val="0"/>
                        </a:spcAft>
                        <a:buNone/>
                      </a:pPr>
                      <a:r>
                        <a:rPr b="1" lang="en"/>
                        <a:t>subfolder</a:t>
                      </a:r>
                      <a:endParaRPr b="1"/>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noFill/>
                  </a:tcPr>
                </a:tc>
                <a:tc>
                  <a:txBody>
                    <a:bodyPr/>
                    <a:lstStyle/>
                    <a:p>
                      <a:pPr indent="0" lvl="0" marL="0" rtl="0" algn="l">
                        <a:spcBef>
                          <a:spcPts val="0"/>
                        </a:spcBef>
                        <a:spcAft>
                          <a:spcPts val="0"/>
                        </a:spcAft>
                        <a:buNone/>
                      </a:pPr>
                      <a:r>
                        <a:rPr lang="en"/>
                        <a:t>apricot</a:t>
                      </a:r>
                      <a:endParaRPr/>
                    </a:p>
                  </a:txBody>
                  <a:tcPr marT="91425" marB="91425" marR="91425" marL="91425">
                    <a:lnL cap="flat" cmpd="sng" w="9525">
                      <a:solidFill>
                        <a:srgbClr val="9E9E9E"/>
                      </a:solidFill>
                      <a:prstDash val="solid"/>
                      <a:round/>
                      <a:headEnd len="sm" w="sm" type="none"/>
                      <a:tailEnd len="sm" w="sm" type="none"/>
                    </a:lnL>
                    <a:noFill/>
                  </a:tcPr>
                </a:tc>
                <a:tc>
                  <a:txBody>
                    <a:bodyPr/>
                    <a:lstStyle/>
                    <a:p>
                      <a:pPr indent="0" lvl="0" marL="0" rtl="0" algn="l">
                        <a:spcBef>
                          <a:spcPts val="0"/>
                        </a:spcBef>
                        <a:spcAft>
                          <a:spcPts val="0"/>
                        </a:spcAft>
                        <a:buNone/>
                      </a:pPr>
                      <a:r>
                        <a:rPr lang="en"/>
                        <a:t>banana</a:t>
                      </a:r>
                      <a:endParaRPr/>
                    </a:p>
                  </a:txBody>
                  <a:tcPr marT="91425" marB="91425" marR="91425" marL="91425">
                    <a:noFill/>
                  </a:tcPr>
                </a:tc>
                <a:tc>
                  <a:txBody>
                    <a:bodyPr/>
                    <a:lstStyle/>
                    <a:p>
                      <a:pPr indent="0" lvl="0" marL="0" rtl="0" algn="l">
                        <a:spcBef>
                          <a:spcPts val="0"/>
                        </a:spcBef>
                        <a:spcAft>
                          <a:spcPts val="0"/>
                        </a:spcAft>
                        <a:buNone/>
                      </a:pPr>
                      <a:r>
                        <a:rPr lang="en"/>
                        <a:t>cantaloupe</a:t>
                      </a:r>
                      <a:endParaRPr/>
                    </a:p>
                  </a:txBody>
                  <a:tcPr marT="91425" marB="91425" marR="91425" marL="91425">
                    <a:noFill/>
                  </a:tcPr>
                </a:tc>
                <a:tc>
                  <a:txBody>
                    <a:bodyPr/>
                    <a:lstStyle/>
                    <a:p>
                      <a:pPr indent="0" lvl="0" marL="0" rtl="0" algn="l">
                        <a:spcBef>
                          <a:spcPts val="0"/>
                        </a:spcBef>
                        <a:spcAft>
                          <a:spcPts val="0"/>
                        </a:spcAft>
                        <a:buNone/>
                      </a:pPr>
                      <a:r>
                        <a:rPr lang="en"/>
                        <a:t>dragonfruit</a:t>
                      </a:r>
                      <a:endParaRPr/>
                    </a:p>
                  </a:txBody>
                  <a:tcPr marT="91425" marB="91425" marR="91425" marL="91425">
                    <a:noFill/>
                  </a:tcPr>
                </a:tc>
              </a:tr>
              <a:tr h="1516825">
                <a:tc>
                  <a:txBody>
                    <a:bodyPr/>
                    <a:lstStyle/>
                    <a:p>
                      <a:pPr indent="0" lvl="0" marL="0" rtl="0" algn="l">
                        <a:spcBef>
                          <a:spcPts val="0"/>
                        </a:spcBef>
                        <a:spcAft>
                          <a:spcPts val="0"/>
                        </a:spcAft>
                        <a:buNone/>
                      </a:pPr>
                      <a:r>
                        <a:rPr b="1" lang="en"/>
                        <a:t>decrypted secret message</a:t>
                      </a:r>
                      <a:endParaRPr b="1">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noFill/>
                  </a:tcPr>
                </a:tc>
                <a:tc>
                  <a:txBody>
                    <a:bodyPr/>
                    <a:lstStyle/>
                    <a:p>
                      <a:pPr indent="0" lvl="0" marL="0" rtl="0" algn="l">
                        <a:spcBef>
                          <a:spcPts val="0"/>
                        </a:spcBef>
                        <a:spcAft>
                          <a:spcPts val="0"/>
                        </a:spcAft>
                        <a:buNone/>
                      </a:pPr>
                      <a:r>
                        <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noFill/>
                  </a:tcPr>
                </a:tc>
                <a:tc>
                  <a:txBody>
                    <a:bodyPr/>
                    <a:lstStyle/>
                    <a:p>
                      <a:pPr indent="0" lvl="0" marL="0" rtl="0" algn="l">
                        <a:spcBef>
                          <a:spcPts val="0"/>
                        </a:spcBef>
                        <a:spcAft>
                          <a:spcPts val="0"/>
                        </a:spcAft>
                        <a:buNone/>
                      </a:pPr>
                      <a:r>
                        <a:t/>
                      </a:r>
                      <a:endParaRPr>
                        <a:solidFill>
                          <a:srgbClr val="FF0000"/>
                        </a:solidFill>
                      </a:endParaRPr>
                    </a:p>
                  </a:txBody>
                  <a:tcPr marT="91425" marB="91425" marR="91425" marL="91425">
                    <a:noFill/>
                  </a:tcPr>
                </a:tc>
                <a:tc>
                  <a:txBody>
                    <a:bodyPr/>
                    <a:lstStyle/>
                    <a:p>
                      <a:pPr indent="0" lvl="0" marL="0" rtl="0" algn="l">
                        <a:spcBef>
                          <a:spcPts val="0"/>
                        </a:spcBef>
                        <a:spcAft>
                          <a:spcPts val="0"/>
                        </a:spcAft>
                        <a:buNone/>
                      </a:pPr>
                      <a:r>
                        <a:t/>
                      </a:r>
                      <a:endParaRPr>
                        <a:solidFill>
                          <a:srgbClr val="FF0000"/>
                        </a:solidFill>
                      </a:endParaRPr>
                    </a:p>
                  </a:txBody>
                  <a:tcPr marT="91425" marB="91425" marR="91425" marL="91425">
                    <a:noFill/>
                  </a:tcPr>
                </a:tc>
                <a:tc>
                  <a:txBody>
                    <a:bodyPr/>
                    <a:lstStyle/>
                    <a:p>
                      <a:pPr indent="0" lvl="0" marL="0" rtl="0" algn="l">
                        <a:spcBef>
                          <a:spcPts val="0"/>
                        </a:spcBef>
                        <a:spcAft>
                          <a:spcPts val="0"/>
                        </a:spcAft>
                        <a:buNone/>
                      </a:pPr>
                      <a:r>
                        <a:t/>
                      </a:r>
                      <a:endParaRPr>
                        <a:solidFill>
                          <a:srgbClr val="FF0000"/>
                        </a:solidFill>
                      </a:endParaRPr>
                    </a:p>
                  </a:txBody>
                  <a:tcPr marT="91425" marB="91425" marR="91425" marL="91425">
                    <a:noFill/>
                  </a:tcPr>
                </a:tc>
              </a:tr>
            </a:tbl>
          </a:graphicData>
        </a:graphic>
      </p:graphicFrame>
      <p:sp>
        <p:nvSpPr>
          <p:cNvPr id="114" name="Google Shape;114;p20"/>
          <p:cNvSpPr txBox="1"/>
          <p:nvPr/>
        </p:nvSpPr>
        <p:spPr>
          <a:xfrm>
            <a:off x="211650" y="2523600"/>
            <a:ext cx="7349100" cy="895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
                <a:solidFill>
                  <a:schemeClr val="dk1"/>
                </a:solidFill>
              </a:rPr>
              <a:t>Somewhere within your folder or its subfolders, you'll find two files in the same directory called </a:t>
            </a:r>
            <a:r>
              <a:rPr lang="en">
                <a:solidFill>
                  <a:schemeClr val="dk1"/>
                </a:solidFill>
                <a:latin typeface="Consolas"/>
                <a:ea typeface="Consolas"/>
                <a:cs typeface="Consolas"/>
                <a:sym typeface="Consolas"/>
              </a:rPr>
              <a:t>list_v1.txt</a:t>
            </a:r>
            <a:r>
              <a:rPr lang="en">
                <a:solidFill>
                  <a:schemeClr val="dk1"/>
                </a:solidFill>
              </a:rPr>
              <a:t> and </a:t>
            </a:r>
            <a:r>
              <a:rPr lang="en">
                <a:solidFill>
                  <a:schemeClr val="dk1"/>
                </a:solidFill>
                <a:latin typeface="Consolas"/>
                <a:ea typeface="Consolas"/>
                <a:cs typeface="Consolas"/>
                <a:sym typeface="Consolas"/>
              </a:rPr>
              <a:t>list_v2.txt</a:t>
            </a:r>
            <a:r>
              <a:rPr lang="en">
                <a:solidFill>
                  <a:schemeClr val="dk1"/>
                </a:solidFill>
              </a:rPr>
              <a:t>. The files are mostly the same, with one difference. Determine the difference and write a brief description in the boxes below.</a:t>
            </a:r>
            <a:endParaRPr>
              <a:solidFill>
                <a:schemeClr val="dk1"/>
              </a:solidFill>
            </a:endParaRPr>
          </a:p>
        </p:txBody>
      </p:sp>
      <p:graphicFrame>
        <p:nvGraphicFramePr>
          <p:cNvPr id="115" name="Google Shape;115;p20"/>
          <p:cNvGraphicFramePr/>
          <p:nvPr/>
        </p:nvGraphicFramePr>
        <p:xfrm>
          <a:off x="364000" y="3513938"/>
          <a:ext cx="3000000" cy="3000000"/>
        </p:xfrm>
        <a:graphic>
          <a:graphicData uri="http://schemas.openxmlformats.org/drawingml/2006/table">
            <a:tbl>
              <a:tblPr>
                <a:noFill/>
                <a:tableStyleId>{71AC3457-10E6-4857-A913-5A14E234D2E3}</a:tableStyleId>
              </a:tblPr>
              <a:tblGrid>
                <a:gridCol w="1371575"/>
                <a:gridCol w="1480025"/>
                <a:gridCol w="1433975"/>
                <a:gridCol w="1417625"/>
                <a:gridCol w="1425800"/>
              </a:tblGrid>
              <a:tr h="324350">
                <a:tc>
                  <a:txBody>
                    <a:bodyPr/>
                    <a:lstStyle/>
                    <a:p>
                      <a:pPr indent="0" lvl="0" marL="0" rtl="0" algn="l">
                        <a:spcBef>
                          <a:spcPts val="0"/>
                        </a:spcBef>
                        <a:spcAft>
                          <a:spcPts val="0"/>
                        </a:spcAft>
                        <a:buNone/>
                      </a:pPr>
                      <a:r>
                        <a:rPr b="1" lang="en"/>
                        <a:t>subfolder</a:t>
                      </a:r>
                      <a:endParaRPr b="1"/>
                    </a:p>
                  </a:txBody>
                  <a:tcPr marT="91425" marB="91425" marR="91425" marL="91425">
                    <a:noFill/>
                  </a:tcPr>
                </a:tc>
                <a:tc>
                  <a:txBody>
                    <a:bodyPr/>
                    <a:lstStyle/>
                    <a:p>
                      <a:pPr indent="0" lvl="0" marL="0" rtl="0" algn="l">
                        <a:spcBef>
                          <a:spcPts val="0"/>
                        </a:spcBef>
                        <a:spcAft>
                          <a:spcPts val="0"/>
                        </a:spcAft>
                        <a:buNone/>
                      </a:pPr>
                      <a:r>
                        <a:rPr lang="en"/>
                        <a:t>apricot</a:t>
                      </a:r>
                      <a:endParaRPr/>
                    </a:p>
                  </a:txBody>
                  <a:tcPr marT="91425" marB="91425" marR="91425" marL="91425">
                    <a:noFill/>
                  </a:tcPr>
                </a:tc>
                <a:tc>
                  <a:txBody>
                    <a:bodyPr/>
                    <a:lstStyle/>
                    <a:p>
                      <a:pPr indent="0" lvl="0" marL="0" rtl="0" algn="l">
                        <a:spcBef>
                          <a:spcPts val="0"/>
                        </a:spcBef>
                        <a:spcAft>
                          <a:spcPts val="0"/>
                        </a:spcAft>
                        <a:buNone/>
                      </a:pPr>
                      <a:r>
                        <a:rPr lang="en"/>
                        <a:t>banana</a:t>
                      </a:r>
                      <a:endParaRPr/>
                    </a:p>
                  </a:txBody>
                  <a:tcPr marT="91425" marB="91425" marR="91425" marL="91425">
                    <a:noFill/>
                  </a:tcPr>
                </a:tc>
                <a:tc>
                  <a:txBody>
                    <a:bodyPr/>
                    <a:lstStyle/>
                    <a:p>
                      <a:pPr indent="0" lvl="0" marL="0" rtl="0" algn="l">
                        <a:spcBef>
                          <a:spcPts val="0"/>
                        </a:spcBef>
                        <a:spcAft>
                          <a:spcPts val="0"/>
                        </a:spcAft>
                        <a:buNone/>
                      </a:pPr>
                      <a:r>
                        <a:rPr lang="en"/>
                        <a:t>cantaloupe</a:t>
                      </a:r>
                      <a:endParaRPr/>
                    </a:p>
                  </a:txBody>
                  <a:tcPr marT="91425" marB="91425" marR="91425" marL="91425">
                    <a:noFill/>
                  </a:tcPr>
                </a:tc>
                <a:tc>
                  <a:txBody>
                    <a:bodyPr/>
                    <a:lstStyle/>
                    <a:p>
                      <a:pPr indent="0" lvl="0" marL="0" rtl="0" algn="l">
                        <a:spcBef>
                          <a:spcPts val="0"/>
                        </a:spcBef>
                        <a:spcAft>
                          <a:spcPts val="0"/>
                        </a:spcAft>
                        <a:buNone/>
                      </a:pPr>
                      <a:r>
                        <a:rPr lang="en"/>
                        <a:t>dragonfruit</a:t>
                      </a:r>
                      <a:endParaRPr/>
                    </a:p>
                  </a:txBody>
                  <a:tcPr marT="91425" marB="91425" marR="91425" marL="91425">
                    <a:noFill/>
                  </a:tcPr>
                </a:tc>
              </a:tr>
              <a:tr h="862650">
                <a:tc>
                  <a:txBody>
                    <a:bodyPr/>
                    <a:lstStyle/>
                    <a:p>
                      <a:pPr indent="0" lvl="0" marL="0" rtl="0" algn="l">
                        <a:spcBef>
                          <a:spcPts val="0"/>
                        </a:spcBef>
                        <a:spcAft>
                          <a:spcPts val="0"/>
                        </a:spcAft>
                        <a:buNone/>
                      </a:pPr>
                      <a:r>
                        <a:rPr b="1" lang="en"/>
                        <a:t>v1 vs. v2</a:t>
                      </a:r>
                      <a:br>
                        <a:rPr b="1" lang="en"/>
                      </a:br>
                      <a:r>
                        <a:rPr b="1" lang="en"/>
                        <a:t>difference</a:t>
                      </a:r>
                      <a:endParaRPr b="1"/>
                    </a:p>
                  </a:txBody>
                  <a:tcPr marT="91425" marB="91425" marR="91425" marL="91425">
                    <a:noFill/>
                  </a:tcPr>
                </a:tc>
                <a:tc>
                  <a:txBody>
                    <a:bodyPr/>
                    <a:lstStyle/>
                    <a:p>
                      <a:pPr indent="0" lvl="0" marL="0" rtl="0" algn="l">
                        <a:spcBef>
                          <a:spcPts val="0"/>
                        </a:spcBef>
                        <a:spcAft>
                          <a:spcPts val="0"/>
                        </a:spcAft>
                        <a:buNone/>
                      </a:pPr>
                      <a:r>
                        <a:t/>
                      </a:r>
                      <a:endParaRPr>
                        <a:solidFill>
                          <a:srgbClr val="FF0000"/>
                        </a:solidFill>
                      </a:endParaRPr>
                    </a:p>
                  </a:txBody>
                  <a:tcPr marT="91425" marB="91425" marR="91425" marL="91425">
                    <a:noFill/>
                  </a:tcPr>
                </a:tc>
                <a:tc>
                  <a:txBody>
                    <a:bodyPr/>
                    <a:lstStyle/>
                    <a:p>
                      <a:pPr indent="0" lvl="0" marL="0" rtl="0" algn="l">
                        <a:spcBef>
                          <a:spcPts val="0"/>
                        </a:spcBef>
                        <a:spcAft>
                          <a:spcPts val="0"/>
                        </a:spcAft>
                        <a:buNone/>
                      </a:pPr>
                      <a:r>
                        <a:t/>
                      </a:r>
                      <a:endParaRPr>
                        <a:solidFill>
                          <a:srgbClr val="FF0000"/>
                        </a:solidFill>
                      </a:endParaRPr>
                    </a:p>
                  </a:txBody>
                  <a:tcPr marT="91425" marB="91425" marR="91425" marL="91425">
                    <a:noFill/>
                  </a:tcPr>
                </a:tc>
                <a:tc>
                  <a:txBody>
                    <a:bodyPr/>
                    <a:lstStyle/>
                    <a:p>
                      <a:pPr indent="0" lvl="0" marL="0" rtl="0" algn="l">
                        <a:spcBef>
                          <a:spcPts val="0"/>
                        </a:spcBef>
                        <a:spcAft>
                          <a:spcPts val="0"/>
                        </a:spcAft>
                        <a:buNone/>
                      </a:pPr>
                      <a:r>
                        <a:t/>
                      </a:r>
                      <a:endParaRPr>
                        <a:solidFill>
                          <a:srgbClr val="FF0000"/>
                        </a:solidFill>
                      </a:endParaRPr>
                    </a:p>
                  </a:txBody>
                  <a:tcPr marT="91425" marB="91425" marR="91425" marL="91425">
                    <a:noFill/>
                  </a:tcPr>
                </a:tc>
                <a:tc>
                  <a:txBody>
                    <a:bodyPr/>
                    <a:lstStyle/>
                    <a:p>
                      <a:pPr indent="0" lvl="0" marL="0" rtl="0" algn="l">
                        <a:spcBef>
                          <a:spcPts val="0"/>
                        </a:spcBef>
                        <a:spcAft>
                          <a:spcPts val="0"/>
                        </a:spcAft>
                        <a:buNone/>
                      </a:pPr>
                      <a:r>
                        <a:t/>
                      </a:r>
                      <a:endParaRPr>
                        <a:solidFill>
                          <a:srgbClr val="FF0000"/>
                        </a:solidFill>
                      </a:endParaRPr>
                    </a:p>
                  </a:txBody>
                  <a:tcPr marT="91425" marB="91425" marR="91425" marL="91425">
                    <a:noFill/>
                  </a:tcPr>
                </a:tc>
              </a:tr>
            </a:tbl>
          </a:graphicData>
        </a:graphic>
      </p:graphicFrame>
      <p:sp>
        <p:nvSpPr>
          <p:cNvPr id="116" name="Google Shape;116;p20"/>
          <p:cNvSpPr txBox="1"/>
          <p:nvPr/>
        </p:nvSpPr>
        <p:spPr>
          <a:xfrm>
            <a:off x="220050" y="4906050"/>
            <a:ext cx="7349100" cy="2143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a:solidFill>
                  <a:schemeClr val="dk1"/>
                </a:solidFill>
              </a:rPr>
              <a:t>Search your folder or its subfolders to find two files:</a:t>
            </a:r>
            <a:br>
              <a:rPr lang="en">
                <a:solidFill>
                  <a:schemeClr val="dk1"/>
                </a:solidFill>
              </a:rPr>
            </a:br>
            <a:r>
              <a:rPr lang="en">
                <a:solidFill>
                  <a:schemeClr val="dk1"/>
                </a:solidFill>
                <a:latin typeface="Consolas"/>
                <a:ea typeface="Consolas"/>
                <a:cs typeface="Consolas"/>
                <a:sym typeface="Consolas"/>
              </a:rPr>
              <a:t>   secret.txt</a:t>
            </a:r>
            <a:r>
              <a:rPr lang="en">
                <a:solidFill>
                  <a:schemeClr val="dk1"/>
                </a:solidFill>
              </a:rPr>
              <a:t> - A text file containing a secret, encrypted message</a:t>
            </a:r>
            <a:br>
              <a:rPr lang="en">
                <a:solidFill>
                  <a:schemeClr val="dk1"/>
                </a:solidFill>
              </a:rPr>
            </a:br>
            <a:r>
              <a:rPr lang="en">
                <a:solidFill>
                  <a:schemeClr val="dk1"/>
                </a:solidFill>
                <a:latin typeface="Consolas"/>
                <a:ea typeface="Consolas"/>
                <a:cs typeface="Consolas"/>
                <a:sym typeface="Consolas"/>
              </a:rPr>
              <a:t>   decrypt.py</a:t>
            </a:r>
            <a:r>
              <a:rPr lang="en">
                <a:solidFill>
                  <a:schemeClr val="dk1"/>
                </a:solidFill>
              </a:rPr>
              <a:t> -  A decryption program you can use to reveal the secret message</a:t>
            </a:r>
            <a:endParaRPr>
              <a:solidFill>
                <a:schemeClr val="dk1"/>
              </a:solidFill>
            </a:endParaRPr>
          </a:p>
          <a:p>
            <a:pPr indent="0" lvl="0" marL="0" rtl="0" algn="l">
              <a:lnSpc>
                <a:spcPct val="115000"/>
              </a:lnSpc>
              <a:spcBef>
                <a:spcPts val="1000"/>
              </a:spcBef>
              <a:spcAft>
                <a:spcPts val="0"/>
              </a:spcAft>
              <a:buNone/>
            </a:pPr>
            <a:r>
              <a:rPr lang="en">
                <a:solidFill>
                  <a:schemeClr val="dk1"/>
                </a:solidFill>
              </a:rPr>
              <a:t>However, because the two files are in different locations, you'll have to move one (or both) to the same directory as the other using your command-line skills. Once you've done that, simply run the following to reveal the message. Record the messages below.</a:t>
            </a:r>
            <a:endParaRPr>
              <a:solidFill>
                <a:schemeClr val="dk1"/>
              </a:solidFill>
            </a:endParaRPr>
          </a:p>
          <a:p>
            <a:pPr indent="0" lvl="0" marL="0" rtl="0" algn="l">
              <a:lnSpc>
                <a:spcPct val="115000"/>
              </a:lnSpc>
              <a:spcBef>
                <a:spcPts val="1000"/>
              </a:spcBef>
              <a:spcAft>
                <a:spcPts val="1000"/>
              </a:spcAft>
              <a:buNone/>
            </a:pPr>
            <a:r>
              <a:rPr lang="en">
                <a:solidFill>
                  <a:schemeClr val="dk1"/>
                </a:solidFill>
                <a:latin typeface="Consolas"/>
                <a:ea typeface="Consolas"/>
                <a:cs typeface="Consolas"/>
                <a:sym typeface="Consolas"/>
              </a:rPr>
              <a:t>  python3 decrypt.py</a:t>
            </a:r>
            <a:endParaRPr>
              <a:solidFill>
                <a:schemeClr val="dk1"/>
              </a:solidFill>
              <a:latin typeface="Consolas"/>
              <a:ea typeface="Consolas"/>
              <a:cs typeface="Consolas"/>
              <a:sym typeface="Consolas"/>
            </a:endParaRPr>
          </a:p>
        </p:txBody>
      </p:sp>
      <p:sp>
        <p:nvSpPr>
          <p:cNvPr id="117" name="Google Shape;117;p20"/>
          <p:cNvSpPr txBox="1"/>
          <p:nvPr/>
        </p:nvSpPr>
        <p:spPr>
          <a:xfrm>
            <a:off x="253950" y="467650"/>
            <a:ext cx="7349100" cy="648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
                <a:solidFill>
                  <a:schemeClr val="dk1"/>
                </a:solidFill>
              </a:rPr>
              <a:t>Oh no! Your cat seems to have gotten lost in the file system. Track down the file </a:t>
            </a:r>
            <a:r>
              <a:rPr lang="en">
                <a:solidFill>
                  <a:schemeClr val="dk1"/>
                </a:solidFill>
                <a:latin typeface="Consolas"/>
                <a:ea typeface="Consolas"/>
                <a:cs typeface="Consolas"/>
                <a:sym typeface="Consolas"/>
              </a:rPr>
              <a:t>meow.txt</a:t>
            </a:r>
            <a:r>
              <a:rPr lang="en">
                <a:solidFill>
                  <a:schemeClr val="dk1"/>
                </a:solidFill>
              </a:rPr>
              <a:t>. Once you've located it, write the path to the file below (starting at </a:t>
            </a:r>
            <a:r>
              <a:rPr lang="en">
                <a:solidFill>
                  <a:schemeClr val="dk1"/>
                </a:solidFill>
                <a:latin typeface="Consolas"/>
                <a:ea typeface="Consolas"/>
                <a:cs typeface="Consolas"/>
                <a:sym typeface="Consolas"/>
              </a:rPr>
              <a:t>eecs280_cli_lab</a:t>
            </a:r>
            <a:r>
              <a:rPr lang="en">
                <a:solidFill>
                  <a:schemeClr val="dk1"/>
                </a:solidFill>
              </a:rPr>
              <a:t>).</a:t>
            </a:r>
            <a:endParaRPr>
              <a:solidFill>
                <a:schemeClr val="dk1"/>
              </a:solidFill>
            </a:endParaRPr>
          </a:p>
        </p:txBody>
      </p:sp>
      <p:graphicFrame>
        <p:nvGraphicFramePr>
          <p:cNvPr id="118" name="Google Shape;118;p20"/>
          <p:cNvGraphicFramePr/>
          <p:nvPr/>
        </p:nvGraphicFramePr>
        <p:xfrm>
          <a:off x="364000" y="1115638"/>
          <a:ext cx="3000000" cy="3000000"/>
        </p:xfrm>
        <a:graphic>
          <a:graphicData uri="http://schemas.openxmlformats.org/drawingml/2006/table">
            <a:tbl>
              <a:tblPr>
                <a:noFill/>
                <a:tableStyleId>{71AC3457-10E6-4857-A913-5A14E234D2E3}</a:tableStyleId>
              </a:tblPr>
              <a:tblGrid>
                <a:gridCol w="1425800"/>
                <a:gridCol w="1425800"/>
                <a:gridCol w="1433975"/>
                <a:gridCol w="1417625"/>
                <a:gridCol w="1425800"/>
              </a:tblGrid>
              <a:tr h="348250">
                <a:tc>
                  <a:txBody>
                    <a:bodyPr/>
                    <a:lstStyle/>
                    <a:p>
                      <a:pPr indent="0" lvl="0" marL="0" rtl="0" algn="l">
                        <a:spcBef>
                          <a:spcPts val="0"/>
                        </a:spcBef>
                        <a:spcAft>
                          <a:spcPts val="0"/>
                        </a:spcAft>
                        <a:buNone/>
                      </a:pPr>
                      <a:r>
                        <a:rPr b="1" lang="en"/>
                        <a:t>subfolder</a:t>
                      </a:r>
                      <a:endParaRPr b="1"/>
                    </a:p>
                  </a:txBody>
                  <a:tcPr marT="91425" marB="91425" marR="91425" marL="91425">
                    <a:noFill/>
                  </a:tcPr>
                </a:tc>
                <a:tc>
                  <a:txBody>
                    <a:bodyPr/>
                    <a:lstStyle/>
                    <a:p>
                      <a:pPr indent="0" lvl="0" marL="0" rtl="0" algn="l">
                        <a:spcBef>
                          <a:spcPts val="0"/>
                        </a:spcBef>
                        <a:spcAft>
                          <a:spcPts val="0"/>
                        </a:spcAft>
                        <a:buNone/>
                      </a:pPr>
                      <a:r>
                        <a:rPr lang="en"/>
                        <a:t>apricot</a:t>
                      </a:r>
                      <a:endParaRPr/>
                    </a:p>
                  </a:txBody>
                  <a:tcPr marT="91425" marB="91425" marR="91425" marL="91425">
                    <a:noFill/>
                  </a:tcPr>
                </a:tc>
                <a:tc>
                  <a:txBody>
                    <a:bodyPr/>
                    <a:lstStyle/>
                    <a:p>
                      <a:pPr indent="0" lvl="0" marL="0" rtl="0" algn="l">
                        <a:spcBef>
                          <a:spcPts val="0"/>
                        </a:spcBef>
                        <a:spcAft>
                          <a:spcPts val="0"/>
                        </a:spcAft>
                        <a:buNone/>
                      </a:pPr>
                      <a:r>
                        <a:rPr lang="en"/>
                        <a:t>banana</a:t>
                      </a:r>
                      <a:endParaRPr/>
                    </a:p>
                  </a:txBody>
                  <a:tcPr marT="91425" marB="91425" marR="91425" marL="91425">
                    <a:noFill/>
                  </a:tcPr>
                </a:tc>
                <a:tc>
                  <a:txBody>
                    <a:bodyPr/>
                    <a:lstStyle/>
                    <a:p>
                      <a:pPr indent="0" lvl="0" marL="0" rtl="0" algn="l">
                        <a:spcBef>
                          <a:spcPts val="0"/>
                        </a:spcBef>
                        <a:spcAft>
                          <a:spcPts val="0"/>
                        </a:spcAft>
                        <a:buNone/>
                      </a:pPr>
                      <a:r>
                        <a:rPr lang="en"/>
                        <a:t>cantaloupe</a:t>
                      </a:r>
                      <a:endParaRPr/>
                    </a:p>
                  </a:txBody>
                  <a:tcPr marT="91425" marB="91425" marR="91425" marL="91425">
                    <a:noFill/>
                  </a:tcPr>
                </a:tc>
                <a:tc>
                  <a:txBody>
                    <a:bodyPr/>
                    <a:lstStyle/>
                    <a:p>
                      <a:pPr indent="0" lvl="0" marL="0" rtl="0" algn="l">
                        <a:spcBef>
                          <a:spcPts val="0"/>
                        </a:spcBef>
                        <a:spcAft>
                          <a:spcPts val="0"/>
                        </a:spcAft>
                        <a:buNone/>
                      </a:pPr>
                      <a:r>
                        <a:rPr lang="en"/>
                        <a:t>dragonfruit</a:t>
                      </a:r>
                      <a:endParaRPr/>
                    </a:p>
                  </a:txBody>
                  <a:tcPr marT="91425" marB="91425" marR="91425" marL="91425">
                    <a:noFill/>
                  </a:tcPr>
                </a:tc>
              </a:tr>
              <a:tr h="926200">
                <a:tc>
                  <a:txBody>
                    <a:bodyPr/>
                    <a:lstStyle/>
                    <a:p>
                      <a:pPr indent="0" lvl="0" marL="0" rtl="0" algn="l">
                        <a:spcBef>
                          <a:spcPts val="0"/>
                        </a:spcBef>
                        <a:spcAft>
                          <a:spcPts val="0"/>
                        </a:spcAft>
                        <a:buNone/>
                      </a:pPr>
                      <a:r>
                        <a:rPr b="1" lang="en"/>
                        <a:t>path to meow.txt</a:t>
                      </a:r>
                      <a:endParaRPr b="1"/>
                    </a:p>
                  </a:txBody>
                  <a:tcPr marT="91425" marB="91425" marR="91425" marL="91425">
                    <a:noFill/>
                  </a:tcPr>
                </a:tc>
                <a:tc>
                  <a:txBody>
                    <a:bodyPr/>
                    <a:lstStyle/>
                    <a:p>
                      <a:pPr indent="0" lvl="0" marL="0" rtl="0" algn="l">
                        <a:spcBef>
                          <a:spcPts val="0"/>
                        </a:spcBef>
                        <a:spcAft>
                          <a:spcPts val="0"/>
                        </a:spcAft>
                        <a:buNone/>
                      </a:pPr>
                      <a:r>
                        <a:t/>
                      </a:r>
                      <a:endParaRPr>
                        <a:solidFill>
                          <a:srgbClr val="FF0000"/>
                        </a:solidFill>
                      </a:endParaRPr>
                    </a:p>
                  </a:txBody>
                  <a:tcPr marT="91425" marB="91425" marR="91425" marL="91425">
                    <a:noFill/>
                  </a:tcPr>
                </a:tc>
                <a:tc>
                  <a:txBody>
                    <a:bodyPr/>
                    <a:lstStyle/>
                    <a:p>
                      <a:pPr indent="0" lvl="0" marL="0" rtl="0" algn="l">
                        <a:spcBef>
                          <a:spcPts val="0"/>
                        </a:spcBef>
                        <a:spcAft>
                          <a:spcPts val="0"/>
                        </a:spcAft>
                        <a:buNone/>
                      </a:pPr>
                      <a:r>
                        <a:t/>
                      </a:r>
                      <a:endParaRPr>
                        <a:solidFill>
                          <a:srgbClr val="FF0000"/>
                        </a:solidFill>
                      </a:endParaRPr>
                    </a:p>
                  </a:txBody>
                  <a:tcPr marT="91425" marB="91425" marR="91425" marL="91425">
                    <a:noFill/>
                  </a:tcPr>
                </a:tc>
                <a:tc>
                  <a:txBody>
                    <a:bodyPr/>
                    <a:lstStyle/>
                    <a:p>
                      <a:pPr indent="0" lvl="0" marL="0" rtl="0" algn="l">
                        <a:spcBef>
                          <a:spcPts val="0"/>
                        </a:spcBef>
                        <a:spcAft>
                          <a:spcPts val="0"/>
                        </a:spcAft>
                        <a:buNone/>
                      </a:pPr>
                      <a:r>
                        <a:t/>
                      </a:r>
                      <a:endParaRPr>
                        <a:solidFill>
                          <a:srgbClr val="FF0000"/>
                        </a:solidFill>
                      </a:endParaRPr>
                    </a:p>
                  </a:txBody>
                  <a:tcPr marT="91425" marB="91425" marR="91425" marL="91425">
                    <a:noFill/>
                  </a:tcPr>
                </a:tc>
                <a:tc>
                  <a:txBody>
                    <a:bodyPr/>
                    <a:lstStyle/>
                    <a:p>
                      <a:pPr indent="0" lvl="0" marL="0" rtl="0" algn="l">
                        <a:spcBef>
                          <a:spcPts val="0"/>
                        </a:spcBef>
                        <a:spcAft>
                          <a:spcPts val="0"/>
                        </a:spcAft>
                        <a:buNone/>
                      </a:pPr>
                      <a:r>
                        <a:t/>
                      </a:r>
                      <a:endParaRPr>
                        <a:solidFill>
                          <a:srgbClr val="FF0000"/>
                        </a:solidFill>
                      </a:endParaRPr>
                    </a:p>
                  </a:txBody>
                  <a:tcPr marT="91425" marB="91425" marR="91425" marL="91425">
                    <a:no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1"/>
          <p:cNvSpPr txBox="1"/>
          <p:nvPr/>
        </p:nvSpPr>
        <p:spPr>
          <a:xfrm>
            <a:off x="220050" y="276750"/>
            <a:ext cx="7422600" cy="1961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2000">
                <a:solidFill>
                  <a:schemeClr val="dk1"/>
                </a:solidFill>
              </a:rPr>
              <a:t>1.6 </a:t>
            </a:r>
            <a:r>
              <a:rPr lang="en" sz="2000">
                <a:solidFill>
                  <a:schemeClr val="dk1"/>
                </a:solidFill>
              </a:rPr>
              <a:t>Academic Integrity and Honor Code</a:t>
            </a:r>
            <a:endParaRPr sz="2000">
              <a:solidFill>
                <a:schemeClr val="dk1"/>
              </a:solidFill>
            </a:endParaRPr>
          </a:p>
          <a:p>
            <a:pPr indent="0" lvl="0" marL="0" rtl="0" algn="l">
              <a:lnSpc>
                <a:spcPct val="115000"/>
              </a:lnSpc>
              <a:spcBef>
                <a:spcPts val="600"/>
              </a:spcBef>
              <a:spcAft>
                <a:spcPts val="0"/>
              </a:spcAft>
              <a:buNone/>
            </a:pPr>
            <a:r>
              <a:rPr lang="en">
                <a:solidFill>
                  <a:srgbClr val="202124"/>
                </a:solidFill>
                <a:highlight>
                  <a:srgbClr val="FFFFFF"/>
                </a:highlight>
                <a:latin typeface="Roboto"/>
                <a:ea typeface="Roboto"/>
                <a:cs typeface="Roboto"/>
                <a:sym typeface="Roboto"/>
              </a:rPr>
              <a:t>Consider the following scenarios and evaluate whether they're OK in EECS 280.</a:t>
            </a:r>
            <a:endParaRPr>
              <a:solidFill>
                <a:srgbClr val="202124"/>
              </a:solidFill>
              <a:highlight>
                <a:srgbClr val="FFFFFF"/>
              </a:highlight>
              <a:latin typeface="Roboto"/>
              <a:ea typeface="Roboto"/>
              <a:cs typeface="Roboto"/>
              <a:sym typeface="Roboto"/>
            </a:endParaRPr>
          </a:p>
          <a:p>
            <a:pPr indent="0" lvl="0" marL="0" rtl="0" algn="l">
              <a:lnSpc>
                <a:spcPct val="115000"/>
              </a:lnSpc>
              <a:spcBef>
                <a:spcPts val="600"/>
              </a:spcBef>
              <a:spcAft>
                <a:spcPts val="0"/>
              </a:spcAft>
              <a:buNone/>
            </a:pPr>
            <a:r>
              <a:rPr lang="en">
                <a:solidFill>
                  <a:srgbClr val="202124"/>
                </a:solidFill>
                <a:highlight>
                  <a:srgbClr val="FFFFFF"/>
                </a:highlight>
                <a:latin typeface="Roboto"/>
                <a:ea typeface="Roboto"/>
                <a:cs typeface="Roboto"/>
                <a:sym typeface="Roboto"/>
              </a:rPr>
              <a:t>You might find it helpful to consult our syllabus: </a:t>
            </a:r>
            <a:r>
              <a:rPr lang="en" u="sng">
                <a:solidFill>
                  <a:schemeClr val="hlink"/>
                </a:solidFill>
                <a:highlight>
                  <a:srgbClr val="FFFFFF"/>
                </a:highlight>
                <a:latin typeface="Roboto"/>
                <a:ea typeface="Roboto"/>
                <a:cs typeface="Roboto"/>
                <a:sym typeface="Roboto"/>
                <a:hlinkClick r:id="rId3"/>
              </a:rPr>
              <a:t>https://eecs280.org/syllabus.html#academic-integrity</a:t>
            </a:r>
            <a:endParaRPr>
              <a:solidFill>
                <a:srgbClr val="202124"/>
              </a:solidFill>
              <a:highlight>
                <a:srgbClr val="FFFFFF"/>
              </a:highlight>
              <a:latin typeface="Roboto"/>
              <a:ea typeface="Roboto"/>
              <a:cs typeface="Roboto"/>
              <a:sym typeface="Roboto"/>
            </a:endParaRPr>
          </a:p>
          <a:p>
            <a:pPr indent="0" lvl="0" marL="0" rtl="0" algn="l">
              <a:lnSpc>
                <a:spcPct val="115000"/>
              </a:lnSpc>
              <a:spcBef>
                <a:spcPts val="600"/>
              </a:spcBef>
              <a:spcAft>
                <a:spcPts val="600"/>
              </a:spcAft>
              <a:buNone/>
            </a:pPr>
            <a:r>
              <a:rPr lang="en">
                <a:solidFill>
                  <a:srgbClr val="202124"/>
                </a:solidFill>
                <a:highlight>
                  <a:srgbClr val="FFFFFF"/>
                </a:highlight>
                <a:latin typeface="Roboto"/>
                <a:ea typeface="Roboto"/>
                <a:cs typeface="Roboto"/>
                <a:sym typeface="Roboto"/>
              </a:rPr>
              <a:t>Rate each scenario as one of the following:</a:t>
            </a:r>
            <a:br>
              <a:rPr lang="en">
                <a:solidFill>
                  <a:srgbClr val="202124"/>
                </a:solidFill>
                <a:highlight>
                  <a:srgbClr val="FFFFFF"/>
                </a:highlight>
                <a:latin typeface="Roboto"/>
                <a:ea typeface="Roboto"/>
                <a:cs typeface="Roboto"/>
                <a:sym typeface="Roboto"/>
              </a:rPr>
            </a:br>
            <a:r>
              <a:rPr b="1" lang="en" sz="1300">
                <a:solidFill>
                  <a:srgbClr val="202124"/>
                </a:solidFill>
                <a:highlight>
                  <a:srgbClr val="FFFFFF"/>
                </a:highlight>
                <a:latin typeface="Roboto"/>
                <a:ea typeface="Roboto"/>
                <a:cs typeface="Roboto"/>
                <a:sym typeface="Roboto"/>
              </a:rPr>
              <a:t>  1 = Clear HC Violation    2 = Probably Not OK    3 = Gray Area   4 = Probably OK    5 = Encouraged!</a:t>
            </a:r>
            <a:endParaRPr b="1" sz="1300">
              <a:solidFill>
                <a:srgbClr val="202124"/>
              </a:solidFill>
              <a:highlight>
                <a:srgbClr val="FFFFFF"/>
              </a:highlight>
              <a:latin typeface="Roboto"/>
              <a:ea typeface="Roboto"/>
              <a:cs typeface="Roboto"/>
              <a:sym typeface="Roboto"/>
            </a:endParaRPr>
          </a:p>
        </p:txBody>
      </p:sp>
      <p:graphicFrame>
        <p:nvGraphicFramePr>
          <p:cNvPr id="124" name="Google Shape;124;p21"/>
          <p:cNvGraphicFramePr/>
          <p:nvPr/>
        </p:nvGraphicFramePr>
        <p:xfrm>
          <a:off x="468200" y="5373400"/>
          <a:ext cx="3000000" cy="3000000"/>
        </p:xfrm>
        <a:graphic>
          <a:graphicData uri="http://schemas.openxmlformats.org/drawingml/2006/table">
            <a:tbl>
              <a:tblPr>
                <a:noFill/>
                <a:tableStyleId>{71AC3457-10E6-4857-A913-5A14E234D2E3}</a:tableStyleId>
              </a:tblPr>
              <a:tblGrid>
                <a:gridCol w="3464575"/>
                <a:gridCol w="3464575"/>
              </a:tblGrid>
              <a:tr h="1823775">
                <a:tc>
                  <a:txBody>
                    <a:bodyPr/>
                    <a:lstStyle/>
                    <a:p>
                      <a:pPr indent="0" lvl="0" marL="0" rtl="0" algn="l">
                        <a:spcBef>
                          <a:spcPts val="0"/>
                        </a:spcBef>
                        <a:spcAft>
                          <a:spcPts val="0"/>
                        </a:spcAft>
                        <a:buNone/>
                      </a:pPr>
                      <a:r>
                        <a:rPr lang="en" sz="1200">
                          <a:solidFill>
                            <a:srgbClr val="202124"/>
                          </a:solidFill>
                          <a:highlight>
                            <a:srgbClr val="FFFFFF"/>
                          </a:highlight>
                        </a:rPr>
                        <a:t>Adi's code is crashing with a segfault and they're not sure how to debug it. They're venting about the issue on the EECS 280 Discord server, when another student sends them a DM and offers to help. The two set up a voice chat and Adi shares their screen while the other student walks Adi through configuring the visual debugger. Adi runs the debugger, which shows where the segfault is happening. The other student suggests looking at the variables in the debugger. Adi notices their loop index variable </a:t>
                      </a:r>
                      <a:r>
                        <a:rPr lang="en" sz="1200">
                          <a:solidFill>
                            <a:srgbClr val="202124"/>
                          </a:solidFill>
                          <a:highlight>
                            <a:srgbClr val="FFFFFF"/>
                          </a:highlight>
                          <a:latin typeface="Consolas"/>
                          <a:ea typeface="Consolas"/>
                          <a:cs typeface="Consolas"/>
                          <a:sym typeface="Consolas"/>
                        </a:rPr>
                        <a:t>i</a:t>
                      </a:r>
                      <a:r>
                        <a:rPr lang="en" sz="1200">
                          <a:solidFill>
                            <a:srgbClr val="202124"/>
                          </a:solidFill>
                          <a:highlight>
                            <a:srgbClr val="FFFFFF"/>
                          </a:highlight>
                        </a:rPr>
                        <a:t> has value -29874294... they forgot to initialize it to 0. Adi fixes the bug, and also uses the debugger later on to track down other similar issues.</a:t>
                      </a:r>
                      <a:endParaRPr/>
                    </a:p>
                  </a:txBody>
                  <a:tcPr marT="91425" marB="91425" marR="91425" marL="91425">
                    <a:noFill/>
                  </a:tcPr>
                </a:tc>
                <a:tc>
                  <a:txBody>
                    <a:bodyPr/>
                    <a:lstStyle/>
                    <a:p>
                      <a:pPr indent="0" lvl="0" marL="0" rtl="0" algn="l">
                        <a:spcBef>
                          <a:spcPts val="0"/>
                        </a:spcBef>
                        <a:spcAft>
                          <a:spcPts val="0"/>
                        </a:spcAft>
                        <a:buNone/>
                      </a:pPr>
                      <a:r>
                        <a:rPr lang="en" sz="1200">
                          <a:solidFill>
                            <a:srgbClr val="202124"/>
                          </a:solidFill>
                          <a:highlight>
                            <a:srgbClr val="FFFFFF"/>
                          </a:highlight>
                        </a:rPr>
                        <a:t>Yun-seo is working on finishing the project, but is not sure that she will be able to finish everything on time. She talks to her friend James, who is also taking the course, and he suggests using a different editor with integrated AI tools to finish up the last file. He mentions that it was able to write a lot of the code for him and saved a ton of time. Yun-seo tries it out and is able to get the project done on time. For the remaining projects, she uses the AI-assisted editor from the start, writing some code but mostly prompting the AI to generate/modify code. However, she feels a bit guilty about this and also starts to worry that her code might end up matching with James or others using the same tools.</a:t>
                      </a:r>
                      <a:endParaRPr/>
                    </a:p>
                  </a:txBody>
                  <a:tcPr marT="91425" marB="91425" marR="91425" marL="91425">
                    <a:noFill/>
                  </a:tcPr>
                </a:tc>
              </a:tr>
              <a:tr h="404700">
                <a:tc>
                  <a:txBody>
                    <a:bodyPr/>
                    <a:lstStyle/>
                    <a:p>
                      <a:pPr indent="0" lvl="0" marL="0" rtl="0" algn="l">
                        <a:spcBef>
                          <a:spcPts val="0"/>
                        </a:spcBef>
                        <a:spcAft>
                          <a:spcPts val="0"/>
                        </a:spcAft>
                        <a:buNone/>
                      </a:pPr>
                      <a:r>
                        <a:t/>
                      </a:r>
                      <a:endParaRPr b="1">
                        <a:solidFill>
                          <a:srgbClr val="FF0000"/>
                        </a:solidFill>
                      </a:endParaRPr>
                    </a:p>
                  </a:txBody>
                  <a:tcPr marT="91425" marB="91425" marR="91425" marL="91425">
                    <a:noFill/>
                  </a:tcPr>
                </a:tc>
                <a:tc>
                  <a:txBody>
                    <a:bodyPr/>
                    <a:lstStyle/>
                    <a:p>
                      <a:pPr indent="0" lvl="0" marL="0" rtl="0" algn="l">
                        <a:spcBef>
                          <a:spcPts val="0"/>
                        </a:spcBef>
                        <a:spcAft>
                          <a:spcPts val="0"/>
                        </a:spcAft>
                        <a:buNone/>
                      </a:pPr>
                      <a:r>
                        <a:t/>
                      </a:r>
                      <a:endParaRPr b="1">
                        <a:solidFill>
                          <a:srgbClr val="FF0000"/>
                        </a:solidFill>
                      </a:endParaRPr>
                    </a:p>
                  </a:txBody>
                  <a:tcPr marT="91425" marB="91425" marR="91425" marL="91425">
                    <a:noFill/>
                  </a:tcPr>
                </a:tc>
              </a:tr>
            </a:tbl>
          </a:graphicData>
        </a:graphic>
      </p:graphicFrame>
      <p:graphicFrame>
        <p:nvGraphicFramePr>
          <p:cNvPr id="125" name="Google Shape;125;p21"/>
          <p:cNvGraphicFramePr/>
          <p:nvPr/>
        </p:nvGraphicFramePr>
        <p:xfrm>
          <a:off x="468200" y="2473500"/>
          <a:ext cx="3000000" cy="3000000"/>
        </p:xfrm>
        <a:graphic>
          <a:graphicData uri="http://schemas.openxmlformats.org/drawingml/2006/table">
            <a:tbl>
              <a:tblPr>
                <a:noFill/>
                <a:tableStyleId>{71AC3457-10E6-4857-A913-5A14E234D2E3}</a:tableStyleId>
              </a:tblPr>
              <a:tblGrid>
                <a:gridCol w="3464575"/>
                <a:gridCol w="3464575"/>
              </a:tblGrid>
              <a:tr h="2189725">
                <a:tc>
                  <a:txBody>
                    <a:bodyPr/>
                    <a:lstStyle/>
                    <a:p>
                      <a:pPr indent="0" lvl="0" marL="0" rtl="0" algn="l">
                        <a:spcBef>
                          <a:spcPts val="0"/>
                        </a:spcBef>
                        <a:spcAft>
                          <a:spcPts val="0"/>
                        </a:spcAft>
                        <a:buNone/>
                      </a:pPr>
                      <a:r>
                        <a:rPr lang="en" sz="1200">
                          <a:solidFill>
                            <a:srgbClr val="202124"/>
                          </a:solidFill>
                          <a:highlight>
                            <a:srgbClr val="FFFFFF"/>
                          </a:highlight>
                        </a:rPr>
                        <a:t>Mariana and Oliver are project partners and have been working on project 3. They split up the project - Mariana works on the implementation files and Oliver writes test cases. Mariana is nervous because she took the larger half and Oliver isn't very communicative. But, the day the project is due, the two meet and Oliver has done his portion. They combine their files, fix a few bugs, and submit everything together to the autograder. Mariana is a bit worried about where Oliver's code came from.</a:t>
                      </a:r>
                      <a:endParaRPr/>
                    </a:p>
                  </a:txBody>
                  <a:tcPr marT="91425" marB="91425" marR="91425" marL="91425">
                    <a:noFill/>
                  </a:tcPr>
                </a:tc>
                <a:tc>
                  <a:txBody>
                    <a:bodyPr/>
                    <a:lstStyle/>
                    <a:p>
                      <a:pPr indent="0" lvl="0" marL="0" rtl="0" algn="l">
                        <a:spcBef>
                          <a:spcPts val="0"/>
                        </a:spcBef>
                        <a:spcAft>
                          <a:spcPts val="0"/>
                        </a:spcAft>
                        <a:buNone/>
                      </a:pPr>
                      <a:r>
                        <a:rPr lang="en" sz="1200">
                          <a:solidFill>
                            <a:srgbClr val="202124"/>
                          </a:solidFill>
                          <a:highlight>
                            <a:srgbClr val="FFFFFF"/>
                          </a:highlight>
                        </a:rPr>
                        <a:t>La Vonn and Amir are good friends and end up taking EECS 280 together. Amir mentions that he thinks his percentile() function on project 1 might be going out of bounds when computing the 100th percentile. La Vonn shares that he had the same problem and went to office hours, where a GSI recommended adding a special case to handle inputs of p == 1 differently. Amir had been thinking about doing that, but wasn't sure it was the right approach, so it was helpful to hear it worked for La Vonn.</a:t>
                      </a:r>
                      <a:endParaRPr/>
                    </a:p>
                  </a:txBody>
                  <a:tcPr marT="91425" marB="91425" marR="91425" marL="91425">
                    <a:noFill/>
                  </a:tcPr>
                </a:tc>
              </a:tr>
              <a:tr h="365975">
                <a:tc>
                  <a:txBody>
                    <a:bodyPr/>
                    <a:lstStyle/>
                    <a:p>
                      <a:pPr indent="0" lvl="0" marL="0" rtl="0" algn="l">
                        <a:spcBef>
                          <a:spcPts val="0"/>
                        </a:spcBef>
                        <a:spcAft>
                          <a:spcPts val="0"/>
                        </a:spcAft>
                        <a:buNone/>
                      </a:pPr>
                      <a:r>
                        <a:t/>
                      </a:r>
                      <a:endParaRPr b="1">
                        <a:solidFill>
                          <a:srgbClr val="FF0000"/>
                        </a:solidFill>
                      </a:endParaRPr>
                    </a:p>
                  </a:txBody>
                  <a:tcPr marT="91425" marB="91425" marR="91425" marL="91425">
                    <a:noFill/>
                  </a:tcPr>
                </a:tc>
                <a:tc>
                  <a:txBody>
                    <a:bodyPr/>
                    <a:lstStyle/>
                    <a:p>
                      <a:pPr indent="0" lvl="0" marL="0" rtl="0" algn="l">
                        <a:spcBef>
                          <a:spcPts val="0"/>
                        </a:spcBef>
                        <a:spcAft>
                          <a:spcPts val="0"/>
                        </a:spcAft>
                        <a:buNone/>
                      </a:pPr>
                      <a:r>
                        <a:t/>
                      </a:r>
                      <a:endParaRPr b="1">
                        <a:solidFill>
                          <a:srgbClr val="FF0000"/>
                        </a:solidFill>
                      </a:endParaRPr>
                    </a:p>
                  </a:txBody>
                  <a:tcPr marT="91425" marB="91425" marR="91425" marL="91425">
                    <a:noFill/>
                  </a:tcPr>
                </a:tc>
              </a:tr>
            </a:tbl>
          </a:graphicData>
        </a:graphic>
      </p:graphicFrame>
      <p:sp>
        <p:nvSpPr>
          <p:cNvPr id="126" name="Google Shape;126;p21"/>
          <p:cNvSpPr txBox="1"/>
          <p:nvPr/>
        </p:nvSpPr>
        <p:spPr>
          <a:xfrm>
            <a:off x="98100" y="9325850"/>
            <a:ext cx="7576200" cy="677100"/>
          </a:xfrm>
          <a:prstGeom prst="rect">
            <a:avLst/>
          </a:prstGeom>
          <a:solidFill>
            <a:srgbClr val="FFFF00"/>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1"/>
                </a:solidFill>
              </a:rPr>
              <a:t>You’ve reached the end of checkpoint 2! Let your instructor know you’re ready to check your work!</a:t>
            </a:r>
            <a:endParaRPr sz="1600">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