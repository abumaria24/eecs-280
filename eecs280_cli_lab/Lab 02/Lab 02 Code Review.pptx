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Montserrat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E4D187-BA79-4797-9551-BFE49FC9F5F1}">
  <a:tblStyle styleId="{11E4D187-BA79-4797-9551-BFE49FC9F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Montserrat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698d8870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698d8870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9163b77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9163b77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98d88702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98d8870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698d88702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698d88702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7eceb95e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7eceb95e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eceb95e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eceb95e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698d8870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698d8870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 some time thinking about what this function would look like at a high level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4e3627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74e3627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74e36278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74e36278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double as loop variable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a84f12fe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a84f12f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84f12fe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a84f12f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a84f12fe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a84f12fe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84f12fe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a84f12fe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a84f12fe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a84f12fe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a84f12fe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a84f12fe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a84f12fe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a84f12fe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a84f12fe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a84f12fe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7dcbaa5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7dcbaa5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7dcbaa54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7dcbaa5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7dcbaa5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7dcbaa5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7dcbaa5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7dcbaa5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has an animation. Please review it before showing it :)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and size_t are signed vs unsigned and comparisons can cause issues if i is negative (converts to unsigned int)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7eceb95e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7eceb95e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7dcbaa54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7dcbaa54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true/false instead of 1/0 for clarity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7eceb95e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7eceb95e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7dcbaa54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7dcbaa54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variables with the same names as functions can cause name conflicts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7eceb95e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7eceb95e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7eceb95e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7eceb95e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don’t want found_zero to be reinitialized to false every time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7dcbaa54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7dcbaa54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don’t want found_zero to be reinitialized to false every time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7dcbaa54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7dcbaa54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for variable to keep track when we can just return true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7eceb95e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b7eceb95e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for variable to keep track when we can just return true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7eceb95e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7eceb95e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for variable to keep track when we can just return true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7dcbaa54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7dcbaa54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variable is unnecessary since we just return if it’s true anyways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7eceb95e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7eceb95e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9163b77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9163b77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7eceb95e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7eceb95e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should show off setting up launch.json, the variables pane, the call stack pane, and the debugger toolbar, as well as finding the bug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83e019d9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83e019d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540308" y="1277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5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5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EECS 280</a:t>
            </a:r>
            <a:endParaRPr b="1" sz="5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Code Review</a:t>
            </a:r>
            <a:endParaRPr b="1" sz="5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40300" y="33675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E212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Lab 02 - </a:t>
            </a:r>
            <a:r>
              <a:rPr lang="en" sz="2800">
                <a:solidFill>
                  <a:srgbClr val="1E2124"/>
                </a:solidFill>
                <a:latin typeface="Consolas"/>
                <a:ea typeface="Consolas"/>
                <a:cs typeface="Consolas"/>
                <a:sym typeface="Consolas"/>
              </a:rPr>
              <a:t>count_if()</a:t>
            </a:r>
            <a:r>
              <a:rPr lang="en" sz="2800">
                <a:solidFill>
                  <a:srgbClr val="1E212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" sz="2800">
                <a:solidFill>
                  <a:srgbClr val="1E212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and </a:t>
            </a:r>
            <a:r>
              <a:rPr lang="en" sz="2800">
                <a:solidFill>
                  <a:srgbClr val="1E2124"/>
                </a:solidFill>
                <a:latin typeface="Consolas"/>
                <a:ea typeface="Consolas"/>
                <a:cs typeface="Consolas"/>
                <a:sym typeface="Consolas"/>
              </a:rPr>
              <a:t>has_zero()</a:t>
            </a:r>
            <a:r>
              <a:rPr lang="en" sz="2800">
                <a:solidFill>
                  <a:srgbClr val="1E212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2800">
              <a:solidFill>
                <a:srgbClr val="1E212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75" y="206675"/>
            <a:ext cx="3028025" cy="23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Project 1 </a:t>
            </a:r>
            <a:r>
              <a:rPr lang="en" sz="2400">
                <a:solidFill>
                  <a:schemeClr val="dk1"/>
                </a:solidFill>
              </a:rPr>
              <a:t>is due Friday, Jan 23 @ 8pm.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Entry Survey </a:t>
            </a:r>
            <a:r>
              <a:rPr lang="en" sz="2400">
                <a:solidFill>
                  <a:schemeClr val="dk1"/>
                </a:solidFill>
              </a:rPr>
              <a:t>is due Friday, Jan 30 @ 8pm.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Compiling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2685950"/>
            <a:ext cx="3789900" cy="1491300"/>
          </a:xfrm>
          <a:prstGeom prst="rect">
            <a:avLst/>
          </a:prstGeom>
          <a:solidFill>
            <a:srgbClr val="22272E"/>
          </a:solidFill>
          <a:ln cap="flat" cmpd="sng" w="19050">
            <a:solidFill>
              <a:srgbClr val="1E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6D0FF"/>
                </a:solidFill>
                <a:latin typeface="Courier New"/>
                <a:ea typeface="Courier New"/>
                <a:cs typeface="Courier New"/>
                <a:sym typeface="Courier New"/>
              </a:rPr>
              <a:t>&lt;iostream&gt;</a:t>
            </a:r>
            <a:endParaRPr sz="1050">
              <a:solidFill>
                <a:srgbClr val="96D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F69D50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::cout </a:t>
            </a:r>
            <a:r>
              <a:rPr lang="en" sz="105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6D0FF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World!"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69D50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endParaRPr sz="105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4371275" y="3525075"/>
            <a:ext cx="1867200" cy="0"/>
          </a:xfrm>
          <a:prstGeom prst="straightConnector1">
            <a:avLst/>
          </a:prstGeom>
          <a:noFill/>
          <a:ln cap="flat" cmpd="sng" w="38100">
            <a:solidFill>
              <a:srgbClr val="F4706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6"/>
          <p:cNvSpPr txBox="1"/>
          <p:nvPr/>
        </p:nvSpPr>
        <p:spPr>
          <a:xfrm>
            <a:off x="4406400" y="2956400"/>
            <a:ext cx="17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g++</a:t>
            </a:r>
            <a:r>
              <a:rPr lang="en" sz="1800">
                <a:solidFill>
                  <a:schemeClr val="dk1"/>
                </a:solidFill>
              </a:rPr>
              <a:t> (compiler)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96325" y="1067675"/>
            <a:ext cx="3278400" cy="112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have some code I’d like to run, but it’s just text, not something my computer knows how to run natively: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264775" y="4253450"/>
            <a:ext cx="17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main.cpp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8" name="Google Shape;78;p16"/>
          <p:cNvGrpSpPr/>
          <p:nvPr/>
        </p:nvGrpSpPr>
        <p:grpSpPr>
          <a:xfrm>
            <a:off x="6123842" y="1959683"/>
            <a:ext cx="2560469" cy="2560469"/>
            <a:chOff x="6295075" y="2005625"/>
            <a:chExt cx="2261100" cy="2261100"/>
          </a:xfrm>
        </p:grpSpPr>
        <p:sp>
          <p:nvSpPr>
            <p:cNvPr id="79" name="Google Shape;79;p16"/>
            <p:cNvSpPr/>
            <p:nvPr/>
          </p:nvSpPr>
          <p:spPr>
            <a:xfrm>
              <a:off x="6662050" y="2049225"/>
              <a:ext cx="1543200" cy="2179800"/>
            </a:xfrm>
            <a:prstGeom prst="snip1Rect">
              <a:avLst>
                <a:gd fmla="val 32282" name="adj"/>
              </a:avLst>
            </a:prstGeom>
            <a:solidFill>
              <a:schemeClr val="lt2"/>
            </a:solidFill>
            <a:ln cap="flat" cmpd="sng" w="107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25" lIns="103525" spcFirstLastPara="1" rIns="103525" wrap="square" tIns="103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5"/>
            </a:p>
          </p:txBody>
        </p:sp>
        <p:pic>
          <p:nvPicPr>
            <p:cNvPr id="80" name="Google Shape;8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95075" y="2005625"/>
              <a:ext cx="2261100" cy="2261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6"/>
          <p:cNvSpPr txBox="1"/>
          <p:nvPr/>
        </p:nvSpPr>
        <p:spPr>
          <a:xfrm>
            <a:off x="6533325" y="4482050"/>
            <a:ext cx="17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main.exe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147450" y="292625"/>
            <a:ext cx="4727100" cy="1491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Full command (EECS 280 args):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g++ --std=c++17 -o3 -Wall -Werror -pedantic -o3 -g -Wno-sign-compare -Wno-comment main.cpp -o main.exe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Consolas"/>
                <a:ea typeface="Consolas"/>
                <a:cs typeface="Consolas"/>
                <a:sym typeface="Consolas"/>
              </a:rPr>
              <a:t>A lot to type!</a:t>
            </a:r>
            <a:endParaRPr i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" name="Google Shape;83;p16"/>
          <p:cNvCxnSpPr>
            <a:stCxn id="74" idx="0"/>
            <a:endCxn id="82" idx="2"/>
          </p:cNvCxnSpPr>
          <p:nvPr/>
        </p:nvCxnSpPr>
        <p:spPr>
          <a:xfrm flipH="1" rot="10800000">
            <a:off x="5277150" y="1784000"/>
            <a:ext cx="1233900" cy="1172400"/>
          </a:xfrm>
          <a:prstGeom prst="straightConnector1">
            <a:avLst/>
          </a:prstGeom>
          <a:noFill/>
          <a:ln cap="flat" cmpd="sng" w="2857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Makefiles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2298050" y="292625"/>
            <a:ext cx="1683000" cy="572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do we need these things?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96325" y="1067675"/>
            <a:ext cx="3278400" cy="112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have to type this long command to compile my code. I would like to have a shortcut: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11825" y="2798025"/>
            <a:ext cx="8625600" cy="618300"/>
          </a:xfrm>
          <a:prstGeom prst="rect">
            <a:avLst/>
          </a:prstGeom>
          <a:solidFill>
            <a:srgbClr val="2227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$</a:t>
            </a:r>
            <a:r>
              <a:rPr lang="en">
                <a:solidFill>
                  <a:srgbClr val="EEEEEE"/>
                </a:solidFill>
              </a:rPr>
              <a:t> g++ --std=c++17 -o3 -Wall -Werror -pedantic -o3 -g -Wno-sign-compare -Wno-comment main.cpp -o main.exe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311700" y="4019700"/>
            <a:ext cx="8625600" cy="771600"/>
          </a:xfrm>
          <a:prstGeom prst="rect">
            <a:avLst/>
          </a:prstGeom>
          <a:solidFill>
            <a:srgbClr val="2227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$</a:t>
            </a:r>
            <a:r>
              <a:rPr lang="en"/>
              <a:t> </a:t>
            </a:r>
            <a:r>
              <a:rPr lang="en">
                <a:solidFill>
                  <a:srgbClr val="FFFFFF"/>
                </a:solidFill>
              </a:rPr>
              <a:t>make main.exe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g++ --std=c++17 -o3 -Wall -Werror -pedantic -o3 -g -Wno-sign-compare -Wno-comment main.cpp -o main.exe</a:t>
            </a:r>
            <a:endParaRPr>
              <a:solidFill>
                <a:srgbClr val="B4A7D6"/>
              </a:solidFill>
            </a:endParaRPr>
          </a:p>
        </p:txBody>
      </p:sp>
      <p:cxnSp>
        <p:nvCxnSpPr>
          <p:cNvPr id="93" name="Google Shape;93;p17"/>
          <p:cNvCxnSpPr>
            <a:stCxn id="91" idx="2"/>
            <a:endCxn id="92" idx="0"/>
          </p:cNvCxnSpPr>
          <p:nvPr/>
        </p:nvCxnSpPr>
        <p:spPr>
          <a:xfrm>
            <a:off x="4624625" y="3416325"/>
            <a:ext cx="0" cy="603300"/>
          </a:xfrm>
          <a:prstGeom prst="straightConnector1">
            <a:avLst/>
          </a:prstGeom>
          <a:noFill/>
          <a:ln cap="flat" cmpd="sng" w="38100">
            <a:solidFill>
              <a:srgbClr val="F4706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7"/>
          <p:cNvSpPr/>
          <p:nvPr/>
        </p:nvSpPr>
        <p:spPr>
          <a:xfrm>
            <a:off x="4273250" y="292625"/>
            <a:ext cx="4664100" cy="112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Makefiles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Save time (shortcut commands)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Only recompiles if the file has changed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Useful for programs with multiple files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273250" y="1494175"/>
            <a:ext cx="4664100" cy="820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Makefile Format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arget: dependency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command(s)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70175" y="2390225"/>
            <a:ext cx="1951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manual typing: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70175" y="3617297"/>
            <a:ext cx="1951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using make</a:t>
            </a:r>
            <a:r>
              <a:rPr b="1" lang="en" sz="1800">
                <a:solidFill>
                  <a:schemeClr val="dk1"/>
                </a:solidFill>
              </a:rPr>
              <a:t>: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Makefiles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648725" y="980600"/>
            <a:ext cx="3928800" cy="932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When running </a:t>
            </a:r>
            <a:r>
              <a:rPr b="1" lang="en">
                <a:highlight>
                  <a:srgbClr val="D9D2E9"/>
                </a:highlight>
                <a:latin typeface="Consolas"/>
                <a:ea typeface="Consolas"/>
                <a:cs typeface="Consolas"/>
                <a:sym typeface="Consolas"/>
              </a:rPr>
              <a:t>make </a:t>
            </a:r>
            <a:r>
              <a:rPr lang="en">
                <a:highlight>
                  <a:srgbClr val="D9D2E9"/>
                </a:highlight>
                <a:latin typeface="Consolas"/>
                <a:ea typeface="Consolas"/>
                <a:cs typeface="Consolas"/>
                <a:sym typeface="Consolas"/>
              </a:rPr>
              <a:t>[target]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make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will look in your working directory for a Makefile that tells it what to do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11700" y="2220675"/>
            <a:ext cx="4839300" cy="2310600"/>
          </a:xfrm>
          <a:prstGeom prst="rect">
            <a:avLst/>
          </a:prstGeom>
          <a:solidFill>
            <a:srgbClr val="2227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#</a:t>
            </a:r>
            <a:r>
              <a:rPr lang="en">
                <a:solidFill>
                  <a:schemeClr val="lt2"/>
                </a:solidFill>
              </a:rPr>
              <a:t> No makefile in this directory!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~/eecs280</a:t>
            </a:r>
            <a:r>
              <a:rPr lang="en">
                <a:solidFill>
                  <a:srgbClr val="6AA84F"/>
                </a:solidFill>
              </a:rPr>
              <a:t>$</a:t>
            </a:r>
            <a:r>
              <a:rPr lang="en">
                <a:solidFill>
                  <a:srgbClr val="EEEEEE"/>
                </a:solidFill>
              </a:rPr>
              <a:t> make main.exe</a:t>
            </a:r>
            <a:endParaRPr>
              <a:solidFill>
                <a:srgbClr val="EEEEE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make: *** No rule to make target 'main.exe'.  Stop.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~/eecs280$</a:t>
            </a:r>
            <a:r>
              <a:rPr lang="en">
                <a:solidFill>
                  <a:schemeClr val="lt2"/>
                </a:solidFill>
              </a:rPr>
              <a:t> cd p1-stats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~/eecs280/p1-stats$ </a:t>
            </a:r>
            <a:r>
              <a:rPr lang="en">
                <a:solidFill>
                  <a:schemeClr val="lt2"/>
                </a:solidFill>
              </a:rPr>
              <a:t>make main.exe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g++ --std=c++17 -o3 -Wall -Werror -pedantic -o3 -g -Wno-sign-compare -Wno-comment main.cpp -o main.exe</a:t>
            </a:r>
            <a:endParaRPr>
              <a:solidFill>
                <a:srgbClr val="B4A7D6"/>
              </a:solidFill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28013" l="33593" r="34309" t="29190"/>
          <a:stretch/>
        </p:blipFill>
        <p:spPr>
          <a:xfrm flipH="1">
            <a:off x="5804801" y="1091325"/>
            <a:ext cx="595999" cy="53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8"/>
          <p:cNvCxnSpPr>
            <a:stCxn id="105" idx="2"/>
          </p:cNvCxnSpPr>
          <p:nvPr/>
        </p:nvCxnSpPr>
        <p:spPr>
          <a:xfrm>
            <a:off x="6102800" y="1621550"/>
            <a:ext cx="0" cy="231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28013" l="33593" r="34309" t="29190"/>
          <a:stretch/>
        </p:blipFill>
        <p:spPr>
          <a:xfrm flipH="1">
            <a:off x="6400801" y="1687875"/>
            <a:ext cx="595999" cy="5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6381750" y="116190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eecs280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977750" y="175845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p1-stats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" name="Google Shape;110;p18"/>
          <p:cNvCxnSpPr>
            <a:stCxn id="107" idx="3"/>
          </p:cNvCxnSpPr>
          <p:nvPr/>
        </p:nvCxnSpPr>
        <p:spPr>
          <a:xfrm rot="10800000">
            <a:off x="6098701" y="195298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6679750" y="2218100"/>
            <a:ext cx="0" cy="125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8"/>
          <p:cNvCxnSpPr/>
          <p:nvPr/>
        </p:nvCxnSpPr>
        <p:spPr>
          <a:xfrm rot="10800000">
            <a:off x="6675651" y="25495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8"/>
          <p:cNvSpPr txBox="1"/>
          <p:nvPr/>
        </p:nvSpPr>
        <p:spPr>
          <a:xfrm>
            <a:off x="6977750" y="229185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 rot="10800000">
            <a:off x="6675651" y="30067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8"/>
          <p:cNvSpPr txBox="1"/>
          <p:nvPr/>
        </p:nvSpPr>
        <p:spPr>
          <a:xfrm>
            <a:off x="6977750" y="274905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main.cpp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 rot="10800000">
            <a:off x="6675651" y="34639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6977750" y="320625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8" name="Google Shape;118;p18"/>
          <p:cNvCxnSpPr/>
          <p:nvPr/>
        </p:nvCxnSpPr>
        <p:spPr>
          <a:xfrm rot="10800000">
            <a:off x="6098701" y="393418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8"/>
          <p:cNvSpPr txBox="1"/>
          <p:nvPr/>
        </p:nvSpPr>
        <p:spPr>
          <a:xfrm>
            <a:off x="6400800" y="3698679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EECS 280 P1 Makefile Excerpt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923875"/>
            <a:ext cx="8520600" cy="41136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CXX ?= g++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CXXFLAGS ?= -Wall -Werror -pedantic -g --std=c++17 -Wno-sign-compare -Wno-commen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# Run a regression test</a:t>
            </a:r>
            <a:endParaRPr sz="12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: stats_public_tests.exe stats_tests.exe two_sample.exe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./stats_public_tests.exe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./stats_tests.exe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./two_sample.exe cats.csv food 1 2 weight &gt; cats.out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diff cats.out cats.out.correct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# Compile the stats_tests executable</a:t>
            </a:r>
            <a:endParaRPr sz="12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stats_tests.exe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: stats_tests.cpp stats.cpp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96D0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$(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CXX</a:t>
            </a:r>
            <a:r>
              <a:rPr lang="en" sz="1200">
                <a:solidFill>
                  <a:srgbClr val="96D0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96D0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$(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CXXFLAGS</a:t>
            </a:r>
            <a:r>
              <a:rPr lang="en" sz="1200">
                <a:solidFill>
                  <a:srgbClr val="96D0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2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stats_tests.cpp stats.cpp -o stats_tests.exe</a:t>
            </a:r>
            <a:endParaRPr sz="12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126" name="Google Shape;126;p19"/>
          <p:cNvCxnSpPr>
            <a:stCxn id="127" idx="1"/>
          </p:cNvCxnSpPr>
          <p:nvPr/>
        </p:nvCxnSpPr>
        <p:spPr>
          <a:xfrm rot="10800000">
            <a:off x="1445225" y="1122650"/>
            <a:ext cx="399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/>
          <p:nvPr/>
        </p:nvSpPr>
        <p:spPr>
          <a:xfrm>
            <a:off x="1845125" y="996050"/>
            <a:ext cx="2193000" cy="25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compiler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(variable CXX)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" name="Google Shape;128;p19"/>
          <p:cNvCxnSpPr>
            <a:stCxn id="129" idx="1"/>
            <a:endCxn id="130" idx="1"/>
          </p:cNvCxnSpPr>
          <p:nvPr/>
        </p:nvCxnSpPr>
        <p:spPr>
          <a:xfrm rot="10800000">
            <a:off x="4645600" y="1654625"/>
            <a:ext cx="987600" cy="12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9"/>
          <p:cNvSpPr/>
          <p:nvPr/>
        </p:nvSpPr>
        <p:spPr>
          <a:xfrm>
            <a:off x="5633200" y="1654625"/>
            <a:ext cx="3380100" cy="25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compiler arguments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(variable CXXFLAGS)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19"/>
          <p:cNvSpPr/>
          <p:nvPr/>
        </p:nvSpPr>
        <p:spPr>
          <a:xfrm rot="5400000">
            <a:off x="4535225" y="-1656025"/>
            <a:ext cx="220500" cy="6400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19"/>
          <p:cNvCxnSpPr>
            <a:stCxn id="132" idx="1"/>
          </p:cNvCxnSpPr>
          <p:nvPr/>
        </p:nvCxnSpPr>
        <p:spPr>
          <a:xfrm rot="10800000">
            <a:off x="5870050" y="2115975"/>
            <a:ext cx="399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19"/>
          <p:cNvSpPr/>
          <p:nvPr/>
        </p:nvSpPr>
        <p:spPr>
          <a:xfrm>
            <a:off x="6269950" y="1989375"/>
            <a:ext cx="1771800" cy="25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file dependencies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553025" y="2223425"/>
            <a:ext cx="220500" cy="1050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9"/>
          <p:cNvCxnSpPr>
            <a:stCxn id="135" idx="1"/>
            <a:endCxn id="133" idx="1"/>
          </p:cNvCxnSpPr>
          <p:nvPr/>
        </p:nvCxnSpPr>
        <p:spPr>
          <a:xfrm rot="10800000">
            <a:off x="5773400" y="2748725"/>
            <a:ext cx="612300" cy="6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9"/>
          <p:cNvSpPr/>
          <p:nvPr/>
        </p:nvSpPr>
        <p:spPr>
          <a:xfrm>
            <a:off x="6385700" y="2495375"/>
            <a:ext cx="2105100" cy="63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run these 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commands 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sequentially when this target is called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206825" y="4264300"/>
            <a:ext cx="2965200" cy="63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call our compiler with all of its command line args to compile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stats_tests.exe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2455725" y="3230675"/>
            <a:ext cx="2715900" cy="25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target (make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stats_tests.exe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8" name="Google Shape;138;p19"/>
          <p:cNvCxnSpPr>
            <a:stCxn id="137" idx="2"/>
          </p:cNvCxnSpPr>
          <p:nvPr/>
        </p:nvCxnSpPr>
        <p:spPr>
          <a:xfrm flipH="1">
            <a:off x="1873575" y="3483875"/>
            <a:ext cx="1940100" cy="32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000075"/>
            <a:ext cx="85206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lt2"/>
                </a:solidFill>
              </a:rPr>
              <a:t>Write the </a:t>
            </a:r>
            <a:r>
              <a:rPr lang="en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count_if()</a:t>
            </a:r>
            <a:r>
              <a:rPr lang="en" sz="1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900">
                <a:solidFill>
                  <a:schemeClr val="lt2"/>
                </a:solidFill>
              </a:rPr>
              <a:t>function, which counts the number of occurrences of a value in a vector.</a:t>
            </a:r>
            <a:endParaRPr b="1"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318400" y="2362200"/>
            <a:ext cx="8520600" cy="2381100"/>
          </a:xfrm>
          <a:prstGeom prst="rect">
            <a:avLst/>
          </a:prstGeom>
          <a:solidFill>
            <a:srgbClr val="22272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68390"/>
                </a:solidFill>
                <a:latin typeface="Courier New"/>
                <a:ea typeface="Courier New"/>
                <a:cs typeface="Courier New"/>
                <a:sym typeface="Courier New"/>
              </a:rPr>
              <a:t>// function header</a:t>
            </a:r>
            <a:endParaRPr sz="18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F69D50"/>
                </a:solidFill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800">
                <a:solidFill>
                  <a:srgbClr val="F69D5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69D5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DBA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68390"/>
                </a:solidFill>
                <a:latin typeface="Courier New"/>
                <a:ea typeface="Courier New"/>
                <a:cs typeface="Courier New"/>
                <a:sym typeface="Courier New"/>
              </a:rPr>
              <a:t>// example outputs</a:t>
            </a:r>
            <a:endParaRPr sz="18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2.5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-3.1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80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CBDFB"/>
                </a:solidFill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2.5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-3.1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800">
                <a:solidFill>
                  <a:srgbClr val="F47067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8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6CB6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800">
              <a:solidFill>
                <a:srgbClr val="F4706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11700" y="951100"/>
            <a:ext cx="8520600" cy="41028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x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x)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458975" y="3746325"/>
            <a:ext cx="2261400" cy="1167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problems, if any, do you see with this solution?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x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x)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1232925" y="2270850"/>
            <a:ext cx="1090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3"/>
          <p:cNvCxnSpPr>
            <a:stCxn id="165" idx="3"/>
            <a:endCxn id="167" idx="1"/>
          </p:cNvCxnSpPr>
          <p:nvPr/>
        </p:nvCxnSpPr>
        <p:spPr>
          <a:xfrm flipH="1" rot="10800000">
            <a:off x="2323725" y="2355900"/>
            <a:ext cx="3558000" cy="6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3"/>
          <p:cNvSpPr/>
          <p:nvPr/>
        </p:nvSpPr>
        <p:spPr>
          <a:xfrm>
            <a:off x="5881725" y="1734325"/>
            <a:ext cx="2490600" cy="1243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Using a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as a loop variable can cause issues. Here it would likely be fine, but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don’t do it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5881725" y="3027625"/>
            <a:ext cx="24906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	 double x = 1.4;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x -= 0.4;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assert(x == 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5038050" y="3990025"/>
            <a:ext cx="4064400" cy="470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main(): Assertion `x == 1' failed.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1"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5468375" y="2908125"/>
            <a:ext cx="2261400" cy="1167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now make it an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though we’ll talk about this more later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661575" y="2418200"/>
            <a:ext cx="2449200" cy="17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 more issues, but let’s talk about the difference between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++i | i++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4112950" y="2270850"/>
            <a:ext cx="457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25"/>
          <p:cNvCxnSpPr>
            <a:stCxn id="184" idx="3"/>
            <a:endCxn id="183" idx="1"/>
          </p:cNvCxnSpPr>
          <p:nvPr/>
        </p:nvCxnSpPr>
        <p:spPr>
          <a:xfrm>
            <a:off x="4570750" y="2421300"/>
            <a:ext cx="1090800" cy="86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5"/>
          <p:cNvCxnSpPr>
            <a:stCxn id="187" idx="3"/>
            <a:endCxn id="183" idx="1"/>
          </p:cNvCxnSpPr>
          <p:nvPr/>
        </p:nvCxnSpPr>
        <p:spPr>
          <a:xfrm>
            <a:off x="2620450" y="3044250"/>
            <a:ext cx="3041100" cy="2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5"/>
          <p:cNvSpPr/>
          <p:nvPr/>
        </p:nvSpPr>
        <p:spPr>
          <a:xfrm>
            <a:off x="1596250" y="2893800"/>
            <a:ext cx="10242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5661575" y="2418200"/>
            <a:ext cx="2449200" cy="19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++i: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increment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return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   int x =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int y = ++x;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// x ==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// y ==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4112950" y="2270850"/>
            <a:ext cx="457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6"/>
          <p:cNvCxnSpPr>
            <a:stCxn id="195" idx="3"/>
            <a:endCxn id="194" idx="1"/>
          </p:cNvCxnSpPr>
          <p:nvPr/>
        </p:nvCxnSpPr>
        <p:spPr>
          <a:xfrm>
            <a:off x="4570750" y="2421300"/>
            <a:ext cx="1090800" cy="95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661575" y="2037200"/>
            <a:ext cx="2449200" cy="2060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i++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make a copy of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increment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return copy of 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   int x =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int y = x++;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// x ==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// y ==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1606099" y="2871212"/>
            <a:ext cx="9900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p27"/>
          <p:cNvCxnSpPr>
            <a:stCxn id="204" idx="3"/>
            <a:endCxn id="203" idx="1"/>
          </p:cNvCxnSpPr>
          <p:nvPr/>
        </p:nvCxnSpPr>
        <p:spPr>
          <a:xfrm>
            <a:off x="2596099" y="3021662"/>
            <a:ext cx="3065400" cy="4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7"/>
          <p:cNvSpPr/>
          <p:nvPr/>
        </p:nvSpPr>
        <p:spPr>
          <a:xfrm>
            <a:off x="4764725" y="4097300"/>
            <a:ext cx="4242900" cy="859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i++ has the same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effect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as ++i when it’s on its own, but making copies of certain types can be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expensive, so favor ++i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5661575" y="2418200"/>
            <a:ext cx="2629800" cy="1329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also talk about the difference between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v.at(i) | v[i]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4" name="Google Shape;214;p28"/>
          <p:cNvCxnSpPr>
            <a:stCxn id="215" idx="3"/>
            <a:endCxn id="213" idx="1"/>
          </p:cNvCxnSpPr>
          <p:nvPr/>
        </p:nvCxnSpPr>
        <p:spPr>
          <a:xfrm>
            <a:off x="2149750" y="2722200"/>
            <a:ext cx="3511800" cy="36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8"/>
          <p:cNvSpPr/>
          <p:nvPr/>
        </p:nvSpPr>
        <p:spPr>
          <a:xfrm>
            <a:off x="1596250" y="2571750"/>
            <a:ext cx="5535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2" name="Google Shape;222;p29"/>
          <p:cNvCxnSpPr>
            <a:stCxn id="223" idx="3"/>
            <a:endCxn id="224" idx="1"/>
          </p:cNvCxnSpPr>
          <p:nvPr/>
        </p:nvCxnSpPr>
        <p:spPr>
          <a:xfrm>
            <a:off x="2149750" y="2722200"/>
            <a:ext cx="3511800" cy="17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9"/>
          <p:cNvSpPr/>
          <p:nvPr/>
        </p:nvSpPr>
        <p:spPr>
          <a:xfrm>
            <a:off x="1596250" y="2571750"/>
            <a:ext cx="5535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/>
          <p:nvPr/>
        </p:nvSpPr>
        <p:spPr>
          <a:xfrm>
            <a:off x="4965025" y="3374900"/>
            <a:ext cx="3934800" cy="689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	 vector&lt;int&gt; v = {1, 2, 3};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cout &lt;&lt; v[3] &lt;&lt; endl;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904275" y="4157025"/>
            <a:ext cx="4056300" cy="41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(junk value,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undefined behavior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5661575" y="2418200"/>
            <a:ext cx="2929800" cy="956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v[i] accesses element directly,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even if it’s out of bounds!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(often not caught on MacOS)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the number of elements in the 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vector that are equal to the given value.</a:t>
            </a:r>
            <a:endParaRPr sz="1500">
              <a:solidFill>
                <a:srgbClr val="F4706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count_if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count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.at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(i)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count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5552725" y="2418200"/>
            <a:ext cx="2759400" cy="956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v.at(i) checks that index is in bounds first, but can be slower if you’re calling it a 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5" name="Google Shape;235;p30"/>
          <p:cNvCxnSpPr>
            <a:stCxn id="236" idx="3"/>
            <a:endCxn id="234" idx="1"/>
          </p:cNvCxnSpPr>
          <p:nvPr/>
        </p:nvCxnSpPr>
        <p:spPr>
          <a:xfrm>
            <a:off x="2466250" y="2722200"/>
            <a:ext cx="3086400" cy="17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0"/>
          <p:cNvSpPr/>
          <p:nvPr/>
        </p:nvSpPr>
        <p:spPr>
          <a:xfrm>
            <a:off x="1596250" y="2571750"/>
            <a:ext cx="8700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4965025" y="3374900"/>
            <a:ext cx="3934800" cy="689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	 vector&lt;int&gt; v = {1, 2, 3};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cout &lt;&lt; v.at(3) &lt;&lt; endl;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4904275" y="4157025"/>
            <a:ext cx="4056300" cy="572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terminate called after throwing an instance of 'std::out_of_range'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318400" y="2133475"/>
            <a:ext cx="8520600" cy="2716200"/>
          </a:xfrm>
          <a:prstGeom prst="rect">
            <a:avLst/>
          </a:prstGeom>
          <a:solidFill>
            <a:srgbClr val="22272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function header</a:t>
            </a:r>
            <a:endParaRPr sz="175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5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75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75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75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D5B7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example outputs</a:t>
            </a:r>
            <a:endParaRPr sz="175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5.7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}) </a:t>
            </a: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750">
              <a:solidFill>
                <a:srgbClr val="6CB6FF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}) </a:t>
            </a: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750">
              <a:solidFill>
                <a:srgbClr val="6CB6FF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({}) </a:t>
            </a:r>
            <a:r>
              <a:rPr lang="en" sz="175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75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5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75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311700" y="1000075"/>
            <a:ext cx="85206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</a:rPr>
              <a:t>Write the </a:t>
            </a:r>
            <a:r>
              <a:rPr lang="en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has_zero()</a:t>
            </a:r>
            <a:r>
              <a:rPr lang="en" sz="1900">
                <a:solidFill>
                  <a:schemeClr val="lt2"/>
                </a:solidFill>
              </a:rPr>
              <a:t> function, which returns true if a vector contains zero, and false otherwise.</a:t>
            </a:r>
            <a:endParaRPr sz="1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6458975" y="3746325"/>
            <a:ext cx="2261400" cy="1167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problems, if any, do you see with this solution?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2977550" y="1964300"/>
            <a:ext cx="994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34"/>
          <p:cNvCxnSpPr>
            <a:stCxn id="265" idx="2"/>
          </p:cNvCxnSpPr>
          <p:nvPr/>
        </p:nvCxnSpPr>
        <p:spPr>
          <a:xfrm>
            <a:off x="3474950" y="2265200"/>
            <a:ext cx="2227500" cy="136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4"/>
          <p:cNvSpPr/>
          <p:nvPr/>
        </p:nvSpPr>
        <p:spPr>
          <a:xfrm>
            <a:off x="5010925" y="3008050"/>
            <a:ext cx="34203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type does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v.size()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return?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8" name="Google Shape;268;p34"/>
          <p:cNvGrpSpPr/>
          <p:nvPr/>
        </p:nvGrpSpPr>
        <p:grpSpPr>
          <a:xfrm>
            <a:off x="1254850" y="1964300"/>
            <a:ext cx="7176375" cy="1956050"/>
            <a:chOff x="1254850" y="1964300"/>
            <a:chExt cx="7176375" cy="1956050"/>
          </a:xfrm>
        </p:grpSpPr>
        <p:grpSp>
          <p:nvGrpSpPr>
            <p:cNvPr id="269" name="Google Shape;269;p34"/>
            <p:cNvGrpSpPr/>
            <p:nvPr/>
          </p:nvGrpSpPr>
          <p:grpSpPr>
            <a:xfrm>
              <a:off x="1254850" y="1964300"/>
              <a:ext cx="4476000" cy="1645650"/>
              <a:chOff x="1254850" y="1964300"/>
              <a:chExt cx="4476000" cy="1645650"/>
            </a:xfrm>
          </p:grpSpPr>
          <p:sp>
            <p:nvSpPr>
              <p:cNvPr id="270" name="Google Shape;270;p34"/>
              <p:cNvSpPr/>
              <p:nvPr/>
            </p:nvSpPr>
            <p:spPr>
              <a:xfrm>
                <a:off x="1254850" y="1964300"/>
                <a:ext cx="470100" cy="300900"/>
              </a:xfrm>
              <a:prstGeom prst="rect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1" name="Google Shape;271;p34"/>
              <p:cNvCxnSpPr>
                <a:stCxn id="270" idx="3"/>
              </p:cNvCxnSpPr>
              <p:nvPr/>
            </p:nvCxnSpPr>
            <p:spPr>
              <a:xfrm>
                <a:off x="1724950" y="2114750"/>
                <a:ext cx="4005900" cy="1495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2" name="Google Shape;272;p34"/>
            <p:cNvSpPr/>
            <p:nvPr/>
          </p:nvSpPr>
          <p:spPr>
            <a:xfrm>
              <a:off x="5010925" y="3008050"/>
              <a:ext cx="3420300" cy="912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Are these two the same type?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5315725" y="1865050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is signed, while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is unsigned. If i &lt; 0, comparison can cause issues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5315725" y="2777350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e.g.    int i = -1;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size_t y =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assert(i &lt; 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4828375" y="3689650"/>
            <a:ext cx="4101600" cy="460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main(): Assertion `i &lt; y' failed.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5207875" y="4206824"/>
            <a:ext cx="3342600" cy="725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should generally favor using size_t when looping through indices to avoid issues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88" name="Google Shape;288;p36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5010925" y="3008050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there a clearer way of conveying the return value?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681250" y="3506400"/>
            <a:ext cx="1090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6"/>
          <p:cNvSpPr/>
          <p:nvPr/>
        </p:nvSpPr>
        <p:spPr>
          <a:xfrm>
            <a:off x="1604675" y="2571750"/>
            <a:ext cx="10908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36"/>
          <p:cNvCxnSpPr>
            <a:stCxn id="290" idx="3"/>
            <a:endCxn id="289" idx="1"/>
          </p:cNvCxnSpPr>
          <p:nvPr/>
        </p:nvCxnSpPr>
        <p:spPr>
          <a:xfrm flipH="1" rot="10800000">
            <a:off x="1772050" y="3464250"/>
            <a:ext cx="3238800" cy="192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6"/>
          <p:cNvCxnSpPr>
            <a:stCxn id="291" idx="3"/>
            <a:endCxn id="289" idx="1"/>
          </p:cNvCxnSpPr>
          <p:nvPr/>
        </p:nvCxnSpPr>
        <p:spPr>
          <a:xfrm>
            <a:off x="2695475" y="2722200"/>
            <a:ext cx="2315400" cy="741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#1</a:t>
            </a:r>
            <a:endParaRPr/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6458975" y="3746325"/>
            <a:ext cx="2261400" cy="1167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problems, if any, do you see with this solution?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has_zero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5278950" y="2571750"/>
            <a:ext cx="3126900" cy="1028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It’s generally a bad idea to give a variable the same name as a function, since it can cause name conflicts.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4" name="Google Shape;314;p39"/>
          <p:cNvCxnSpPr>
            <a:stCxn id="315" idx="3"/>
            <a:endCxn id="313" idx="1"/>
          </p:cNvCxnSpPr>
          <p:nvPr/>
        </p:nvCxnSpPr>
        <p:spPr>
          <a:xfrm>
            <a:off x="2775950" y="2421300"/>
            <a:ext cx="2502900" cy="66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39"/>
          <p:cNvSpPr/>
          <p:nvPr/>
        </p:nvSpPr>
        <p:spPr>
          <a:xfrm>
            <a:off x="1110350" y="2270850"/>
            <a:ext cx="16656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" name="Google Shape;328;p41"/>
          <p:cNvSpPr/>
          <p:nvPr/>
        </p:nvSpPr>
        <p:spPr>
          <a:xfrm>
            <a:off x="5278950" y="2571750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happens to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on each iteration?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41"/>
          <p:cNvSpPr/>
          <p:nvPr/>
        </p:nvSpPr>
        <p:spPr>
          <a:xfrm>
            <a:off x="1089225" y="2270850"/>
            <a:ext cx="2943900" cy="30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41"/>
          <p:cNvCxnSpPr>
            <a:stCxn id="329" idx="3"/>
            <a:endCxn id="328" idx="1"/>
          </p:cNvCxnSpPr>
          <p:nvPr/>
        </p:nvCxnSpPr>
        <p:spPr>
          <a:xfrm>
            <a:off x="4033125" y="2421300"/>
            <a:ext cx="1245900" cy="60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311700" y="951100"/>
            <a:ext cx="8520600" cy="41271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found_zero </a:t>
            </a:r>
            <a:r>
              <a:rPr b="1"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42" name="Google Shape;342;p43"/>
          <p:cNvSpPr txBox="1"/>
          <p:nvPr>
            <p:ph idx="1" type="body"/>
          </p:nvPr>
        </p:nvSpPr>
        <p:spPr>
          <a:xfrm>
            <a:off x="311700" y="951100"/>
            <a:ext cx="8520600" cy="41271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5412975" y="3396475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we have to loop through the entire vector no matter what?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311700" y="951100"/>
            <a:ext cx="8520600" cy="41271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found_zero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found_zero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5320200" y="3458350"/>
            <a:ext cx="3126900" cy="912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we even need found_zero?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Solution #2</a:t>
            </a:r>
            <a:endParaRPr/>
          </a:p>
        </p:txBody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311700" y="951100"/>
            <a:ext cx="8520600" cy="4078500"/>
          </a:xfrm>
          <a:prstGeom prst="rect">
            <a:avLst/>
          </a:prstGeom>
          <a:solidFill>
            <a:srgbClr val="22272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EFFECTS: Returns true if the vector contains 0, and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6839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//          false otherwise</a:t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has_zero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500">
                <a:solidFill>
                  <a:srgbClr val="F69D50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500">
                <a:solidFill>
                  <a:srgbClr val="DCBDFB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1"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4706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6CB6FF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BAC7"/>
                </a:solidFill>
                <a:highlight>
                  <a:srgbClr val="22272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ADBAC7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68390"/>
              </a:solidFill>
              <a:highlight>
                <a:srgbClr val="22272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47"/>
          <p:cNvGraphicFramePr/>
          <p:nvPr/>
        </p:nvGraphicFramePr>
        <p:xfrm>
          <a:off x="866150" y="15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{11E4D187-BA79-4797-9551-BFE49FC9F5F1}</a:tableStyleId>
              </a:tblPr>
              <a:tblGrid>
                <a:gridCol w="4642700"/>
                <a:gridCol w="2769000"/>
              </a:tblGrid>
              <a:tr h="49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B9CC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Takeaway</a:t>
                      </a:r>
                      <a:endParaRPr b="1" sz="1600">
                        <a:solidFill>
                          <a:srgbClr val="0B9CC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B9CC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Example</a:t>
                      </a:r>
                      <a:endParaRPr b="1" sz="1600">
                        <a:solidFill>
                          <a:srgbClr val="0B9CC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0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 </a:t>
                      </a:r>
                      <a:r>
                        <a:rPr b="1"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size_t</a:t>
                      </a: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when looping through vector indices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count_if() loop,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has_zero() loop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0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 </a:t>
                      </a:r>
                      <a:r>
                        <a:rPr b="1"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++i</a:t>
                      </a: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when just incrementing, as i++ makes a copy of the object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count_if() loop,</a:t>
                      </a:r>
                      <a:endParaRPr b="1" sz="1800">
                        <a:solidFill>
                          <a:schemeClr val="l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has_zero() loop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785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EEEE"/>
                        </a:buClr>
                        <a:buSzPts val="1400"/>
                        <a:buFont typeface="Consolas"/>
                        <a:buChar char="●"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v[i] accesses faster, but won’t check for out of bounds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EEEE"/>
                        </a:buClr>
                        <a:buSzPts val="1400"/>
                        <a:buFont typeface="Consolas"/>
                        <a:buChar char="●"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v.at(i) will crash on an out of bounds access, but is slower if called a lot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count_if() and has_zero() vector accesses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8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readability is important, simple code should be self-explanatory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 true vs return 1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6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Refactoring and rewriting code is a part of the programming process</a:t>
                      </a:r>
                      <a:endParaRPr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EEEEE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 code review!</a:t>
                      </a:r>
                      <a:endParaRPr b="1" sz="1800">
                        <a:solidFill>
                          <a:srgbClr val="EEEEEE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Demo</a:t>
            </a:r>
            <a:endParaRPr/>
          </a:p>
        </p:txBody>
      </p:sp>
      <p:pic>
        <p:nvPicPr>
          <p:cNvPr id="373" name="Google Shape;373;p48" title="Screenshot_2026-01-15_15-46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725" y="1649400"/>
            <a:ext cx="65341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8"/>
          <p:cNvSpPr/>
          <p:nvPr/>
        </p:nvSpPr>
        <p:spPr>
          <a:xfrm>
            <a:off x="4056350" y="865325"/>
            <a:ext cx="3126900" cy="708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Make sure you have the right extensions installed!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5" name="Google Shape;37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750" y="2078076"/>
            <a:ext cx="626426" cy="62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9300" y="1921988"/>
            <a:ext cx="1072625" cy="10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663" y="3602076"/>
            <a:ext cx="626426" cy="62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3750" y="3390700"/>
            <a:ext cx="6432075" cy="114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Debugger Demo</a:t>
            </a:r>
            <a:endParaRPr/>
          </a:p>
        </p:txBody>
      </p:sp>
      <p:sp>
        <p:nvSpPr>
          <p:cNvPr id="384" name="Google Shape;384;p49"/>
          <p:cNvSpPr/>
          <p:nvPr/>
        </p:nvSpPr>
        <p:spPr>
          <a:xfrm>
            <a:off x="311700" y="865325"/>
            <a:ext cx="4669500" cy="9543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Download the demo files from the lab folder and put them in their own directory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(we recommend calling it “debugging_demo”)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5" name="Google Shape;38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75" y="1988425"/>
            <a:ext cx="4224874" cy="15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250" y="2176700"/>
            <a:ext cx="1537400" cy="15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9"/>
          <p:cNvPicPr preferRelativeResize="0"/>
          <p:nvPr/>
        </p:nvPicPr>
        <p:blipFill rotWithShape="1">
          <a:blip r:embed="rId5">
            <a:alphaModFix/>
          </a:blip>
          <a:srcRect b="28013" l="33593" r="34309" t="29190"/>
          <a:stretch/>
        </p:blipFill>
        <p:spPr>
          <a:xfrm flipH="1">
            <a:off x="5804801" y="1548525"/>
            <a:ext cx="595999" cy="53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49"/>
          <p:cNvCxnSpPr>
            <a:stCxn id="387" idx="2"/>
          </p:cNvCxnSpPr>
          <p:nvPr/>
        </p:nvCxnSpPr>
        <p:spPr>
          <a:xfrm>
            <a:off x="6102800" y="2078750"/>
            <a:ext cx="0" cy="186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9" name="Google Shape;389;p49"/>
          <p:cNvPicPr preferRelativeResize="0"/>
          <p:nvPr/>
        </p:nvPicPr>
        <p:blipFill rotWithShape="1">
          <a:blip r:embed="rId5">
            <a:alphaModFix/>
          </a:blip>
          <a:srcRect b="28013" l="33593" r="34309" t="29190"/>
          <a:stretch/>
        </p:blipFill>
        <p:spPr>
          <a:xfrm flipH="1">
            <a:off x="6400801" y="2145075"/>
            <a:ext cx="595999" cy="5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 txBox="1"/>
          <p:nvPr/>
        </p:nvSpPr>
        <p:spPr>
          <a:xfrm>
            <a:off x="6381750" y="161910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eecs280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49"/>
          <p:cNvSpPr txBox="1"/>
          <p:nvPr/>
        </p:nvSpPr>
        <p:spPr>
          <a:xfrm>
            <a:off x="6977750" y="2215650"/>
            <a:ext cx="2054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debugging_demo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2" name="Google Shape;392;p49"/>
          <p:cNvCxnSpPr>
            <a:stCxn id="389" idx="3"/>
          </p:cNvCxnSpPr>
          <p:nvPr/>
        </p:nvCxnSpPr>
        <p:spPr>
          <a:xfrm rot="10800000">
            <a:off x="6098701" y="241018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9"/>
          <p:cNvCxnSpPr/>
          <p:nvPr/>
        </p:nvCxnSpPr>
        <p:spPr>
          <a:xfrm>
            <a:off x="6679750" y="2675300"/>
            <a:ext cx="0" cy="78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9"/>
          <p:cNvCxnSpPr/>
          <p:nvPr/>
        </p:nvCxnSpPr>
        <p:spPr>
          <a:xfrm rot="10800000">
            <a:off x="6675651" y="30067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49"/>
          <p:cNvSpPr txBox="1"/>
          <p:nvPr/>
        </p:nvSpPr>
        <p:spPr>
          <a:xfrm>
            <a:off x="6977750" y="2749054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6" name="Google Shape;396;p49"/>
          <p:cNvCxnSpPr/>
          <p:nvPr/>
        </p:nvCxnSpPr>
        <p:spPr>
          <a:xfrm rot="10800000">
            <a:off x="6675651" y="34639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49"/>
          <p:cNvSpPr txBox="1"/>
          <p:nvPr/>
        </p:nvSpPr>
        <p:spPr>
          <a:xfrm>
            <a:off x="6977750" y="3206250"/>
            <a:ext cx="1923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grades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.cpp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8" name="Google Shape;398;p49"/>
          <p:cNvCxnSpPr/>
          <p:nvPr/>
        </p:nvCxnSpPr>
        <p:spPr>
          <a:xfrm rot="10800000">
            <a:off x="6098701" y="393418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49"/>
          <p:cNvSpPr txBox="1"/>
          <p:nvPr/>
        </p:nvSpPr>
        <p:spPr>
          <a:xfrm>
            <a:off x="6400800" y="3698679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 rotWithShape="1">
          <a:blip r:embed="rId5">
            <a:alphaModFix/>
          </a:blip>
          <a:srcRect b="28013" l="33593" r="34309" t="29190"/>
          <a:stretch/>
        </p:blipFill>
        <p:spPr>
          <a:xfrm flipH="1">
            <a:off x="5195201" y="957975"/>
            <a:ext cx="595999" cy="53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49"/>
          <p:cNvCxnSpPr>
            <a:stCxn id="400" idx="2"/>
          </p:cNvCxnSpPr>
          <p:nvPr/>
        </p:nvCxnSpPr>
        <p:spPr>
          <a:xfrm>
            <a:off x="5493200" y="1488200"/>
            <a:ext cx="0" cy="297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9"/>
          <p:cNvCxnSpPr/>
          <p:nvPr/>
        </p:nvCxnSpPr>
        <p:spPr>
          <a:xfrm rot="10800000">
            <a:off x="5489101" y="181963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9"/>
          <p:cNvSpPr txBox="1"/>
          <p:nvPr/>
        </p:nvSpPr>
        <p:spPr>
          <a:xfrm>
            <a:off x="5791200" y="1019029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4" name="Google Shape;404;p49"/>
          <p:cNvCxnSpPr/>
          <p:nvPr/>
        </p:nvCxnSpPr>
        <p:spPr>
          <a:xfrm rot="10800000">
            <a:off x="5489101" y="4467587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49"/>
          <p:cNvSpPr txBox="1"/>
          <p:nvPr/>
        </p:nvSpPr>
        <p:spPr>
          <a:xfrm>
            <a:off x="5791200" y="4232079"/>
            <a:ext cx="13389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6" name="Google Shape;406;p49"/>
          <p:cNvCxnSpPr>
            <a:stCxn id="386" idx="3"/>
          </p:cNvCxnSpPr>
          <p:nvPr/>
        </p:nvCxnSpPr>
        <p:spPr>
          <a:xfrm>
            <a:off x="4697650" y="2945400"/>
            <a:ext cx="1750800" cy="255000"/>
          </a:xfrm>
          <a:prstGeom prst="straightConnector1">
            <a:avLst/>
          </a:prstGeom>
          <a:noFill/>
          <a:ln cap="flat" cmpd="sng" w="38100">
            <a:solidFill>
              <a:srgbClr val="F4706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49"/>
          <p:cNvSpPr/>
          <p:nvPr/>
        </p:nvSpPr>
        <p:spPr>
          <a:xfrm>
            <a:off x="600300" y="3760925"/>
            <a:ext cx="3126900" cy="838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Next, open that directory in VSCode. On Windows, make sure to “Open in WSL”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3F3F3F"/>
      </a:lt1>
      <a:dk2>
        <a:srgbClr val="595959"/>
      </a:dk2>
      <a:lt2>
        <a:srgbClr val="EEEEEE"/>
      </a:lt2>
      <a:accent1>
        <a:srgbClr val="0B9CCA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