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Lst>
  <p:sldSz cy="10058400" cx="7772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125FFC-DCD0-4C25-9C45-EFA5304A334F}">
  <a:tblStyle styleId="{7E125FFC-DCD0-4C25-9C45-EFA5304A334F}"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B4F0A0A-C41C-4A52-BD53-5353AF5F669F}"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7C819ED-3824-45BC-8647-06DE0531FE43}"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c49efd305_0_3: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2c49efd30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a99183ddf_0_228: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a99183ddf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a99183ddf_0_175: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a99183ddf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f44edf37f0_0_3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f44edf37f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7bb7eac434_0_58: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7bb7eac43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c49efd305_0_64: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2c49efd30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456058"/>
            <a:ext cx="7242600" cy="40140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4945" y="5542289"/>
            <a:ext cx="7242600" cy="1550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64945" y="4206107"/>
            <a:ext cx="72426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64945" y="2253729"/>
            <a:ext cx="7242600" cy="6681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64945"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107540"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64945" y="1086507"/>
            <a:ext cx="2386800" cy="1477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64945" y="2717440"/>
            <a:ext cx="2386800" cy="6217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16713" y="880293"/>
            <a:ext cx="5412600" cy="7999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5675" y="2411542"/>
            <a:ext cx="3438300" cy="2898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5675" y="5481569"/>
            <a:ext cx="3438300" cy="2415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98575" y="1415969"/>
            <a:ext cx="3261600" cy="7226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64945" y="8273124"/>
            <a:ext cx="5099100" cy="11832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64945" y="2163089"/>
            <a:ext cx="7242600" cy="38397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64945" y="6164351"/>
            <a:ext cx="7242600" cy="2543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264952" y="1456058"/>
            <a:ext cx="7242600" cy="4014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264945" y="5542289"/>
            <a:ext cx="7242600" cy="15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15"/>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6"/>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17"/>
          <p:cNvSpPr txBox="1"/>
          <p:nvPr>
            <p:ph type="title"/>
          </p:nvPr>
        </p:nvSpPr>
        <p:spPr>
          <a:xfrm>
            <a:off x="264945" y="4206107"/>
            <a:ext cx="72426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6" name="Google Shape;66;p17"/>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8"/>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8"/>
          <p:cNvSpPr txBox="1"/>
          <p:nvPr>
            <p:ph idx="1" type="body"/>
          </p:nvPr>
        </p:nvSpPr>
        <p:spPr>
          <a:xfrm>
            <a:off x="264945" y="2253729"/>
            <a:ext cx="3399900" cy="6681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18"/>
          <p:cNvSpPr txBox="1"/>
          <p:nvPr>
            <p:ph idx="2" type="body"/>
          </p:nvPr>
        </p:nvSpPr>
        <p:spPr>
          <a:xfrm>
            <a:off x="4107540" y="2253729"/>
            <a:ext cx="3399900" cy="6681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18"/>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9"/>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9"/>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20"/>
          <p:cNvSpPr txBox="1"/>
          <p:nvPr>
            <p:ph type="title"/>
          </p:nvPr>
        </p:nvSpPr>
        <p:spPr>
          <a:xfrm>
            <a:off x="264945" y="1086507"/>
            <a:ext cx="2386800" cy="1477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20"/>
          <p:cNvSpPr txBox="1"/>
          <p:nvPr>
            <p:ph idx="1" type="body"/>
          </p:nvPr>
        </p:nvSpPr>
        <p:spPr>
          <a:xfrm>
            <a:off x="264945" y="2717440"/>
            <a:ext cx="2386800" cy="6217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p20"/>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21"/>
          <p:cNvSpPr txBox="1"/>
          <p:nvPr>
            <p:ph type="title"/>
          </p:nvPr>
        </p:nvSpPr>
        <p:spPr>
          <a:xfrm>
            <a:off x="416713" y="880293"/>
            <a:ext cx="5412600" cy="7999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2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2"/>
          <p:cNvSpPr/>
          <p:nvPr/>
        </p:nvSpPr>
        <p:spPr>
          <a:xfrm>
            <a:off x="3886200" y="-244"/>
            <a:ext cx="38862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2"/>
          <p:cNvSpPr txBox="1"/>
          <p:nvPr>
            <p:ph type="title"/>
          </p:nvPr>
        </p:nvSpPr>
        <p:spPr>
          <a:xfrm>
            <a:off x="225675" y="2411542"/>
            <a:ext cx="3438300" cy="2898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22"/>
          <p:cNvSpPr txBox="1"/>
          <p:nvPr>
            <p:ph idx="1" type="subTitle"/>
          </p:nvPr>
        </p:nvSpPr>
        <p:spPr>
          <a:xfrm>
            <a:off x="225675" y="5481569"/>
            <a:ext cx="3438300" cy="2415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22"/>
          <p:cNvSpPr txBox="1"/>
          <p:nvPr>
            <p:ph idx="2" type="body"/>
          </p:nvPr>
        </p:nvSpPr>
        <p:spPr>
          <a:xfrm>
            <a:off x="4198575" y="1415969"/>
            <a:ext cx="3261600" cy="7226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22"/>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3"/>
          <p:cNvSpPr txBox="1"/>
          <p:nvPr>
            <p:ph idx="1" type="body"/>
          </p:nvPr>
        </p:nvSpPr>
        <p:spPr>
          <a:xfrm>
            <a:off x="264945" y="8273124"/>
            <a:ext cx="5099100" cy="11832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0" name="Google Shape;90;p23"/>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4"/>
          <p:cNvSpPr txBox="1"/>
          <p:nvPr>
            <p:ph hasCustomPrompt="1" type="title"/>
          </p:nvPr>
        </p:nvSpPr>
        <p:spPr>
          <a:xfrm>
            <a:off x="264945" y="2163089"/>
            <a:ext cx="7242600" cy="3839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24"/>
          <p:cNvSpPr txBox="1"/>
          <p:nvPr>
            <p:ph idx="1" type="body"/>
          </p:nvPr>
        </p:nvSpPr>
        <p:spPr>
          <a:xfrm>
            <a:off x="264945" y="6164351"/>
            <a:ext cx="7242600" cy="25437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4" name="Google Shape;94;p24"/>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hyperlink" Target="https://eecs280staff.github.io/tutorials/setup_asan.html" TargetMode="External"/><Relationship Id="rId4" Type="http://schemas.openxmlformats.org/officeDocument/2006/relationships/hyperlink" Target="https://eecs280staff.github.io/tutorials/setup_asan.html" TargetMode="External"/><Relationship Id="rId5" Type="http://schemas.openxmlformats.org/officeDocument/2006/relationships/hyperlink" Target="https://eecs280staff.github.io/tutorials/setup_vscode_wsl.html#debug" TargetMode="External"/><Relationship Id="rId6" Type="http://schemas.openxmlformats.org/officeDocument/2006/relationships/hyperlink" Target="https://eecs280staff.github.io/tutorials/setup_vscode_macos.html#debug" TargetMode="External"/><Relationship Id="rId7" Type="http://schemas.openxmlformats.org/officeDocument/2006/relationships/hyperlink" Target="https://eecs280staff.github.io/tutorials/debugging_guide.html" TargetMode="External"/><Relationship Id="rId8" Type="http://schemas.openxmlformats.org/officeDocument/2006/relationships/hyperlink" Target="https://eecs280staff.github.io/tutorials/assertions_guide.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s://eecs280staff.github.io/unit_test_framework/"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nvSpPr>
        <p:spPr>
          <a:xfrm>
            <a:off x="104275" y="146500"/>
            <a:ext cx="7566300" cy="833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0"/>
              </a:spcAft>
              <a:buClr>
                <a:schemeClr val="dk1"/>
              </a:buClr>
              <a:buSzPts val="1100"/>
              <a:buFont typeface="Arial"/>
              <a:buNone/>
            </a:pPr>
            <a:r>
              <a:rPr lang="en" sz="2400">
                <a:solidFill>
                  <a:schemeClr val="dk1"/>
                </a:solidFill>
              </a:rPr>
              <a:t>Lab 2 Worksheet</a:t>
            </a:r>
            <a:br>
              <a:rPr lang="en" sz="2300">
                <a:solidFill>
                  <a:schemeClr val="dk1"/>
                </a:solidFill>
              </a:rPr>
            </a:br>
            <a:r>
              <a:rPr lang="en" sz="1800">
                <a:solidFill>
                  <a:schemeClr val="dk1"/>
                </a:solidFill>
              </a:rPr>
              <a:t>Pointers/References, Memory Diagrams, UTF Tutorial</a:t>
            </a:r>
            <a:endParaRPr sz="23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rPr>
              <a:t>Lab is worth 5 points total</a:t>
            </a:r>
            <a:endParaRPr>
              <a:solidFill>
                <a:schemeClr val="dk1"/>
              </a:solidFill>
            </a:endParaRPr>
          </a:p>
          <a:p>
            <a:pPr indent="-203200" lvl="0" marL="457200" rtl="0" algn="l">
              <a:lnSpc>
                <a:spcPct val="115000"/>
              </a:lnSpc>
              <a:spcBef>
                <a:spcPts val="1000"/>
              </a:spcBef>
              <a:spcAft>
                <a:spcPts val="0"/>
              </a:spcAft>
              <a:buClr>
                <a:schemeClr val="dk1"/>
              </a:buClr>
              <a:buSzPts val="1400"/>
              <a:buAutoNum type="arabicPeriod"/>
            </a:pPr>
            <a:r>
              <a:rPr lang="en">
                <a:solidFill>
                  <a:schemeClr val="dk1"/>
                </a:solidFill>
              </a:rPr>
              <a:t>This worksheet is worth 4 points. When you reach the end of a checkpoint, let your lab instructor know. They will check your work for correctness and give you a point for your work. You must be present for each checkpoint discussion with your lab instructor to earn that point.</a:t>
            </a:r>
            <a:endParaRPr>
              <a:solidFill>
                <a:schemeClr val="dk1"/>
              </a:solidFill>
            </a:endParaRPr>
          </a:p>
          <a:p>
            <a:pPr indent="-203200" lvl="0" marL="457200" rtl="0" algn="l">
              <a:lnSpc>
                <a:spcPct val="115000"/>
              </a:lnSpc>
              <a:spcBef>
                <a:spcPts val="1000"/>
              </a:spcBef>
              <a:spcAft>
                <a:spcPts val="0"/>
              </a:spcAft>
              <a:buClr>
                <a:schemeClr val="dk1"/>
              </a:buClr>
              <a:buSzPts val="1400"/>
              <a:buAutoNum type="arabicPeriod"/>
            </a:pPr>
            <a:r>
              <a:rPr lang="en">
                <a:solidFill>
                  <a:schemeClr val="dk1"/>
                </a:solidFill>
              </a:rPr>
              <a:t>Earning credit for lab requires attending the lab exercises in-person. Staff will take attendance during lab. </a:t>
            </a:r>
            <a:r>
              <a:rPr lang="en">
                <a:solidFill>
                  <a:schemeClr val="dk1"/>
                </a:solidFill>
              </a:rPr>
              <a:t>You must be present within the first 5 minutes of lab to earn the 1 attendance point.</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rPr b="1" lang="en">
                <a:solidFill>
                  <a:schemeClr val="dk1"/>
                </a:solidFill>
              </a:rPr>
              <a:t>Logistics</a:t>
            </a:r>
            <a:br>
              <a:rPr b="1" lang="en">
                <a:solidFill>
                  <a:schemeClr val="dk1"/>
                </a:solidFill>
              </a:rPr>
            </a:br>
            <a:r>
              <a:rPr lang="en">
                <a:solidFill>
                  <a:schemeClr val="dk1"/>
                </a:solidFill>
              </a:rPr>
              <a:t>One group member should create an editable copy of this worksheet to fill out and share the document with all other group members. (</a:t>
            </a:r>
            <a:r>
              <a:rPr i="1" lang="en">
                <a:solidFill>
                  <a:schemeClr val="dk1"/>
                </a:solidFill>
              </a:rPr>
              <a:t>File &gt; Make a Copy</a:t>
            </a:r>
            <a:r>
              <a:rPr lang="en">
                <a:solidFill>
                  <a:schemeClr val="dk1"/>
                </a:solidFill>
              </a:rPr>
              <a:t> in the menu.) Please do not change the formatting of the document or which exercises appear on which slides. We use the placement of questions on each page to assist with grading.</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rPr b="1" lang="en">
                <a:solidFill>
                  <a:schemeClr val="dk1"/>
                </a:solidFill>
              </a:rPr>
              <a:t>Group Members</a:t>
            </a:r>
            <a:br>
              <a:rPr b="1" lang="en">
                <a:solidFill>
                  <a:schemeClr val="dk1"/>
                </a:solidFill>
              </a:rPr>
            </a:br>
            <a:r>
              <a:rPr lang="en">
                <a:solidFill>
                  <a:schemeClr val="dk1"/>
                </a:solidFill>
              </a:rPr>
              <a:t>Add your names to the table below. You are each responsible for participating in the group exercises and for ensuring others are included. You'll also be asked to split up and build on your work here with your second group for the debrief worksheet.</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1000"/>
              </a:spcAft>
              <a:buClr>
                <a:schemeClr val="dk1"/>
              </a:buClr>
              <a:buSzPts val="1100"/>
              <a:buFont typeface="Arial"/>
              <a:buNone/>
            </a:pPr>
            <a:r>
              <a:t/>
            </a:r>
            <a:endParaRPr>
              <a:solidFill>
                <a:schemeClr val="dk1"/>
              </a:solidFill>
            </a:endParaRPr>
          </a:p>
        </p:txBody>
      </p:sp>
      <p:graphicFrame>
        <p:nvGraphicFramePr>
          <p:cNvPr id="100" name="Google Shape;100;p25"/>
          <p:cNvGraphicFramePr/>
          <p:nvPr/>
        </p:nvGraphicFramePr>
        <p:xfrm>
          <a:off x="1076288" y="6596813"/>
          <a:ext cx="3000000" cy="3000000"/>
        </p:xfrm>
        <a:graphic>
          <a:graphicData uri="http://schemas.openxmlformats.org/drawingml/2006/table">
            <a:tbl>
              <a:tblPr>
                <a:noFill/>
                <a:tableStyleId>{7E125FFC-DCD0-4C25-9C45-EFA5304A334F}</a:tableStyleId>
              </a:tblPr>
              <a:tblGrid>
                <a:gridCol w="5622275"/>
              </a:tblGrid>
              <a:tr h="485575">
                <a:tc>
                  <a:txBody>
                    <a:bodyPr/>
                    <a:lstStyle/>
                    <a:p>
                      <a:pPr indent="0" lvl="0" marL="0" rtl="0" algn="l">
                        <a:spcBef>
                          <a:spcPts val="0"/>
                        </a:spcBef>
                        <a:spcAft>
                          <a:spcPts val="0"/>
                        </a:spcAft>
                        <a:buNone/>
                      </a:pPr>
                      <a:r>
                        <a:t/>
                      </a:r>
                      <a:endParaRPr/>
                    </a:p>
                  </a:txBody>
                  <a:tcPr marT="63500" marB="63500" marR="63500" marL="63500">
                    <a:lnL cap="flat" cmpd="sng" w="12700">
                      <a:solidFill>
                        <a:srgbClr val="000000"/>
                      </a:solidFill>
                      <a:prstDash val="solid"/>
                      <a:round/>
                      <a:headEnd len="sm" w="sm" type="none"/>
                      <a:tailEnd len="sm" w="sm" type="none"/>
                    </a:lnL>
                    <a:noFill/>
                  </a:tcPr>
                </a:tc>
              </a:tr>
              <a:tr h="485575">
                <a:tc>
                  <a:txBody>
                    <a:bodyPr/>
                    <a:lstStyle/>
                    <a:p>
                      <a:pPr indent="0" lvl="0" marL="0" rtl="0" algn="l">
                        <a:spcBef>
                          <a:spcPts val="0"/>
                        </a:spcBef>
                        <a:spcAft>
                          <a:spcPts val="0"/>
                        </a:spcAft>
                        <a:buNone/>
                      </a:pPr>
                      <a:r>
                        <a:t/>
                      </a:r>
                      <a:endParaRPr/>
                    </a:p>
                  </a:txBody>
                  <a:tcPr marT="63500" marB="63500" marR="63500" marL="63500">
                    <a:lnL cap="flat" cmpd="sng" w="12700">
                      <a:solidFill>
                        <a:srgbClr val="000000"/>
                      </a:solidFill>
                      <a:prstDash val="solid"/>
                      <a:round/>
                      <a:headEnd len="sm" w="sm" type="none"/>
                      <a:tailEnd len="sm" w="sm" type="none"/>
                    </a:lnL>
                    <a:noFill/>
                  </a:tcPr>
                </a:tc>
              </a:tr>
              <a:tr h="485575">
                <a:tc>
                  <a:txBody>
                    <a:bodyPr/>
                    <a:lstStyle/>
                    <a:p>
                      <a:pPr indent="0" lvl="0" marL="0" rtl="0" algn="l">
                        <a:spcBef>
                          <a:spcPts val="0"/>
                        </a:spcBef>
                        <a:spcAft>
                          <a:spcPts val="0"/>
                        </a:spcAft>
                        <a:buNone/>
                      </a:pPr>
                      <a:r>
                        <a:t/>
                      </a:r>
                      <a:endParaRPr/>
                    </a:p>
                  </a:txBody>
                  <a:tcPr marT="63500" marB="63500" marR="63500" marL="63500">
                    <a:lnL cap="flat" cmpd="sng" w="12700">
                      <a:solidFill>
                        <a:srgbClr val="000000"/>
                      </a:solidFill>
                      <a:prstDash val="solid"/>
                      <a:round/>
                      <a:headEnd len="sm" w="sm" type="none"/>
                      <a:tailEnd len="sm" w="sm" type="none"/>
                    </a:lnL>
                    <a:noFill/>
                  </a:tcPr>
                </a:tc>
              </a:tr>
              <a:tr h="485575">
                <a:tc>
                  <a:txBody>
                    <a:bodyPr/>
                    <a:lstStyle/>
                    <a:p>
                      <a:pPr indent="0" lvl="0" marL="0" rtl="0" algn="l">
                        <a:spcBef>
                          <a:spcPts val="0"/>
                        </a:spcBef>
                        <a:spcAft>
                          <a:spcPts val="0"/>
                        </a:spcAft>
                        <a:buNone/>
                      </a:pPr>
                      <a:r>
                        <a:t/>
                      </a:r>
                      <a:endParaRPr/>
                    </a:p>
                  </a:txBody>
                  <a:tcPr marT="63500" marB="63500" marR="63500" marL="63500">
                    <a:lnL cap="flat" cmpd="sng" w="12700">
                      <a:solidFill>
                        <a:srgbClr val="000000"/>
                      </a:solidFill>
                      <a:prstDash val="solid"/>
                      <a:round/>
                      <a:headEnd len="sm" w="sm" type="none"/>
                      <a:tailEnd len="sm" w="sm" type="none"/>
                    </a:lnL>
                    <a:noFill/>
                  </a:tcPr>
                </a:tc>
              </a:tr>
              <a:tr h="485575">
                <a:tc>
                  <a:txBody>
                    <a:bodyPr/>
                    <a:lstStyle/>
                    <a:p>
                      <a:pPr indent="0" lvl="0" marL="0" rtl="0" algn="l">
                        <a:spcBef>
                          <a:spcPts val="0"/>
                        </a:spcBef>
                        <a:spcAft>
                          <a:spcPts val="0"/>
                        </a:spcAft>
                        <a:buNone/>
                      </a:pPr>
                      <a:r>
                        <a:t/>
                      </a:r>
                      <a:endParaRPr/>
                    </a:p>
                  </a:txBody>
                  <a:tcPr marT="63500" marB="63500" marR="63500" marL="63500">
                    <a:lnL cap="flat" cmpd="sng" w="12700">
                      <a:solidFill>
                        <a:srgbClr val="000000"/>
                      </a:solidFill>
                      <a:prstDash val="solid"/>
                      <a:round/>
                      <a:headEnd len="sm" w="sm" type="none"/>
                      <a:tailEnd len="sm" w="sm" type="none"/>
                    </a:lnL>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nvSpPr>
        <p:spPr>
          <a:xfrm>
            <a:off x="278475" y="42600"/>
            <a:ext cx="7196400" cy="97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rPr>
              <a:t>1.0 Assertions and Detecting Undefined Behavior</a:t>
            </a:r>
            <a:endParaRPr sz="2000">
              <a:solidFill>
                <a:schemeClr val="dk1"/>
              </a:solidFill>
            </a:endParaRPr>
          </a:p>
          <a:p>
            <a:pPr indent="0" lvl="0" marL="0" rtl="0" algn="l">
              <a:lnSpc>
                <a:spcPct val="115000"/>
              </a:lnSpc>
              <a:spcBef>
                <a:spcPts val="600"/>
              </a:spcBef>
              <a:spcAft>
                <a:spcPts val="0"/>
              </a:spcAft>
              <a:buNone/>
            </a:pPr>
            <a:r>
              <a:rPr lang="en" sz="1200">
                <a:solidFill>
                  <a:schemeClr val="dk1"/>
                </a:solidFill>
              </a:rPr>
              <a:t>Download the</a:t>
            </a:r>
            <a:r>
              <a:rPr lang="en" sz="1200">
                <a:solidFill>
                  <a:schemeClr val="dk1"/>
                </a:solidFill>
              </a:rPr>
              <a:t> </a:t>
            </a:r>
            <a:r>
              <a:rPr lang="en" sz="1200">
                <a:solidFill>
                  <a:schemeClr val="dk1"/>
                </a:solidFill>
                <a:latin typeface="Courier New"/>
                <a:ea typeface="Courier New"/>
                <a:cs typeface="Courier New"/>
                <a:sym typeface="Courier New"/>
              </a:rPr>
              <a:t>Cost</a:t>
            </a:r>
            <a:r>
              <a:rPr lang="en" sz="1200">
                <a:solidFill>
                  <a:schemeClr val="dk1"/>
                </a:solidFill>
                <a:latin typeface="Courier New"/>
                <a:ea typeface="Courier New"/>
                <a:cs typeface="Courier New"/>
                <a:sym typeface="Courier New"/>
              </a:rPr>
              <a:t>.hpp</a:t>
            </a:r>
            <a:r>
              <a:rPr lang="en" sz="1200">
                <a:solidFill>
                  <a:schemeClr val="dk1"/>
                </a:solidFill>
              </a:rPr>
              <a:t>,</a:t>
            </a:r>
            <a:r>
              <a:rPr lang="en" sz="1200">
                <a:solidFill>
                  <a:schemeClr val="dk1"/>
                </a:solidFill>
              </a:rPr>
              <a:t> </a:t>
            </a:r>
            <a:r>
              <a:rPr lang="en" sz="1200">
                <a:solidFill>
                  <a:schemeClr val="dk1"/>
                </a:solidFill>
                <a:latin typeface="Courier New"/>
                <a:ea typeface="Courier New"/>
                <a:cs typeface="Courier New"/>
                <a:sym typeface="Courier New"/>
              </a:rPr>
              <a:t>Cost</a:t>
            </a:r>
            <a:r>
              <a:rPr lang="en" sz="1200">
                <a:solidFill>
                  <a:schemeClr val="dk1"/>
                </a:solidFill>
                <a:latin typeface="Courier New"/>
                <a:ea typeface="Courier New"/>
                <a:cs typeface="Courier New"/>
                <a:sym typeface="Courier New"/>
              </a:rPr>
              <a:t>.cpp</a:t>
            </a:r>
            <a:r>
              <a:rPr lang="en" sz="1200">
                <a:solidFill>
                  <a:schemeClr val="dk1"/>
                </a:solidFill>
              </a:rPr>
              <a:t>, </a:t>
            </a:r>
            <a:r>
              <a:rPr lang="en" sz="1200">
                <a:solidFill>
                  <a:schemeClr val="dk1"/>
                </a:solidFill>
                <a:latin typeface="Courier New"/>
                <a:ea typeface="Courier New"/>
                <a:cs typeface="Courier New"/>
                <a:sym typeface="Courier New"/>
              </a:rPr>
              <a:t>restaurant</a:t>
            </a:r>
            <a:r>
              <a:rPr lang="en" sz="1200">
                <a:solidFill>
                  <a:schemeClr val="dk1"/>
                </a:solidFill>
                <a:latin typeface="Courier New"/>
                <a:ea typeface="Courier New"/>
                <a:cs typeface="Courier New"/>
                <a:sym typeface="Courier New"/>
              </a:rPr>
              <a:t>.cpp</a:t>
            </a:r>
            <a:r>
              <a:rPr lang="en" sz="1200">
                <a:solidFill>
                  <a:schemeClr val="dk1"/>
                </a:solidFill>
              </a:rPr>
              <a:t>, and </a:t>
            </a:r>
            <a:r>
              <a:rPr lang="en" sz="1200">
                <a:solidFill>
                  <a:schemeClr val="dk1"/>
                </a:solidFill>
                <a:latin typeface="Courier New"/>
                <a:ea typeface="Courier New"/>
                <a:cs typeface="Courier New"/>
                <a:sym typeface="Courier New"/>
              </a:rPr>
              <a:t>Makefile</a:t>
            </a:r>
            <a:r>
              <a:rPr lang="en" sz="1200">
                <a:solidFill>
                  <a:schemeClr val="dk1"/>
                </a:solidFill>
              </a:rPr>
              <a:t> files from the </a:t>
            </a:r>
            <a:r>
              <a:rPr lang="en" sz="1200">
                <a:solidFill>
                  <a:schemeClr val="dk1"/>
                </a:solidFill>
                <a:latin typeface="Courier New"/>
                <a:ea typeface="Courier New"/>
                <a:cs typeface="Courier New"/>
                <a:sym typeface="Courier New"/>
              </a:rPr>
              <a:t>undefined_behavior</a:t>
            </a:r>
            <a:r>
              <a:rPr lang="en" sz="1200">
                <a:solidFill>
                  <a:schemeClr val="dk1"/>
                </a:solidFill>
              </a:rPr>
              <a:t> folder. Take a look at:</a:t>
            </a:r>
            <a:endParaRPr sz="1200">
              <a:solidFill>
                <a:schemeClr val="dk1"/>
              </a:solidFill>
            </a:endParaRPr>
          </a:p>
          <a:p>
            <a:pPr indent="-304800" lvl="0" marL="457200" rtl="0" algn="l">
              <a:lnSpc>
                <a:spcPct val="115000"/>
              </a:lnSpc>
              <a:spcBef>
                <a:spcPts val="1000"/>
              </a:spcBef>
              <a:spcAft>
                <a:spcPts val="0"/>
              </a:spcAft>
              <a:buClr>
                <a:schemeClr val="dk1"/>
              </a:buClr>
              <a:buSzPts val="1200"/>
              <a:buChar char="●"/>
            </a:pPr>
            <a:r>
              <a:rPr lang="en" sz="1200">
                <a:solidFill>
                  <a:schemeClr val="dk1"/>
                </a:solidFill>
              </a:rPr>
              <a:t>The </a:t>
            </a:r>
            <a:r>
              <a:rPr lang="en" sz="1200">
                <a:solidFill>
                  <a:schemeClr val="dk1"/>
                </a:solidFill>
                <a:latin typeface="Courier New"/>
                <a:ea typeface="Courier New"/>
                <a:cs typeface="Courier New"/>
                <a:sym typeface="Courier New"/>
              </a:rPr>
              <a:t>totalCost()</a:t>
            </a:r>
            <a:r>
              <a:rPr lang="en" sz="1200">
                <a:solidFill>
                  <a:schemeClr val="dk1"/>
                </a:solidFill>
              </a:rPr>
              <a:t> function in </a:t>
            </a:r>
            <a:r>
              <a:rPr lang="en" sz="1200">
                <a:solidFill>
                  <a:schemeClr val="dk1"/>
                </a:solidFill>
                <a:latin typeface="Courier New"/>
                <a:ea typeface="Courier New"/>
                <a:cs typeface="Courier New"/>
                <a:sym typeface="Courier New"/>
              </a:rPr>
              <a:t>Cost.cpp</a:t>
            </a:r>
            <a:r>
              <a:rPr lang="en" sz="1200">
                <a:solidFill>
                  <a:schemeClr val="dk1"/>
                </a:solidFill>
              </a:rPr>
              <a:t>. It calculates the total cost for a list of prices and quantitites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The </a:t>
            </a:r>
            <a:r>
              <a:rPr lang="en" sz="1200">
                <a:solidFill>
                  <a:schemeClr val="dk1"/>
                </a:solidFill>
                <a:latin typeface="Consolas"/>
                <a:ea typeface="Consolas"/>
                <a:cs typeface="Consolas"/>
                <a:sym typeface="Consolas"/>
              </a:rPr>
              <a:t>main()</a:t>
            </a:r>
            <a:r>
              <a:rPr lang="en" sz="1200">
                <a:solidFill>
                  <a:schemeClr val="dk1"/>
                </a:solidFill>
              </a:rPr>
              <a:t> function in </a:t>
            </a:r>
            <a:r>
              <a:rPr lang="en" sz="1200">
                <a:solidFill>
                  <a:schemeClr val="dk1"/>
                </a:solidFill>
                <a:latin typeface="Courier New"/>
                <a:ea typeface="Courier New"/>
                <a:cs typeface="Courier New"/>
                <a:sym typeface="Courier New"/>
              </a:rPr>
              <a:t>restaurant.cpp</a:t>
            </a:r>
            <a:r>
              <a:rPr lang="en" sz="1200">
                <a:solidFill>
                  <a:schemeClr val="dk1"/>
                </a:solidFill>
              </a:rPr>
              <a:t>. Note how it makes a call to </a:t>
            </a:r>
            <a:r>
              <a:rPr lang="en" sz="1200">
                <a:solidFill>
                  <a:schemeClr val="dk1"/>
                </a:solidFill>
                <a:latin typeface="Consolas"/>
                <a:ea typeface="Consolas"/>
                <a:cs typeface="Consolas"/>
                <a:sym typeface="Consolas"/>
              </a:rPr>
              <a:t>totalCost()</a:t>
            </a:r>
            <a:endParaRPr sz="1200">
              <a:solidFill>
                <a:schemeClr val="dk1"/>
              </a:solidFill>
            </a:endParaRPr>
          </a:p>
          <a:p>
            <a:pPr indent="0" lvl="0" marL="0" rtl="0" algn="l">
              <a:lnSpc>
                <a:spcPct val="115000"/>
              </a:lnSpc>
              <a:spcBef>
                <a:spcPts val="1000"/>
              </a:spcBef>
              <a:spcAft>
                <a:spcPts val="0"/>
              </a:spcAft>
              <a:buNone/>
            </a:pPr>
            <a:r>
              <a:rPr lang="en" sz="1200">
                <a:solidFill>
                  <a:schemeClr val="dk1"/>
                </a:solidFill>
              </a:rPr>
              <a:t>Once you've had a look around the code, go ahead and compile and run the program with:</a:t>
            </a:r>
            <a:endParaRPr sz="1200">
              <a:solidFill>
                <a:schemeClr val="dk1"/>
              </a:solidFill>
            </a:endParaRPr>
          </a:p>
          <a:p>
            <a:pPr indent="0" lvl="0" marL="0" rtl="0" algn="l">
              <a:lnSpc>
                <a:spcPct val="115000"/>
              </a:lnSpc>
              <a:spcBef>
                <a:spcPts val="1000"/>
              </a:spcBef>
              <a:spcAft>
                <a:spcPts val="0"/>
              </a:spcAft>
              <a:buNone/>
            </a:pPr>
            <a:r>
              <a:rPr lang="en" sz="1200">
                <a:solidFill>
                  <a:schemeClr val="dk1"/>
                </a:solidFill>
              </a:rPr>
              <a:t>	</a:t>
            </a:r>
            <a:r>
              <a:rPr lang="en" sz="1200">
                <a:solidFill>
                  <a:schemeClr val="dk1"/>
                </a:solidFill>
                <a:latin typeface="Courier New"/>
                <a:ea typeface="Courier New"/>
                <a:cs typeface="Courier New"/>
                <a:sym typeface="Courier New"/>
              </a:rPr>
              <a:t>make restaurant.exe</a:t>
            </a:r>
            <a:br>
              <a:rPr lang="en" sz="1200">
                <a:solidFill>
                  <a:schemeClr val="dk1"/>
                </a:solidFill>
                <a:latin typeface="Courier New"/>
                <a:ea typeface="Courier New"/>
                <a:cs typeface="Courier New"/>
                <a:sym typeface="Courier New"/>
              </a:rPr>
            </a:br>
            <a:r>
              <a:rPr lang="en" sz="1200">
                <a:solidFill>
                  <a:schemeClr val="dk1"/>
                </a:solidFill>
                <a:latin typeface="Courier New"/>
                <a:ea typeface="Courier New"/>
                <a:cs typeface="Courier New"/>
                <a:sym typeface="Courier New"/>
              </a:rPr>
              <a:t>	./restaurant.exe</a:t>
            </a:r>
            <a:endParaRPr sz="1200">
              <a:solidFill>
                <a:schemeClr val="dk1"/>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n" sz="1200">
                <a:solidFill>
                  <a:schemeClr val="dk1"/>
                </a:solidFill>
              </a:rPr>
              <a:t>Oh snap... Most likely, you'll see a crash.</a:t>
            </a:r>
            <a:endParaRPr sz="1200">
              <a:solidFill>
                <a:schemeClr val="dk1"/>
              </a:solidFill>
            </a:endParaRPr>
          </a:p>
          <a:p>
            <a:pPr indent="0" lvl="0" marL="0" rtl="0" algn="l">
              <a:lnSpc>
                <a:spcPct val="115000"/>
              </a:lnSpc>
              <a:spcBef>
                <a:spcPts val="1000"/>
              </a:spcBef>
              <a:spcAft>
                <a:spcPts val="0"/>
              </a:spcAft>
              <a:buNone/>
            </a:pPr>
            <a:r>
              <a:rPr lang="en" sz="1200">
                <a:solidFill>
                  <a:schemeClr val="dk1"/>
                </a:solidFill>
              </a:rPr>
              <a:t>Unfortunately we don't have much information about what caused the problem - not even a line number. It also turns out the code contains</a:t>
            </a:r>
            <a:r>
              <a:rPr i="1" lang="en" sz="1200">
                <a:solidFill>
                  <a:schemeClr val="dk1"/>
                </a:solidFill>
              </a:rPr>
              <a:t> bugs</a:t>
            </a:r>
            <a:r>
              <a:rPr lang="en" sz="1200">
                <a:solidFill>
                  <a:schemeClr val="dk1"/>
                </a:solidFill>
              </a:rPr>
              <a:t> that cause undefined behavior, which can include uninitialized variables, out-of-bounds accesses, and other issues.</a:t>
            </a:r>
            <a:endParaRPr sz="1200">
              <a:solidFill>
                <a:schemeClr val="dk1"/>
              </a:solidFill>
            </a:endParaRPr>
          </a:p>
          <a:p>
            <a:pPr indent="0" lvl="0" marL="0" rtl="0" algn="l">
              <a:lnSpc>
                <a:spcPct val="115000"/>
              </a:lnSpc>
              <a:spcBef>
                <a:spcPts val="1000"/>
              </a:spcBef>
              <a:spcAft>
                <a:spcPts val="0"/>
              </a:spcAft>
              <a:buNone/>
            </a:pPr>
            <a:r>
              <a:rPr lang="en" sz="1200">
                <a:solidFill>
                  <a:schemeClr val="dk1"/>
                </a:solidFill>
              </a:rPr>
              <a:t>For this exercise, consider three debugging strategies to track down the bugs:</a:t>
            </a:r>
            <a:endParaRPr sz="1200">
              <a:solidFill>
                <a:schemeClr val="dk1"/>
              </a:solidFill>
            </a:endParaRPr>
          </a:p>
          <a:p>
            <a:pPr indent="-304800" lvl="0" marL="457200" rtl="0" algn="l">
              <a:lnSpc>
                <a:spcPct val="115000"/>
              </a:lnSpc>
              <a:spcBef>
                <a:spcPts val="1000"/>
              </a:spcBef>
              <a:spcAft>
                <a:spcPts val="0"/>
              </a:spcAft>
              <a:buClr>
                <a:schemeClr val="dk1"/>
              </a:buClr>
              <a:buSzPts val="1200"/>
              <a:buAutoNum type="arabicPeriod"/>
            </a:pPr>
            <a:r>
              <a:rPr b="1" lang="en" sz="1200">
                <a:solidFill>
                  <a:schemeClr val="dk1"/>
                </a:solidFill>
              </a:rPr>
              <a:t>Add assertions</a:t>
            </a:r>
            <a:r>
              <a:rPr lang="en" sz="1200">
                <a:solidFill>
                  <a:schemeClr val="dk1"/>
                </a:solidFill>
              </a:rPr>
              <a:t> to verify </a:t>
            </a:r>
            <a:r>
              <a:rPr lang="en" sz="1200">
                <a:solidFill>
                  <a:schemeClr val="dk1"/>
                </a:solidFill>
                <a:latin typeface="Courier New"/>
                <a:ea typeface="Courier New"/>
                <a:cs typeface="Courier New"/>
                <a:sym typeface="Courier New"/>
              </a:rPr>
              <a:t>REQUIRES</a:t>
            </a:r>
            <a:r>
              <a:rPr lang="en" sz="1200">
                <a:solidFill>
                  <a:schemeClr val="dk1"/>
                </a:solidFill>
              </a:rPr>
              <a:t> clauses. For example, add an assertion to the </a:t>
            </a:r>
            <a:r>
              <a:rPr lang="en" sz="1200">
                <a:solidFill>
                  <a:schemeClr val="dk1"/>
                </a:solidFill>
                <a:latin typeface="Courier New"/>
                <a:ea typeface="Courier New"/>
                <a:cs typeface="Courier New"/>
                <a:sym typeface="Courier New"/>
              </a:rPr>
              <a:t>totalCost()</a:t>
            </a:r>
            <a:r>
              <a:rPr lang="en" sz="1200">
                <a:solidFill>
                  <a:schemeClr val="dk1"/>
                </a:solidFill>
              </a:rPr>
              <a:t> function to verify that the </a:t>
            </a:r>
            <a:r>
              <a:rPr lang="en" sz="1200">
                <a:solidFill>
                  <a:schemeClr val="dk1"/>
                </a:solidFill>
                <a:latin typeface="Consolas"/>
                <a:ea typeface="Consolas"/>
                <a:cs typeface="Consolas"/>
                <a:sym typeface="Consolas"/>
              </a:rPr>
              <a:t>prices</a:t>
            </a:r>
            <a:r>
              <a:rPr lang="en" sz="1200">
                <a:solidFill>
                  <a:schemeClr val="dk1"/>
                </a:solidFill>
              </a:rPr>
              <a:t> and </a:t>
            </a:r>
            <a:r>
              <a:rPr lang="en" sz="1200">
                <a:solidFill>
                  <a:schemeClr val="dk1"/>
                </a:solidFill>
                <a:latin typeface="Consolas"/>
                <a:ea typeface="Consolas"/>
                <a:cs typeface="Consolas"/>
                <a:sym typeface="Consolas"/>
              </a:rPr>
              <a:t>quantity</a:t>
            </a:r>
            <a:r>
              <a:rPr lang="en" sz="1200">
                <a:solidFill>
                  <a:schemeClr val="dk1"/>
                </a:solidFill>
              </a:rPr>
              <a:t> vectors are the same size</a:t>
            </a:r>
            <a:endParaRPr sz="1200">
              <a:solidFill>
                <a:schemeClr val="dk1"/>
              </a:solidFill>
            </a:endParaRPr>
          </a:p>
          <a:p>
            <a:pPr indent="-304800" lvl="0" marL="457200" rtl="0" algn="l">
              <a:lnSpc>
                <a:spcPct val="115000"/>
              </a:lnSpc>
              <a:spcBef>
                <a:spcPts val="1000"/>
              </a:spcBef>
              <a:spcAft>
                <a:spcPts val="0"/>
              </a:spcAft>
              <a:buClr>
                <a:schemeClr val="dk1"/>
              </a:buClr>
              <a:buSzPts val="1200"/>
              <a:buAutoNum type="arabicPeriod"/>
            </a:pPr>
            <a:r>
              <a:rPr lang="en" sz="1200">
                <a:solidFill>
                  <a:schemeClr val="dk1"/>
                </a:solidFill>
              </a:rPr>
              <a:t>Edit your </a:t>
            </a:r>
            <a:r>
              <a:rPr lang="en" sz="1200">
                <a:solidFill>
                  <a:schemeClr val="dk1"/>
                </a:solidFill>
                <a:latin typeface="Courier New"/>
                <a:ea typeface="Courier New"/>
                <a:cs typeface="Courier New"/>
                <a:sym typeface="Courier New"/>
              </a:rPr>
              <a:t>Makefile</a:t>
            </a:r>
            <a:r>
              <a:rPr lang="en" sz="1200">
                <a:solidFill>
                  <a:schemeClr val="dk1"/>
                </a:solidFill>
              </a:rPr>
              <a:t> to </a:t>
            </a:r>
            <a:r>
              <a:rPr b="1" lang="en" sz="1200">
                <a:solidFill>
                  <a:schemeClr val="dk1"/>
                </a:solidFill>
              </a:rPr>
              <a:t>enable sanitizer tools</a:t>
            </a:r>
            <a:r>
              <a:rPr lang="en" sz="1200">
                <a:solidFill>
                  <a:schemeClr val="dk1"/>
                </a:solidFill>
              </a:rPr>
              <a:t> (you'll need to uncomment the line corresponding to your OS and then </a:t>
            </a:r>
            <a:r>
              <a:rPr lang="en" sz="1200">
                <a:solidFill>
                  <a:schemeClr val="dk1"/>
                </a:solidFill>
                <a:latin typeface="Courier New"/>
                <a:ea typeface="Courier New"/>
                <a:cs typeface="Courier New"/>
                <a:sym typeface="Courier New"/>
              </a:rPr>
              <a:t>make restaurant_debug.exe</a:t>
            </a:r>
            <a:r>
              <a:rPr lang="en" sz="1200">
                <a:solidFill>
                  <a:schemeClr val="dk1"/>
                </a:solidFill>
              </a:rPr>
              <a:t>). These tools detect out-of-bounds errors, invalid memory accesses, and many other kinds of undefined behavior. If you're on Windows or Linux, they'll also report memory leaks (unfortunately not on macOS), but this is not relevant for this lab.</a:t>
            </a:r>
            <a:br>
              <a:rPr lang="en" sz="1200">
                <a:solidFill>
                  <a:schemeClr val="dk1"/>
                </a:solidFill>
              </a:rPr>
            </a:br>
            <a:r>
              <a:rPr lang="en" sz="1200">
                <a:solidFill>
                  <a:schemeClr val="dk1"/>
                </a:solidFill>
              </a:rPr>
              <a:t>Tutorial: </a:t>
            </a:r>
            <a:r>
              <a:rPr lang="en" sz="1200" u="sng">
                <a:solidFill>
                  <a:schemeClr val="hlink"/>
                </a:solidFill>
                <a:hlinkClick r:id="rId3"/>
              </a:rPr>
              <a:t>https://eecs280staff.github.io/tutorials/setup_asan.htm</a:t>
            </a:r>
            <a:r>
              <a:rPr lang="en" sz="1200" u="sng">
                <a:solidFill>
                  <a:schemeClr val="hlink"/>
                </a:solidFill>
                <a:hlinkClick r:id="rId4"/>
              </a:rPr>
              <a:t>l</a:t>
            </a:r>
            <a:endParaRPr sz="1200">
              <a:solidFill>
                <a:schemeClr val="dk1"/>
              </a:solidFill>
            </a:endParaRPr>
          </a:p>
          <a:p>
            <a:pPr indent="-304800" lvl="0" marL="457200" rtl="0" algn="l">
              <a:lnSpc>
                <a:spcPct val="115000"/>
              </a:lnSpc>
              <a:spcBef>
                <a:spcPts val="1000"/>
              </a:spcBef>
              <a:spcAft>
                <a:spcPts val="0"/>
              </a:spcAft>
              <a:buClr>
                <a:schemeClr val="dk1"/>
              </a:buClr>
              <a:buSzPts val="1200"/>
              <a:buAutoNum type="arabicPeriod"/>
            </a:pPr>
            <a:r>
              <a:rPr lang="en" sz="1200">
                <a:solidFill>
                  <a:schemeClr val="dk1"/>
                </a:solidFill>
              </a:rPr>
              <a:t>Use the </a:t>
            </a:r>
            <a:r>
              <a:rPr b="1" lang="en" sz="1200">
                <a:solidFill>
                  <a:schemeClr val="dk1"/>
                </a:solidFill>
              </a:rPr>
              <a:t>debugger</a:t>
            </a:r>
            <a:r>
              <a:rPr lang="en" sz="1200">
                <a:solidFill>
                  <a:schemeClr val="dk1"/>
                </a:solidFill>
              </a:rPr>
              <a:t> to see the state of your program line by line as it executes, allowing you to find out what goes wrong where.</a:t>
            </a:r>
            <a:br>
              <a:rPr lang="en" sz="1200">
                <a:solidFill>
                  <a:schemeClr val="dk1"/>
                </a:solidFill>
              </a:rPr>
            </a:br>
            <a:r>
              <a:rPr lang="en" sz="1200">
                <a:solidFill>
                  <a:schemeClr val="dk1"/>
                </a:solidFill>
              </a:rPr>
              <a:t>Windows: </a:t>
            </a:r>
            <a:r>
              <a:rPr lang="en" sz="1200" u="sng">
                <a:solidFill>
                  <a:schemeClr val="hlink"/>
                </a:solidFill>
                <a:hlinkClick r:id="rId5"/>
              </a:rPr>
              <a:t>https://eecs280staff.github.io/tutorials/setup_vscode_wsl.html#debug</a:t>
            </a:r>
            <a:br>
              <a:rPr lang="en" sz="1200">
                <a:solidFill>
                  <a:schemeClr val="dk1"/>
                </a:solidFill>
              </a:rPr>
            </a:br>
            <a:r>
              <a:rPr lang="en" sz="1200">
                <a:solidFill>
                  <a:schemeClr val="dk1"/>
                </a:solidFill>
              </a:rPr>
              <a:t>MacOS: </a:t>
            </a:r>
            <a:r>
              <a:rPr lang="en" sz="1200" u="sng">
                <a:solidFill>
                  <a:schemeClr val="hlink"/>
                </a:solidFill>
                <a:hlinkClick r:id="rId6"/>
              </a:rPr>
              <a:t>https://eecs280staff.github.io/tutorials/setup_vscode_macos.html#debug</a:t>
            </a:r>
            <a:br>
              <a:rPr lang="en" sz="1200">
                <a:solidFill>
                  <a:schemeClr val="dk1"/>
                </a:solidFill>
              </a:rPr>
            </a:br>
            <a:r>
              <a:rPr lang="en" sz="1200">
                <a:solidFill>
                  <a:schemeClr val="dk1"/>
                </a:solidFill>
              </a:rPr>
              <a:t>Guide: </a:t>
            </a:r>
            <a:r>
              <a:rPr lang="en" sz="1200" u="sng">
                <a:solidFill>
                  <a:schemeClr val="hlink"/>
                </a:solidFill>
                <a:hlinkClick r:id="rId7"/>
              </a:rPr>
              <a:t>https://eecs280staff.github.io/tutorials/debugging_guide.html</a:t>
            </a:r>
            <a:endParaRPr sz="1200">
              <a:solidFill>
                <a:schemeClr val="dk1"/>
              </a:solidFill>
            </a:endParaRPr>
          </a:p>
          <a:p>
            <a:pPr indent="0" lvl="0" marL="0" rtl="0" algn="l">
              <a:lnSpc>
                <a:spcPct val="115000"/>
              </a:lnSpc>
              <a:spcBef>
                <a:spcPts val="1000"/>
              </a:spcBef>
              <a:spcAft>
                <a:spcPts val="0"/>
              </a:spcAft>
              <a:buNone/>
            </a:pPr>
            <a:r>
              <a:rPr lang="en" sz="1200">
                <a:solidFill>
                  <a:schemeClr val="dk1"/>
                </a:solidFill>
              </a:rPr>
              <a:t>When an assertion fails or the sanitizers detect an error, you can use the debugger to inspect the state of your program when the problem occurs. You can also see the line number and full call stack trace.</a:t>
            </a:r>
            <a:endParaRPr sz="1200">
              <a:solidFill>
                <a:schemeClr val="dk1"/>
              </a:solidFill>
            </a:endParaRPr>
          </a:p>
          <a:p>
            <a:pPr indent="0" lvl="0" marL="0" rtl="0" algn="l">
              <a:lnSpc>
                <a:spcPct val="115000"/>
              </a:lnSpc>
              <a:spcBef>
                <a:spcPts val="1000"/>
              </a:spcBef>
              <a:spcAft>
                <a:spcPts val="0"/>
              </a:spcAft>
              <a:buNone/>
            </a:pPr>
            <a:r>
              <a:rPr lang="en" sz="1200">
                <a:solidFill>
                  <a:schemeClr val="dk1"/>
                </a:solidFill>
              </a:rPr>
              <a:t>We've also got some tips/hints for you:</a:t>
            </a:r>
            <a:endParaRPr sz="1200">
              <a:solidFill>
                <a:schemeClr val="dk1"/>
              </a:solidFill>
            </a:endParaRPr>
          </a:p>
          <a:p>
            <a:pPr indent="-304800" lvl="0" marL="457200" rtl="0" algn="l">
              <a:lnSpc>
                <a:spcPct val="115000"/>
              </a:lnSpc>
              <a:spcBef>
                <a:spcPts val="1000"/>
              </a:spcBef>
              <a:spcAft>
                <a:spcPts val="0"/>
              </a:spcAft>
              <a:buClr>
                <a:schemeClr val="dk1"/>
              </a:buClr>
              <a:buSzPts val="1200"/>
              <a:buChar char="●"/>
            </a:pPr>
            <a:r>
              <a:rPr b="1" lang="en" sz="1200">
                <a:solidFill>
                  <a:schemeClr val="dk1"/>
                </a:solidFill>
              </a:rPr>
              <a:t>One bug at a time</a:t>
            </a:r>
            <a:r>
              <a:rPr lang="en" sz="1200">
                <a:solidFill>
                  <a:schemeClr val="dk1"/>
                </a:solidFill>
              </a:rPr>
              <a:t>. Fix (and record on the next page) any that you find before moving on.</a:t>
            </a:r>
            <a:endParaRPr sz="1200">
              <a:solidFill>
                <a:schemeClr val="dk1"/>
              </a:solidFill>
            </a:endParaRPr>
          </a:p>
          <a:p>
            <a:pPr indent="-304800" lvl="0" marL="457200" rtl="0" algn="l">
              <a:lnSpc>
                <a:spcPct val="115000"/>
              </a:lnSpc>
              <a:spcBef>
                <a:spcPts val="400"/>
              </a:spcBef>
              <a:spcAft>
                <a:spcPts val="0"/>
              </a:spcAft>
              <a:buClr>
                <a:schemeClr val="dk1"/>
              </a:buClr>
              <a:buSzPts val="1200"/>
              <a:buChar char="●"/>
            </a:pPr>
            <a:r>
              <a:rPr lang="en" sz="1200">
                <a:solidFill>
                  <a:schemeClr val="dk1"/>
                </a:solidFill>
              </a:rPr>
              <a:t>Proactively </a:t>
            </a:r>
            <a:r>
              <a:rPr b="1" lang="en" sz="1200">
                <a:solidFill>
                  <a:schemeClr val="dk1"/>
                </a:solidFill>
              </a:rPr>
              <a:t>add assertions early on</a:t>
            </a:r>
            <a:r>
              <a:rPr lang="en" sz="1200">
                <a:solidFill>
                  <a:schemeClr val="dk1"/>
                </a:solidFill>
              </a:rPr>
              <a:t>. Failed assertions generally make it easiest to track down the related bugs, since they produce a clean error rather than undefined behavior. You can find more information in the </a:t>
            </a:r>
            <a:r>
              <a:rPr lang="en" sz="1200" u="sng">
                <a:solidFill>
                  <a:schemeClr val="hlink"/>
                </a:solidFill>
                <a:hlinkClick r:id="rId8"/>
              </a:rPr>
              <a:t>Assertions Guide</a:t>
            </a:r>
            <a:r>
              <a:rPr lang="en" sz="1200">
                <a:solidFill>
                  <a:schemeClr val="dk1"/>
                </a:solidFill>
              </a:rPr>
              <a:t>.</a:t>
            </a:r>
            <a:endParaRPr sz="1200">
              <a:solidFill>
                <a:schemeClr val="dk1"/>
              </a:solidFill>
            </a:endParaRPr>
          </a:p>
          <a:p>
            <a:pPr indent="-304800" lvl="0" marL="457200" rtl="0" algn="l">
              <a:lnSpc>
                <a:spcPct val="115000"/>
              </a:lnSpc>
              <a:spcBef>
                <a:spcPts val="400"/>
              </a:spcBef>
              <a:spcAft>
                <a:spcPts val="0"/>
              </a:spcAft>
              <a:buClr>
                <a:schemeClr val="dk1"/>
              </a:buClr>
              <a:buSzPts val="1200"/>
              <a:buChar char="●"/>
            </a:pPr>
            <a:r>
              <a:rPr lang="en" sz="1200">
                <a:solidFill>
                  <a:schemeClr val="dk1"/>
                </a:solidFill>
              </a:rPr>
              <a:t>Use the </a:t>
            </a:r>
            <a:r>
              <a:rPr b="1" lang="en" sz="1200">
                <a:solidFill>
                  <a:schemeClr val="dk1"/>
                </a:solidFill>
              </a:rPr>
              <a:t>call stack</a:t>
            </a:r>
            <a:r>
              <a:rPr lang="en" sz="1200">
                <a:solidFill>
                  <a:schemeClr val="dk1"/>
                </a:solidFill>
              </a:rPr>
              <a:t> in the debugger to </a:t>
            </a:r>
            <a:r>
              <a:rPr b="1" lang="en" sz="1200">
                <a:solidFill>
                  <a:schemeClr val="dk1"/>
                </a:solidFill>
              </a:rPr>
              <a:t>inspect the calling function</a:t>
            </a:r>
            <a:r>
              <a:rPr lang="en" sz="1200">
                <a:solidFill>
                  <a:schemeClr val="dk1"/>
                </a:solidFill>
              </a:rPr>
              <a:t> and its variables as needed.</a:t>
            </a:r>
            <a:endParaRPr sz="1200">
              <a:solidFill>
                <a:schemeClr val="dk1"/>
              </a:solidFill>
            </a:endParaRPr>
          </a:p>
          <a:p>
            <a:pPr indent="0" lvl="0" marL="0" rtl="0" algn="l">
              <a:lnSpc>
                <a:spcPct val="115000"/>
              </a:lnSpc>
              <a:spcBef>
                <a:spcPts val="1000"/>
              </a:spcBef>
              <a:spcAft>
                <a:spcPts val="1000"/>
              </a:spcAft>
              <a:buNone/>
            </a:pPr>
            <a:r>
              <a:rPr lang="en" sz="1200">
                <a:solidFill>
                  <a:schemeClr val="dk1"/>
                </a:solidFill>
              </a:rPr>
              <a:t>On the next page, record the bugs you find as well as how you found them.</a:t>
            </a:r>
            <a:endParaRPr sz="1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7"/>
          <p:cNvSpPr txBox="1"/>
          <p:nvPr/>
        </p:nvSpPr>
        <p:spPr>
          <a:xfrm>
            <a:off x="288000" y="261675"/>
            <a:ext cx="7196400" cy="74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1"/>
                </a:solidFill>
              </a:rPr>
              <a:t>For the </a:t>
            </a:r>
            <a:r>
              <a:rPr lang="en" sz="1300">
                <a:solidFill>
                  <a:schemeClr val="dk1"/>
                </a:solidFill>
                <a:latin typeface="Courier New"/>
                <a:ea typeface="Courier New"/>
                <a:cs typeface="Courier New"/>
                <a:sym typeface="Courier New"/>
              </a:rPr>
              <a:t>Cost</a:t>
            </a:r>
            <a:r>
              <a:rPr lang="en" sz="1300">
                <a:solidFill>
                  <a:schemeClr val="dk1"/>
                </a:solidFill>
              </a:rPr>
              <a:t> and </a:t>
            </a:r>
            <a:r>
              <a:rPr lang="en" sz="1300">
                <a:solidFill>
                  <a:schemeClr val="dk1"/>
                </a:solidFill>
                <a:latin typeface="Courier New"/>
                <a:ea typeface="Courier New"/>
                <a:cs typeface="Courier New"/>
                <a:sym typeface="Courier New"/>
              </a:rPr>
              <a:t>restaurant</a:t>
            </a:r>
            <a:r>
              <a:rPr lang="en" sz="1300">
                <a:solidFill>
                  <a:schemeClr val="dk1"/>
                </a:solidFill>
                <a:latin typeface="Courier New"/>
                <a:ea typeface="Courier New"/>
                <a:cs typeface="Courier New"/>
                <a:sym typeface="Courier New"/>
              </a:rPr>
              <a:t>.cpp</a:t>
            </a:r>
            <a:r>
              <a:rPr lang="en" sz="1300">
                <a:solidFill>
                  <a:schemeClr val="dk1"/>
                </a:solidFill>
              </a:rPr>
              <a:t> code, record the bugs you find and how you found them.</a:t>
            </a:r>
            <a:endParaRPr sz="1300">
              <a:solidFill>
                <a:schemeClr val="dk1"/>
              </a:solidFill>
            </a:endParaRPr>
          </a:p>
          <a:p>
            <a:pPr indent="0" lvl="0" marL="0" rtl="0" algn="l">
              <a:lnSpc>
                <a:spcPct val="115000"/>
              </a:lnSpc>
              <a:spcBef>
                <a:spcPts val="1000"/>
              </a:spcBef>
              <a:spcAft>
                <a:spcPts val="1000"/>
              </a:spcAft>
              <a:buNone/>
            </a:pPr>
            <a:r>
              <a:rPr lang="en" sz="1300">
                <a:solidFill>
                  <a:schemeClr val="dk1"/>
                </a:solidFill>
              </a:rPr>
              <a:t>Find all 3 bugs for full credit.</a:t>
            </a:r>
            <a:endParaRPr sz="1300">
              <a:solidFill>
                <a:schemeClr val="dk1"/>
              </a:solidFill>
            </a:endParaRPr>
          </a:p>
        </p:txBody>
      </p:sp>
      <p:graphicFrame>
        <p:nvGraphicFramePr>
          <p:cNvPr id="111" name="Google Shape;111;p27"/>
          <p:cNvGraphicFramePr/>
          <p:nvPr/>
        </p:nvGraphicFramePr>
        <p:xfrm>
          <a:off x="288000" y="1276004"/>
          <a:ext cx="3000000" cy="3000000"/>
        </p:xfrm>
        <a:graphic>
          <a:graphicData uri="http://schemas.openxmlformats.org/drawingml/2006/table">
            <a:tbl>
              <a:tblPr>
                <a:noFill/>
                <a:tableStyleId>{4B4F0A0A-C41C-4A52-BD53-5353AF5F669F}</a:tableStyleId>
              </a:tblPr>
              <a:tblGrid>
                <a:gridCol w="1315850"/>
                <a:gridCol w="2889625"/>
                <a:gridCol w="2990925"/>
              </a:tblGrid>
              <a:tr h="100000">
                <a:tc>
                  <a:txBody>
                    <a:bodyPr/>
                    <a:lstStyle/>
                    <a:p>
                      <a:pPr indent="0" lvl="0" marL="0" rtl="0" algn="l">
                        <a:spcBef>
                          <a:spcPts val="0"/>
                        </a:spcBef>
                        <a:spcAft>
                          <a:spcPts val="0"/>
                        </a:spcAft>
                        <a:buNone/>
                      </a:pPr>
                      <a:r>
                        <a:rPr b="1" lang="en"/>
                        <a:t>Where in the code is it?</a:t>
                      </a:r>
                      <a:endParaRPr b="1"/>
                    </a:p>
                  </a:txBody>
                  <a:tcPr marT="63500" marB="63500" marR="63500" marL="63500">
                    <a:lnB cap="flat" cmpd="sng" w="1270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b="1" lang="en"/>
                        <a:t>Bug Description</a:t>
                      </a:r>
                      <a:endParaRPr b="1"/>
                    </a:p>
                  </a:txBody>
                  <a:tcPr marT="63500" marB="63500" marR="63500" marL="63500">
                    <a:lnB cap="flat" cmpd="sng" w="1270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b="1" lang="en"/>
                        <a:t>How did you find it?</a:t>
                      </a:r>
                      <a:endParaRPr b="1"/>
                    </a:p>
                  </a:txBody>
                  <a:tcPr marT="63500" marB="63500" marR="63500" marL="63500">
                    <a:lnB cap="flat" cmpd="sng" w="12700">
                      <a:solidFill>
                        <a:srgbClr val="000000"/>
                      </a:solidFill>
                      <a:prstDash val="solid"/>
                      <a:round/>
                      <a:headEnd len="sm" w="sm" type="none"/>
                      <a:tailEnd len="sm" w="sm" type="none"/>
                    </a:lnB>
                    <a:noFill/>
                  </a:tcPr>
                </a:tc>
              </a:tr>
              <a:tr h="758025">
                <a:tc>
                  <a:txBody>
                    <a:bodyPr/>
                    <a:lstStyle/>
                    <a:p>
                      <a:pPr indent="0" lvl="0" marL="0" rtl="0" algn="l">
                        <a:spcBef>
                          <a:spcPts val="0"/>
                        </a:spcBef>
                        <a:spcAft>
                          <a:spcPts val="0"/>
                        </a:spcAft>
                        <a:buNone/>
                      </a:pPr>
                      <a:r>
                        <a:t/>
                      </a:r>
                      <a:endParaRPr sz="1100">
                        <a:solidFill>
                          <a:srgbClr val="FF0000"/>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100">
                        <a:solidFill>
                          <a:srgbClr val="FF0000"/>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100">
                        <a:solidFill>
                          <a:srgbClr val="FF0000"/>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noFill/>
                  </a:tcPr>
                </a:tc>
              </a:tr>
              <a:tr h="758025">
                <a:tc>
                  <a:txBody>
                    <a:bodyPr/>
                    <a:lstStyle/>
                    <a:p>
                      <a:pPr indent="0" lvl="0" marL="0" rtl="0" algn="l">
                        <a:spcBef>
                          <a:spcPts val="0"/>
                        </a:spcBef>
                        <a:spcAft>
                          <a:spcPts val="0"/>
                        </a:spcAft>
                        <a:buNone/>
                      </a:pPr>
                      <a:r>
                        <a:t/>
                      </a:r>
                      <a:endParaRPr sz="1100">
                        <a:solidFill>
                          <a:srgbClr val="FF0000"/>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100">
                        <a:solidFill>
                          <a:srgbClr val="FF0000"/>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100">
                        <a:solidFill>
                          <a:srgbClr val="FF0000"/>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noFill/>
                  </a:tcPr>
                </a:tc>
              </a:tr>
              <a:tr h="758025">
                <a:tc>
                  <a:txBody>
                    <a:bodyPr/>
                    <a:lstStyle/>
                    <a:p>
                      <a:pPr indent="0" lvl="0" marL="0" rtl="0" algn="l">
                        <a:spcBef>
                          <a:spcPts val="0"/>
                        </a:spcBef>
                        <a:spcAft>
                          <a:spcPts val="0"/>
                        </a:spcAft>
                        <a:buNone/>
                      </a:pPr>
                      <a:r>
                        <a:t/>
                      </a:r>
                      <a:endParaRPr sz="1100">
                        <a:solidFill>
                          <a:srgbClr val="FF0000"/>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100">
                        <a:solidFill>
                          <a:srgbClr val="FF0000"/>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t/>
                      </a:r>
                      <a:endParaRPr sz="1100">
                        <a:solidFill>
                          <a:srgbClr val="FF0000"/>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noFill/>
                  </a:tcPr>
                </a:tc>
              </a:tr>
            </a:tbl>
          </a:graphicData>
        </a:graphic>
      </p:graphicFrame>
      <p:sp>
        <p:nvSpPr>
          <p:cNvPr id="112" name="Google Shape;112;p27"/>
          <p:cNvSpPr txBox="1"/>
          <p:nvPr/>
        </p:nvSpPr>
        <p:spPr>
          <a:xfrm>
            <a:off x="98100" y="4673725"/>
            <a:ext cx="7576200" cy="677100"/>
          </a:xfrm>
          <a:prstGeom prst="rect">
            <a:avLst/>
          </a:prstGeom>
          <a:solidFill>
            <a:srgbClr val="FFFF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00"/>
                </a:solidFill>
              </a:rPr>
              <a:t>You’ve reached the end of checkpoint </a:t>
            </a:r>
            <a:r>
              <a:rPr lang="en" sz="1600"/>
              <a:t>1</a:t>
            </a:r>
            <a:r>
              <a:rPr lang="en" sz="1600">
                <a:solidFill>
                  <a:srgbClr val="000000"/>
                </a:solidFill>
              </a:rPr>
              <a:t>! Let your instructor know you’re ready to check your work!</a:t>
            </a:r>
            <a:endParaRPr sz="16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8"/>
          <p:cNvSpPr txBox="1"/>
          <p:nvPr/>
        </p:nvSpPr>
        <p:spPr>
          <a:xfrm>
            <a:off x="288000" y="178100"/>
            <a:ext cx="7196400" cy="477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900">
                <a:solidFill>
                  <a:schemeClr val="dk1"/>
                </a:solidFill>
              </a:rPr>
              <a:t>2</a:t>
            </a:r>
            <a:r>
              <a:rPr lang="en" sz="1900">
                <a:solidFill>
                  <a:schemeClr val="dk1"/>
                </a:solidFill>
              </a:rPr>
              <a:t>.0 Unit Testing Framework Tutorial</a:t>
            </a:r>
            <a:endParaRPr sz="1900">
              <a:solidFill>
                <a:schemeClr val="dk1"/>
              </a:solidFill>
            </a:endParaRPr>
          </a:p>
          <a:p>
            <a:pPr indent="0" lvl="0" marL="0" rtl="0" algn="l">
              <a:lnSpc>
                <a:spcPct val="115000"/>
              </a:lnSpc>
              <a:spcBef>
                <a:spcPts val="600"/>
              </a:spcBef>
              <a:spcAft>
                <a:spcPts val="0"/>
              </a:spcAft>
              <a:buNone/>
            </a:pPr>
            <a:r>
              <a:rPr lang="en">
                <a:solidFill>
                  <a:schemeClr val="dk1"/>
                </a:solidFill>
              </a:rPr>
              <a:t>In project 1, you wrote unit tests to check for expected behavior using </a:t>
            </a:r>
            <a:r>
              <a:rPr lang="en">
                <a:solidFill>
                  <a:schemeClr val="dk1"/>
                </a:solidFill>
                <a:latin typeface="Courier New"/>
                <a:ea typeface="Courier New"/>
                <a:cs typeface="Courier New"/>
                <a:sym typeface="Courier New"/>
              </a:rPr>
              <a:t>assert</a:t>
            </a:r>
            <a:r>
              <a:rPr lang="en">
                <a:solidFill>
                  <a:schemeClr val="dk1"/>
                </a:solidFill>
              </a:rPr>
              <a:t>.</a:t>
            </a:r>
            <a:endParaRPr>
              <a:solidFill>
                <a:schemeClr val="dk1"/>
              </a:solidFill>
            </a:endParaRPr>
          </a:p>
          <a:p>
            <a:pPr indent="0" lvl="0" marL="0" rtl="0" algn="l">
              <a:lnSpc>
                <a:spcPct val="115000"/>
              </a:lnSpc>
              <a:spcBef>
                <a:spcPts val="0"/>
              </a:spcBef>
              <a:spcAft>
                <a:spcPts val="0"/>
              </a:spcAft>
              <a:buNone/>
            </a:pPr>
            <a:r>
              <a:rPr lang="en">
                <a:solidFill>
                  <a:schemeClr val="dk1"/>
                </a:solidFill>
              </a:rPr>
              <a:t>However, this approach can be a bit clunky - the very first failed </a:t>
            </a:r>
            <a:r>
              <a:rPr lang="en">
                <a:solidFill>
                  <a:schemeClr val="dk1"/>
                </a:solidFill>
                <a:latin typeface="Courier New"/>
                <a:ea typeface="Courier New"/>
                <a:cs typeface="Courier New"/>
                <a:sym typeface="Courier New"/>
              </a:rPr>
              <a:t>assert</a:t>
            </a:r>
            <a:r>
              <a:rPr lang="en">
                <a:solidFill>
                  <a:schemeClr val="dk1"/>
                </a:solidFill>
              </a:rPr>
              <a:t> crashes out of the program and the rest of your tests don't even run.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Starting with project 2 and beyond, you'll use a </a:t>
            </a:r>
            <a:r>
              <a:rPr b="1" lang="en">
                <a:solidFill>
                  <a:schemeClr val="dk1"/>
                </a:solidFill>
              </a:rPr>
              <a:t>unit testing framework</a:t>
            </a:r>
            <a:r>
              <a:rPr lang="en">
                <a:solidFill>
                  <a:schemeClr val="dk1"/>
                </a:solidFill>
              </a:rPr>
              <a:t> instead, which provides special testing assertions </a:t>
            </a:r>
            <a:r>
              <a:rPr lang="en">
                <a:solidFill>
                  <a:schemeClr val="dk1"/>
                </a:solidFill>
              </a:rPr>
              <a:t>(e.g. </a:t>
            </a:r>
            <a:r>
              <a:rPr lang="en">
                <a:solidFill>
                  <a:schemeClr val="dk1"/>
                </a:solidFill>
                <a:latin typeface="Courier New"/>
                <a:ea typeface="Courier New"/>
                <a:cs typeface="Courier New"/>
                <a:sym typeface="Courier New"/>
              </a:rPr>
              <a:t>ASSERT_EQUAL</a:t>
            </a:r>
            <a:r>
              <a:rPr lang="en">
                <a:solidFill>
                  <a:schemeClr val="dk1"/>
                </a:solidFill>
              </a:rPr>
              <a:t>). Instead of crashing on failure, the framework records each test success/failure and reports overall results at the end.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As a group, work through our </a:t>
            </a:r>
            <a:r>
              <a:rPr lang="en" u="sng">
                <a:solidFill>
                  <a:schemeClr val="hlink"/>
                </a:solidFill>
                <a:hlinkClick r:id="rId3"/>
              </a:rPr>
              <a:t>Unit Testing Framework Tutorial</a:t>
            </a:r>
            <a:r>
              <a:rPr lang="en">
                <a:solidFill>
                  <a:schemeClr val="dk1"/>
                </a:solidFill>
              </a:rPr>
              <a:t> (also linked from the tutorials section of eecs280.org). In brief, the tutorial will have you:</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Download </a:t>
            </a:r>
            <a:r>
              <a:rPr lang="en">
                <a:solidFill>
                  <a:schemeClr val="dk1"/>
                </a:solidFill>
                <a:latin typeface="Courier New"/>
                <a:ea typeface="Courier New"/>
                <a:cs typeface="Courier New"/>
                <a:sym typeface="Courier New"/>
              </a:rPr>
              <a:t>tutorial.hpp</a:t>
            </a:r>
            <a:r>
              <a:rPr lang="en">
                <a:solidFill>
                  <a:schemeClr val="dk1"/>
                </a:solidFill>
              </a:rPr>
              <a:t> and </a:t>
            </a:r>
            <a:r>
              <a:rPr lang="en">
                <a:solidFill>
                  <a:schemeClr val="dk1"/>
                </a:solidFill>
                <a:latin typeface="Courier New"/>
                <a:ea typeface="Courier New"/>
                <a:cs typeface="Courier New"/>
                <a:sym typeface="Courier New"/>
              </a:rPr>
              <a:t>tutorial.cpp</a:t>
            </a:r>
            <a:r>
              <a:rPr lang="en">
                <a:solidFill>
                  <a:schemeClr val="dk1"/>
                </a:solidFill>
              </a:rPr>
              <a:t> starter files with buggy code.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Learn some new syntax and strategies for testing.</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Create tests in </a:t>
            </a:r>
            <a:r>
              <a:rPr lang="en">
                <a:solidFill>
                  <a:schemeClr val="dk1"/>
                </a:solidFill>
                <a:latin typeface="Courier New"/>
                <a:ea typeface="Courier New"/>
                <a:cs typeface="Courier New"/>
                <a:sym typeface="Courier New"/>
              </a:rPr>
              <a:t>tutorial_tests.cpp</a:t>
            </a:r>
            <a:r>
              <a:rPr lang="en">
                <a:solidFill>
                  <a:schemeClr val="dk1"/>
                </a:solidFill>
              </a:rPr>
              <a:t> to catch bugs.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Submit your tests to the </a:t>
            </a:r>
            <a:r>
              <a:rPr lang="en">
                <a:solidFill>
                  <a:schemeClr val="dk1"/>
                </a:solidFill>
              </a:rPr>
              <a:t>autograder</a:t>
            </a:r>
            <a:r>
              <a:rPr lang="en">
                <a:solidFill>
                  <a:schemeClr val="dk1"/>
                </a:solidFill>
              </a:rPr>
              <a:t>, which evaluates their thoroughness.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When you're finished, paste a copy of your </a:t>
            </a:r>
            <a:r>
              <a:rPr lang="en">
                <a:solidFill>
                  <a:schemeClr val="dk1"/>
                </a:solidFill>
                <a:latin typeface="Courier New"/>
                <a:ea typeface="Courier New"/>
                <a:cs typeface="Courier New"/>
                <a:sym typeface="Courier New"/>
              </a:rPr>
              <a:t>tutorial_tests.cpp</a:t>
            </a:r>
            <a:r>
              <a:rPr lang="en">
                <a:solidFill>
                  <a:schemeClr val="dk1"/>
                </a:solidFill>
              </a:rPr>
              <a:t> on the next page.</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9"/>
          <p:cNvSpPr txBox="1"/>
          <p:nvPr/>
        </p:nvSpPr>
        <p:spPr>
          <a:xfrm>
            <a:off x="220025" y="188450"/>
            <a:ext cx="7320300" cy="124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rPr>
              <a:t>2.1 </a:t>
            </a:r>
            <a:r>
              <a:rPr lang="en" sz="2000">
                <a:solidFill>
                  <a:schemeClr val="dk1"/>
                </a:solidFill>
              </a:rPr>
              <a:t>Unit Testing Framework Tutorial (Continued)</a:t>
            </a:r>
            <a:endParaRPr sz="2000">
              <a:solidFill>
                <a:schemeClr val="dk1"/>
              </a:solidFill>
            </a:endParaRPr>
          </a:p>
          <a:p>
            <a:pPr indent="0" lvl="0" marL="0" rtl="0" algn="l">
              <a:lnSpc>
                <a:spcPct val="115000"/>
              </a:lnSpc>
              <a:spcBef>
                <a:spcPts val="0"/>
              </a:spcBef>
              <a:spcAft>
                <a:spcPts val="1000"/>
              </a:spcAft>
              <a:buClr>
                <a:schemeClr val="dk1"/>
              </a:buClr>
              <a:buSzPts val="1100"/>
              <a:buFont typeface="Arial"/>
              <a:buNone/>
            </a:pPr>
            <a:r>
              <a:rPr lang="en">
                <a:solidFill>
                  <a:schemeClr val="dk1"/>
                </a:solidFill>
              </a:rPr>
              <a:t>Paste a copy of your </a:t>
            </a:r>
            <a:r>
              <a:rPr lang="en">
                <a:solidFill>
                  <a:schemeClr val="dk1"/>
                </a:solidFill>
                <a:latin typeface="Courier New"/>
                <a:ea typeface="Courier New"/>
                <a:cs typeface="Courier New"/>
                <a:sym typeface="Courier New"/>
              </a:rPr>
              <a:t>tutorial_tests</a:t>
            </a:r>
            <a:r>
              <a:rPr lang="en">
                <a:solidFill>
                  <a:schemeClr val="dk1"/>
                </a:solidFill>
                <a:latin typeface="Courier New"/>
                <a:ea typeface="Courier New"/>
                <a:cs typeface="Courier New"/>
                <a:sym typeface="Courier New"/>
              </a:rPr>
              <a:t>.cpp</a:t>
            </a:r>
            <a:r>
              <a:rPr lang="en">
                <a:solidFill>
                  <a:schemeClr val="dk1"/>
                </a:solidFill>
              </a:rPr>
              <a:t> into the box below. </a:t>
            </a:r>
            <a:r>
              <a:rPr lang="en">
                <a:solidFill>
                  <a:schemeClr val="dk1"/>
                </a:solidFill>
              </a:rPr>
              <a:t>Use tiny font so it fits :D </a:t>
            </a:r>
            <a:r>
              <a:rPr lang="en">
                <a:solidFill>
                  <a:schemeClr val="dk1"/>
                </a:solidFill>
              </a:rPr>
              <a:t>The tutorial has you submit to the autograder, but it's alright if you didn't necessarily catch all the bugs there. You'll get credit for the lab as long as you've written some tests. </a:t>
            </a:r>
            <a:endParaRPr>
              <a:solidFill>
                <a:schemeClr val="dk1"/>
              </a:solidFill>
            </a:endParaRPr>
          </a:p>
        </p:txBody>
      </p:sp>
      <p:graphicFrame>
        <p:nvGraphicFramePr>
          <p:cNvPr id="123" name="Google Shape;123;p29"/>
          <p:cNvGraphicFramePr/>
          <p:nvPr/>
        </p:nvGraphicFramePr>
        <p:xfrm>
          <a:off x="465675" y="1527100"/>
          <a:ext cx="3000000" cy="3000000"/>
        </p:xfrm>
        <a:graphic>
          <a:graphicData uri="http://schemas.openxmlformats.org/drawingml/2006/table">
            <a:tbl>
              <a:tblPr>
                <a:noFill/>
                <a:tableStyleId>{7E125FFC-DCD0-4C25-9C45-EFA5304A334F}</a:tableStyleId>
              </a:tblPr>
              <a:tblGrid>
                <a:gridCol w="6841075"/>
              </a:tblGrid>
              <a:tr h="7951900">
                <a:tc>
                  <a:txBody>
                    <a:bodyPr/>
                    <a:lstStyle/>
                    <a:p>
                      <a:pPr indent="0" lvl="0" marL="0" rtl="0" algn="l">
                        <a:lnSpc>
                          <a:spcPct val="115000"/>
                        </a:lnSpc>
                        <a:spcBef>
                          <a:spcPts val="0"/>
                        </a:spcBef>
                        <a:spcAft>
                          <a:spcPts val="0"/>
                        </a:spcAft>
                        <a:buNone/>
                      </a:pPr>
                      <a:r>
                        <a:t/>
                      </a:r>
                      <a:endParaRPr sz="800">
                        <a:solidFill>
                          <a:srgbClr val="FF0000"/>
                        </a:solidFill>
                        <a:latin typeface="Consolas"/>
                        <a:ea typeface="Consolas"/>
                        <a:cs typeface="Consolas"/>
                        <a:sym typeface="Consola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0"/>
          <p:cNvSpPr txBox="1"/>
          <p:nvPr/>
        </p:nvSpPr>
        <p:spPr>
          <a:xfrm>
            <a:off x="230700" y="165375"/>
            <a:ext cx="7272900" cy="107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rgbClr val="000000"/>
                </a:solidFill>
              </a:rPr>
              <a:t>2.</a:t>
            </a:r>
            <a:r>
              <a:rPr lang="en" sz="2000"/>
              <a:t>2</a:t>
            </a:r>
            <a:r>
              <a:rPr lang="en" sz="2000">
                <a:solidFill>
                  <a:srgbClr val="000000"/>
                </a:solidFill>
              </a:rPr>
              <a:t> Unit Testing Framework Tutorial Continued</a:t>
            </a:r>
            <a:endParaRPr sz="2000">
              <a:solidFill>
                <a:srgbClr val="000000"/>
              </a:solidFill>
            </a:endParaRPr>
          </a:p>
          <a:p>
            <a:pPr indent="0" lvl="0" marL="0" rtl="0" algn="l">
              <a:lnSpc>
                <a:spcPct val="115000"/>
              </a:lnSpc>
              <a:spcBef>
                <a:spcPts val="600"/>
              </a:spcBef>
              <a:spcAft>
                <a:spcPts val="0"/>
              </a:spcAft>
              <a:buNone/>
            </a:pPr>
            <a:r>
              <a:rPr lang="en">
                <a:solidFill>
                  <a:srgbClr val="000000"/>
                </a:solidFill>
              </a:rPr>
              <a:t>Which of the following are true about the UTF? Write "true" or "false" in the box.</a:t>
            </a:r>
            <a:endParaRPr>
              <a:solidFill>
                <a:srgbClr val="000000"/>
              </a:solidFill>
            </a:endParaRPr>
          </a:p>
          <a:p>
            <a:pPr indent="0" lvl="0" marL="0" rtl="0" algn="l">
              <a:lnSpc>
                <a:spcPct val="115000"/>
              </a:lnSpc>
              <a:spcBef>
                <a:spcPts val="0"/>
              </a:spcBef>
              <a:spcAft>
                <a:spcPts val="0"/>
              </a:spcAft>
              <a:buNone/>
            </a:pPr>
            <a:r>
              <a:t/>
            </a:r>
            <a:endParaRPr>
              <a:solidFill>
                <a:srgbClr val="000000"/>
              </a:solidFill>
            </a:endParaRPr>
          </a:p>
        </p:txBody>
      </p:sp>
      <p:graphicFrame>
        <p:nvGraphicFramePr>
          <p:cNvPr id="129" name="Google Shape;129;p30"/>
          <p:cNvGraphicFramePr/>
          <p:nvPr/>
        </p:nvGraphicFramePr>
        <p:xfrm>
          <a:off x="307125" y="1108600"/>
          <a:ext cx="3000000" cy="3000000"/>
        </p:xfrm>
        <a:graphic>
          <a:graphicData uri="http://schemas.openxmlformats.org/drawingml/2006/table">
            <a:tbl>
              <a:tblPr>
                <a:noFill/>
                <a:tableStyleId>{87C819ED-3824-45BC-8647-06DE0531FE43}</a:tableStyleId>
              </a:tblPr>
              <a:tblGrid>
                <a:gridCol w="1144450"/>
                <a:gridCol w="6051950"/>
              </a:tblGrid>
              <a:tr h="275025">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rPr lang="en">
                          <a:solidFill>
                            <a:srgbClr val="000000"/>
                          </a:solidFill>
                        </a:rPr>
                        <a:t>A benefit of the UTF is that it stops testing on the first failed assertion.</a:t>
                      </a:r>
                      <a:endParaRPr>
                        <a:solidFill>
                          <a:srgbClr val="000000"/>
                        </a:solidFill>
                      </a:endParaRPr>
                    </a:p>
                  </a:txBody>
                  <a:tcPr marT="91425" marB="91425" marR="91425" marL="91425">
                    <a:noFill/>
                  </a:tcPr>
                </a:tc>
              </a:tr>
              <a:tr h="275025">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rPr lang="en"/>
                        <a:t>Each test file must have one </a:t>
                      </a:r>
                      <a:r>
                        <a:rPr lang="en">
                          <a:latin typeface="Consolas"/>
                          <a:ea typeface="Consolas"/>
                          <a:cs typeface="Consolas"/>
                          <a:sym typeface="Consolas"/>
                        </a:rPr>
                        <a:t>TEST_MAIN()</a:t>
                      </a:r>
                      <a:r>
                        <a:rPr lang="en"/>
                        <a:t> call at the bottom of the file.</a:t>
                      </a:r>
                      <a:endParaRPr/>
                    </a:p>
                  </a:txBody>
                  <a:tcPr marT="91425" marB="91425" marR="91425" marL="91425">
                    <a:noFill/>
                  </a:tcPr>
                </a:tc>
              </a:tr>
              <a:tr h="275025">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rPr lang="en"/>
                        <a:t>The UTF has special assertions, such as </a:t>
                      </a:r>
                      <a:r>
                        <a:rPr lang="en">
                          <a:latin typeface="Consolas"/>
                          <a:ea typeface="Consolas"/>
                          <a:cs typeface="Consolas"/>
                          <a:sym typeface="Consolas"/>
                        </a:rPr>
                        <a:t>ASSERT_EQUAL()</a:t>
                      </a:r>
                      <a:r>
                        <a:rPr lang="en"/>
                        <a:t> and </a:t>
                      </a:r>
                      <a:r>
                        <a:rPr lang="en">
                          <a:latin typeface="Consolas"/>
                          <a:ea typeface="Consolas"/>
                          <a:cs typeface="Consolas"/>
                          <a:sym typeface="Consolas"/>
                        </a:rPr>
                        <a:t>ASSERT_SEQUENCE_EQUAL()</a:t>
                      </a:r>
                      <a:r>
                        <a:rPr lang="en"/>
                        <a:t>. Regular </a:t>
                      </a:r>
                      <a:r>
                        <a:rPr lang="en">
                          <a:latin typeface="Consolas"/>
                          <a:ea typeface="Consolas"/>
                          <a:cs typeface="Consolas"/>
                          <a:sym typeface="Consolas"/>
                        </a:rPr>
                        <a:t>assert()</a:t>
                      </a:r>
                      <a:r>
                        <a:rPr lang="en"/>
                        <a:t> should not be used.</a:t>
                      </a:r>
                      <a:endParaRPr/>
                    </a:p>
                  </a:txBody>
                  <a:tcPr marT="91425" marB="91425" marR="91425" marL="91425">
                    <a:noFill/>
                  </a:tcPr>
                </a:tc>
              </a:tr>
              <a:tr h="275025">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Clr>
                          <a:srgbClr val="000000"/>
                        </a:buClr>
                        <a:buSzPts val="1100"/>
                        <a:buFont typeface="Arial"/>
                        <a:buNone/>
                      </a:pPr>
                      <a:r>
                        <a:rPr lang="en">
                          <a:solidFill>
                            <a:srgbClr val="000000"/>
                          </a:solidFill>
                        </a:rPr>
                        <a:t>The autograder gives points for each bug your test cases can catch, but it will first discard any tests that fail to pass on a correct solution.</a:t>
                      </a:r>
                      <a:endParaRPr/>
                    </a:p>
                  </a:txBody>
                  <a:tcPr marT="91425" marB="91425" marR="91425" marL="91425">
                    <a:noFill/>
                  </a:tcPr>
                </a:tc>
              </a:tr>
            </a:tbl>
          </a:graphicData>
        </a:graphic>
      </p:graphicFrame>
      <p:graphicFrame>
        <p:nvGraphicFramePr>
          <p:cNvPr id="130" name="Google Shape;130;p30"/>
          <p:cNvGraphicFramePr/>
          <p:nvPr/>
        </p:nvGraphicFramePr>
        <p:xfrm>
          <a:off x="307125" y="3772025"/>
          <a:ext cx="3000000" cy="3000000"/>
        </p:xfrm>
        <a:graphic>
          <a:graphicData uri="http://schemas.openxmlformats.org/drawingml/2006/table">
            <a:tbl>
              <a:tblPr>
                <a:noFill/>
                <a:tableStyleId>{87C819ED-3824-45BC-8647-06DE0531FE43}</a:tableStyleId>
              </a:tblPr>
              <a:tblGrid>
                <a:gridCol w="7196400"/>
              </a:tblGrid>
              <a:tr h="754200">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r>
            </a:tbl>
          </a:graphicData>
        </a:graphic>
      </p:graphicFrame>
      <p:sp>
        <p:nvSpPr>
          <p:cNvPr id="131" name="Google Shape;131;p30"/>
          <p:cNvSpPr txBox="1"/>
          <p:nvPr/>
        </p:nvSpPr>
        <p:spPr>
          <a:xfrm>
            <a:off x="230700" y="3371825"/>
            <a:ext cx="7311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000000"/>
                </a:solidFill>
              </a:rPr>
              <a:t>Briefly explain when the </a:t>
            </a:r>
            <a:r>
              <a:rPr lang="en">
                <a:solidFill>
                  <a:srgbClr val="000000"/>
                </a:solidFill>
                <a:latin typeface="Consolas"/>
                <a:ea typeface="Consolas"/>
                <a:cs typeface="Consolas"/>
                <a:sym typeface="Consolas"/>
              </a:rPr>
              <a:t>ASSERT_ALMOST_EQUAL()</a:t>
            </a:r>
            <a:r>
              <a:rPr lang="en">
                <a:solidFill>
                  <a:srgbClr val="000000"/>
                </a:solidFill>
              </a:rPr>
              <a:t> assertion must be used.</a:t>
            </a:r>
            <a:endParaRPr>
              <a:solidFill>
                <a:srgbClr val="000000"/>
              </a:solidFill>
            </a:endParaRPr>
          </a:p>
        </p:txBody>
      </p:sp>
      <p:sp>
        <p:nvSpPr>
          <p:cNvPr id="132" name="Google Shape;132;p30"/>
          <p:cNvSpPr txBox="1"/>
          <p:nvPr/>
        </p:nvSpPr>
        <p:spPr>
          <a:xfrm>
            <a:off x="117225" y="4690650"/>
            <a:ext cx="7576200" cy="677100"/>
          </a:xfrm>
          <a:prstGeom prst="rect">
            <a:avLst/>
          </a:prstGeom>
          <a:solidFill>
            <a:srgbClr val="FFFF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00"/>
                </a:solidFill>
              </a:rPr>
              <a:t>You’ve reached the end of checkpoint </a:t>
            </a:r>
            <a:r>
              <a:rPr lang="en" sz="1600"/>
              <a:t>2</a:t>
            </a:r>
            <a:r>
              <a:rPr lang="en" sz="1600">
                <a:solidFill>
                  <a:srgbClr val="000000"/>
                </a:solidFill>
              </a:rPr>
              <a:t>! Let your instructor know you’re ready to check your work!</a:t>
            </a:r>
            <a:endParaRPr sz="16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